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fae79e59164172" /><Relationship Type="http://schemas.openxmlformats.org/officeDocument/2006/relationships/extended-properties" Target="/docProps/app.xml" Id="R1bb2599ad03641bb" /><Relationship Type="http://schemas.openxmlformats.org/officeDocument/2006/relationships/officeDocument" Target="/ppt/presentation.xml" Id="Rd718cdc8e5f14ec5" /></Relationships>
</file>

<file path=ppt/presentation.xml><?xml version="1.0" encoding="utf-8"?>
<p:presentation xmlns:p="http://schemas.openxmlformats.org/presentationml/2006/main">
  <p:sldMasterIdLst>
    <p:sldMasterId xmlns:r="http://schemas.openxmlformats.org/officeDocument/2006/relationships" id="2147483648" r:id="R4bda9848cc8641dc"/>
  </p:sldMasterIdLst>
  <p:notesMasterIdLst>
    <p:notesMasterId xmlns:r="http://schemas.openxmlformats.org/officeDocument/2006/relationships" r:id="Rb0d8acf830314f0f"/>
  </p:notesMasterIdLst>
  <p:sldIdLst>
    <p:sldId xmlns:r="http://schemas.openxmlformats.org/officeDocument/2006/relationships" id="256" r:id="Rbbc871eccedd448f"/>
    <p:sldId xmlns:r="http://schemas.openxmlformats.org/officeDocument/2006/relationships" id="257" r:id="R0a6ba469a27a4aad"/>
    <p:sldId xmlns:r="http://schemas.openxmlformats.org/officeDocument/2006/relationships" id="258" r:id="Rc4b5d855bb78426c"/>
    <p:sldId xmlns:r="http://schemas.openxmlformats.org/officeDocument/2006/relationships" id="259" r:id="R1f09882117ea4a92"/>
    <p:sldId xmlns:r="http://schemas.openxmlformats.org/officeDocument/2006/relationships" id="260" r:id="R6081a96af6ec4904"/>
    <p:sldId xmlns:r="http://schemas.openxmlformats.org/officeDocument/2006/relationships" id="261" r:id="Rdb3e363577f1491e"/>
    <p:sldId xmlns:r="http://schemas.openxmlformats.org/officeDocument/2006/relationships" id="262" r:id="Rcb79dc58a5724f4a"/>
    <p:sldId xmlns:r="http://schemas.openxmlformats.org/officeDocument/2006/relationships" id="263" r:id="Rf7dabbae58ea49b0"/>
    <p:sldId xmlns:r="http://schemas.openxmlformats.org/officeDocument/2006/relationships" id="264" r:id="R6b1f4a1562384391"/>
    <p:sldId xmlns:r="http://schemas.openxmlformats.org/officeDocument/2006/relationships" id="265" r:id="R0accebbb701a4c96"/>
    <p:sldId xmlns:r="http://schemas.openxmlformats.org/officeDocument/2006/relationships" id="266" r:id="Rfa41835929c14521"/>
    <p:sldId xmlns:r="http://schemas.openxmlformats.org/officeDocument/2006/relationships" id="267" r:id="R4525e701c6fc4099"/>
    <p:sldId xmlns:r="http://schemas.openxmlformats.org/officeDocument/2006/relationships" id="268" r:id="Ra876414df7f3485f"/>
    <p:sldId xmlns:r="http://schemas.openxmlformats.org/officeDocument/2006/relationships" id="269" r:id="R30294744fdfe48d1"/>
    <p:sldId xmlns:r="http://schemas.openxmlformats.org/officeDocument/2006/relationships" id="270" r:id="Rd7811325007b43b5"/>
    <p:sldId xmlns:r="http://schemas.openxmlformats.org/officeDocument/2006/relationships" id="271" r:id="Rb2b66d361c3e47c1"/>
    <p:sldId xmlns:r="http://schemas.openxmlformats.org/officeDocument/2006/relationships" id="272" r:id="R6c595fa3620b4d1a"/>
    <p:sldId xmlns:r="http://schemas.openxmlformats.org/officeDocument/2006/relationships" id="273" r:id="Rded3f3fedead4c3b"/>
    <p:sldId xmlns:r="http://schemas.openxmlformats.org/officeDocument/2006/relationships" id="274" r:id="R2a558ace188d404f"/>
    <p:sldId xmlns:r="http://schemas.openxmlformats.org/officeDocument/2006/relationships" id="275" r:id="R6888d4995ce548d1"/>
    <p:sldId xmlns:r="http://schemas.openxmlformats.org/officeDocument/2006/relationships" id="276" r:id="Re10cf0a7a2804a7c"/>
    <p:sldId xmlns:r="http://schemas.openxmlformats.org/officeDocument/2006/relationships" id="277" r:id="Rc6a30b24c53b485e"/>
    <p:sldId xmlns:r="http://schemas.openxmlformats.org/officeDocument/2006/relationships" id="278" r:id="R447d15ccdfab45c7"/>
    <p:sldId xmlns:r="http://schemas.openxmlformats.org/officeDocument/2006/relationships" id="279" r:id="R739cf87b6cfd4934"/>
    <p:sldId xmlns:r="http://schemas.openxmlformats.org/officeDocument/2006/relationships" id="280" r:id="Re8255eb4b3e5448e"/>
    <p:sldId xmlns:r="http://schemas.openxmlformats.org/officeDocument/2006/relationships" id="281" r:id="Rc2a733f139644e3b"/>
    <p:sldId xmlns:r="http://schemas.openxmlformats.org/officeDocument/2006/relationships" id="282" r:id="Rd1c98f840471455c"/>
    <p:sldId xmlns:r="http://schemas.openxmlformats.org/officeDocument/2006/relationships" id="283" r:id="Rb6ba8c9115c841c3"/>
    <p:sldId xmlns:r="http://schemas.openxmlformats.org/officeDocument/2006/relationships" id="284" r:id="R7417aa1ff6f74059"/>
    <p:sldId xmlns:r="http://schemas.openxmlformats.org/officeDocument/2006/relationships" id="285" r:id="Red329d092d014398"/>
    <p:sldId xmlns:r="http://schemas.openxmlformats.org/officeDocument/2006/relationships" id="286" r:id="Rfc9a9ee2ec5b4a49"/>
    <p:sldId xmlns:r="http://schemas.openxmlformats.org/officeDocument/2006/relationships" id="287" r:id="R704c1d3a1e2e481a"/>
    <p:sldId xmlns:r="http://schemas.openxmlformats.org/officeDocument/2006/relationships" id="288" r:id="R8799301c182847de"/>
    <p:sldId xmlns:r="http://schemas.openxmlformats.org/officeDocument/2006/relationships" id="289" r:id="Rba10ffa109504633"/>
    <p:sldId xmlns:r="http://schemas.openxmlformats.org/officeDocument/2006/relationships" id="290" r:id="Recca32e3ea46440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de7896c12a49f2" /><Relationship Type="http://schemas.openxmlformats.org/officeDocument/2006/relationships/slideMaster" Target="/ppt/slideMasters/slideMaster1.xml" Id="R4bda9848cc8641dc" /><Relationship Type="http://schemas.openxmlformats.org/officeDocument/2006/relationships/notesMaster" Target="/ppt/notesMasters/notesMaster1.xml" Id="Rb0d8acf830314f0f" /><Relationship Type="http://schemas.openxmlformats.org/officeDocument/2006/relationships/presProps" Target="/ppt/presProps.xml" Id="Rd70dee1a2e694578" /><Relationship Type="http://schemas.openxmlformats.org/officeDocument/2006/relationships/tableStyles" Target="/ppt/tableStyles.xml" Id="R9712fc2b1602409c" /><Relationship Type="http://schemas.openxmlformats.org/officeDocument/2006/relationships/slide" Target="/ppt/slides/slide1.xml" Id="Rbbc871eccedd448f" /><Relationship Type="http://schemas.openxmlformats.org/officeDocument/2006/relationships/slide" Target="/ppt/slides/slide2.xml" Id="R0a6ba469a27a4aad" /><Relationship Type="http://schemas.openxmlformats.org/officeDocument/2006/relationships/slide" Target="/ppt/slides/slide3.xml" Id="Rc4b5d855bb78426c" /><Relationship Type="http://schemas.openxmlformats.org/officeDocument/2006/relationships/slide" Target="/ppt/slides/slide4.xml" Id="R1f09882117ea4a92" /><Relationship Type="http://schemas.openxmlformats.org/officeDocument/2006/relationships/slide" Target="/ppt/slides/slide5.xml" Id="R6081a96af6ec4904" /><Relationship Type="http://schemas.openxmlformats.org/officeDocument/2006/relationships/slide" Target="/ppt/slides/slide6.xml" Id="Rdb3e363577f1491e" /><Relationship Type="http://schemas.openxmlformats.org/officeDocument/2006/relationships/slide" Target="/ppt/slides/slide7.xml" Id="Rcb79dc58a5724f4a" /><Relationship Type="http://schemas.openxmlformats.org/officeDocument/2006/relationships/slide" Target="/ppt/slides/slide8.xml" Id="Rf7dabbae58ea49b0" /><Relationship Type="http://schemas.openxmlformats.org/officeDocument/2006/relationships/slide" Target="/ppt/slides/slide9.xml" Id="R6b1f4a1562384391" /><Relationship Type="http://schemas.openxmlformats.org/officeDocument/2006/relationships/slide" Target="/ppt/slides/slide10.xml" Id="R0accebbb701a4c96" /><Relationship Type="http://schemas.openxmlformats.org/officeDocument/2006/relationships/slide" Target="/ppt/slides/slide11.xml" Id="Rfa41835929c14521" /><Relationship Type="http://schemas.openxmlformats.org/officeDocument/2006/relationships/slide" Target="/ppt/slides/slide12.xml" Id="R4525e701c6fc4099" /><Relationship Type="http://schemas.openxmlformats.org/officeDocument/2006/relationships/slide" Target="/ppt/slides/slide13.xml" Id="Ra876414df7f3485f" /><Relationship Type="http://schemas.openxmlformats.org/officeDocument/2006/relationships/slide" Target="/ppt/slides/slide14.xml" Id="R30294744fdfe48d1" /><Relationship Type="http://schemas.openxmlformats.org/officeDocument/2006/relationships/slide" Target="/ppt/slides/slide15.xml" Id="Rd7811325007b43b5" /><Relationship Type="http://schemas.openxmlformats.org/officeDocument/2006/relationships/slide" Target="/ppt/slides/slide16.xml" Id="Rb2b66d361c3e47c1" /><Relationship Type="http://schemas.openxmlformats.org/officeDocument/2006/relationships/slide" Target="/ppt/slides/slide17.xml" Id="R6c595fa3620b4d1a" /><Relationship Type="http://schemas.openxmlformats.org/officeDocument/2006/relationships/slide" Target="/ppt/slides/slide18.xml" Id="Rded3f3fedead4c3b" /><Relationship Type="http://schemas.openxmlformats.org/officeDocument/2006/relationships/slide" Target="/ppt/slides/slide19.xml" Id="R2a558ace188d404f" /><Relationship Type="http://schemas.openxmlformats.org/officeDocument/2006/relationships/slide" Target="/ppt/slides/slide20.xml" Id="R6888d4995ce548d1" /><Relationship Type="http://schemas.openxmlformats.org/officeDocument/2006/relationships/slide" Target="/ppt/slides/slide21.xml" Id="Re10cf0a7a2804a7c" /><Relationship Type="http://schemas.openxmlformats.org/officeDocument/2006/relationships/slide" Target="/ppt/slides/slide22.xml" Id="Rc6a30b24c53b485e" /><Relationship Type="http://schemas.openxmlformats.org/officeDocument/2006/relationships/slide" Target="/ppt/slides/slide23.xml" Id="R447d15ccdfab45c7" /><Relationship Type="http://schemas.openxmlformats.org/officeDocument/2006/relationships/slide" Target="/ppt/slides/slide24.xml" Id="R739cf87b6cfd4934" /><Relationship Type="http://schemas.openxmlformats.org/officeDocument/2006/relationships/slide" Target="/ppt/slides/slide25.xml" Id="Re8255eb4b3e5448e" /><Relationship Type="http://schemas.openxmlformats.org/officeDocument/2006/relationships/slide" Target="/ppt/slides/slide26.xml" Id="Rc2a733f139644e3b" /><Relationship Type="http://schemas.openxmlformats.org/officeDocument/2006/relationships/slide" Target="/ppt/slides/slide27.xml" Id="Rd1c98f840471455c" /><Relationship Type="http://schemas.openxmlformats.org/officeDocument/2006/relationships/slide" Target="/ppt/slides/slide28.xml" Id="Rb6ba8c9115c841c3" /><Relationship Type="http://schemas.openxmlformats.org/officeDocument/2006/relationships/slide" Target="/ppt/slides/slide29.xml" Id="R7417aa1ff6f74059" /><Relationship Type="http://schemas.openxmlformats.org/officeDocument/2006/relationships/slide" Target="/ppt/slides/slide30.xml" Id="Red329d092d014398" /><Relationship Type="http://schemas.openxmlformats.org/officeDocument/2006/relationships/slide" Target="/ppt/slides/slide31.xml" Id="Rfc9a9ee2ec5b4a49" /><Relationship Type="http://schemas.openxmlformats.org/officeDocument/2006/relationships/slide" Target="/ppt/slides/slide32.xml" Id="R704c1d3a1e2e481a" /><Relationship Type="http://schemas.openxmlformats.org/officeDocument/2006/relationships/slide" Target="/ppt/slides/slide33.xml" Id="R8799301c182847de" /><Relationship Type="http://schemas.openxmlformats.org/officeDocument/2006/relationships/slide" Target="/ppt/slides/slide34.xml" Id="Rba10ffa109504633" /><Relationship Type="http://schemas.openxmlformats.org/officeDocument/2006/relationships/slide" Target="/ppt/slides/slide35.xml" Id="Recca32e3ea4644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0c8d80a0f74a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948f20aff5434a" /><Relationship Type="http://schemas.openxmlformats.org/officeDocument/2006/relationships/notesMaster" Target="/ppt/notesMasters/notesMaster1.xml" Id="R96765576ce1343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88662ea917c4fcf" /><Relationship Type="http://schemas.openxmlformats.org/officeDocument/2006/relationships/notesMaster" Target="/ppt/notesMasters/notesMaster1.xml" Id="Rc8f5c709737149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bf27b286e94821" /><Relationship Type="http://schemas.openxmlformats.org/officeDocument/2006/relationships/notesMaster" Target="/ppt/notesMasters/notesMaster1.xml" Id="R77fa61b2b14945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8683ea9a3f40dd" /><Relationship Type="http://schemas.openxmlformats.org/officeDocument/2006/relationships/notesMaster" Target="/ppt/notesMasters/notesMaster1.xml" Id="R2b671a1ade4e42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6206f0982047c2" /><Relationship Type="http://schemas.openxmlformats.org/officeDocument/2006/relationships/notesMaster" Target="/ppt/notesMasters/notesMaster1.xml" Id="Re77d174c4b5b48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2b29bfa8a84197" /><Relationship Type="http://schemas.openxmlformats.org/officeDocument/2006/relationships/notesMaster" Target="/ppt/notesMasters/notesMaster1.xml" Id="R915c32acc8c94c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c3a3fd88a594d81" /><Relationship Type="http://schemas.openxmlformats.org/officeDocument/2006/relationships/notesMaster" Target="/ppt/notesMasters/notesMaster1.xml" Id="R041e136dbaff471e" /></Relationships>
</file>

<file path=ppt/notesSlides/_rels/notesSlide8.xml.rels>&#65279;<?xml version="1.0" encoding="utf-8"?><Relationships xmlns="http://schemas.openxmlformats.org/package/2006/relationships"><Relationship Type="http://schemas.openxmlformats.org/officeDocument/2006/relationships/slide" Target="/ppt/slides/slide8.xml" Id="R85c6ab5b397d4571" /><Relationship Type="http://schemas.openxmlformats.org/officeDocument/2006/relationships/notesMaster" Target="/ppt/notesMasters/notesMaster1.xml" Id="R9b9dbe6b8f8f4c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25717a8d363e46fc" /><Relationship Type="http://schemas.openxmlformats.org/officeDocument/2006/relationships/notesMaster" Target="/ppt/notesMasters/notesMaster1.xml" Id="R1bdf1be4b01646a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c500c594f1e4607" /><Relationship Type="http://schemas.openxmlformats.org/officeDocument/2006/relationships/notesMaster" Target="/ppt/notesMasters/notesMaster1.xml" Id="Raee3b5bf13c6429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7df5d1195144aad" /><Relationship Type="http://schemas.openxmlformats.org/officeDocument/2006/relationships/notesMaster" Target="/ppt/notesMasters/notesMaster1.xml" Id="Rd06f71ff6312438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2e2831d19264b86" /><Relationship Type="http://schemas.openxmlformats.org/officeDocument/2006/relationships/notesMaster" Target="/ppt/notesMasters/notesMaster1.xml" Id="Re6b7b2e68e8a47d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80dbecf52c84095" /><Relationship Type="http://schemas.openxmlformats.org/officeDocument/2006/relationships/notesMaster" Target="/ppt/notesMasters/notesMaster1.xml" Id="R53a2fa880682442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fdd16a0aaf84280" /><Relationship Type="http://schemas.openxmlformats.org/officeDocument/2006/relationships/notesMaster" Target="/ppt/notesMasters/notesMaster1.xml" Id="R1577458336b34d5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96ffcbf0c9444e1" /><Relationship Type="http://schemas.openxmlformats.org/officeDocument/2006/relationships/notesMaster" Target="/ppt/notesMasters/notesMaster1.xml" Id="Rb44030eff4294a5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9e630aed9464783" /><Relationship Type="http://schemas.openxmlformats.org/officeDocument/2006/relationships/notesMaster" Target="/ppt/notesMasters/notesMaster1.xml" Id="Rec90d3a5466046b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8738fd8af1e4c46" /><Relationship Type="http://schemas.openxmlformats.org/officeDocument/2006/relationships/notesMaster" Target="/ppt/notesMasters/notesMaster1.xml" Id="R950f3f0b080a46b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17914eadd3e412f" /><Relationship Type="http://schemas.openxmlformats.org/officeDocument/2006/relationships/notesMaster" Target="/ppt/notesMasters/notesMaster1.xml" Id="Re36b7f5f70a9440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8e2c04ec63a4e30" /><Relationship Type="http://schemas.openxmlformats.org/officeDocument/2006/relationships/notesMaster" Target="/ppt/notesMasters/notesMaster1.xml" Id="R041a830feeee447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cffefd1a5de4082" /><Relationship Type="http://schemas.openxmlformats.org/officeDocument/2006/relationships/notesMaster" Target="/ppt/notesMasters/notesMaster1.xml" Id="Ra6e99b56411f4c9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36001b6b3f44cdf" /><Relationship Type="http://schemas.openxmlformats.org/officeDocument/2006/relationships/notesMaster" Target="/ppt/notesMasters/notesMaster1.xml" Id="R19ddfe767f05452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00d8b03564e4604" /><Relationship Type="http://schemas.openxmlformats.org/officeDocument/2006/relationships/notesMaster" Target="/ppt/notesMasters/notesMaster1.xml" Id="R0d0a4f3766454ca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587523fc0b84212" /><Relationship Type="http://schemas.openxmlformats.org/officeDocument/2006/relationships/notesMaster" Target="/ppt/notesMasters/notesMaster1.xml" Id="R8a432b049071409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64b9d4aee0347a6" /><Relationship Type="http://schemas.openxmlformats.org/officeDocument/2006/relationships/notesMaster" Target="/ppt/notesMasters/notesMaster1.xml" Id="R50fb0588111c4aa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53358bfb94242b5" /><Relationship Type="http://schemas.openxmlformats.org/officeDocument/2006/relationships/notesMaster" Target="/ppt/notesMasters/notesMaster1.xml" Id="Recf8cfd394f048f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c74a255752345e9" /><Relationship Type="http://schemas.openxmlformats.org/officeDocument/2006/relationships/notesMaster" Target="/ppt/notesMasters/notesMaster1.xml" Id="R7442478d197b460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dace6d4878244d3" /><Relationship Type="http://schemas.openxmlformats.org/officeDocument/2006/relationships/notesMaster" Target="/ppt/notesMasters/notesMaster1.xml" Id="R00e13ccf4bcc40b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3d3339ecd56402c" /><Relationship Type="http://schemas.openxmlformats.org/officeDocument/2006/relationships/notesMaster" Target="/ppt/notesMasters/notesMaster1.xml" Id="Rc66356057952477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535b407e983491f" /><Relationship Type="http://schemas.openxmlformats.org/officeDocument/2006/relationships/notesMaster" Target="/ppt/notesMasters/notesMaster1.xml" Id="Rbb5d12382e35441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31340c7332f4aab" /><Relationship Type="http://schemas.openxmlformats.org/officeDocument/2006/relationships/notesMaster" Target="/ppt/notesMasters/notesMaster1.xml" Id="Rbea30159a7e649e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a23687c18154ee1" /><Relationship Type="http://schemas.openxmlformats.org/officeDocument/2006/relationships/notesMaster" Target="/ppt/notesMasters/notesMaster1.xml" Id="Rc39da6b539734ec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6e04a95ead24ece" /><Relationship Type="http://schemas.openxmlformats.org/officeDocument/2006/relationships/notesMaster" Target="/ppt/notesMasters/notesMaster1.xml" Id="Rf254767e926344d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dc1a47f6b794a1f" /><Relationship Type="http://schemas.openxmlformats.org/officeDocument/2006/relationships/notesMaster" Target="/ppt/notesMasters/notesMaster1.xml" Id="Rac2bd6a51e49457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41ac16cb3794bea" /><Relationship Type="http://schemas.openxmlformats.org/officeDocument/2006/relationships/notesMaster" Target="/ppt/notesMasters/notesMaster1.xml" Id="R57e42042f01b456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606f367eb4d4f55" /><Relationship Type="http://schemas.openxmlformats.org/officeDocument/2006/relationships/notesMaster" Target="/ppt/notesMasters/notesMaster1.xml" Id="R98d4344bf0c546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논리 구성도입니다. 물리 포트·Bond 및 Master 실제 구성은 확정 전입니다. 외부 Bastion의 장비 출처 및 내부 잔여 HV 용도는 확인이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논리 구성도입니다. 물리 포트·Bond 및 Master 실제 구성은 확정 전입니다. 외부 Bastion의 장비 출처 및 내부 잔여 HV 용도는 확인이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논리 구성도입니다. 물리 포트·Bond 및 Master 실제 구성은 확정 전입니다. 외부 Bastion의 장비 출처 및 내부 잔여 HV 용도는 확인이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01. 추진 개요본 작업은 기존 VMware 환경의 가상머신을 OpenShift로 이관하고, 기존 장비와 재활용 서버를 활용하여 대상 인프라를 구성하는 것을 목적으로 합니다. 망별 HV#01은 VM 집약 및 MTV 이관 원본으로 유지하며, 대상 Worker1을 우선 구축합니다. 이관 완료 후 HV#01을 Worker2로 전환합니다.</a:t>
            </a:r>
          </a:p>
          <a:p xmlns:a="http://schemas.openxmlformats.org/drawingml/2006/main">
            <a:r>
              <a:t>기존 하이퍼바이저5대외부망 2 / 내부망 3이관 대상 VM39식외부망 13 / 내부망 26재활용 서버 투입3대별도 확보 5대 중 2대 여유분스토리지동일 EMC원본 VMFS 유지 + CSI 대상 볼륨</a:t>
            </a:r>
          </a:p>
          <a:p xmlns:a="http://schemas.openxmlformats.org/drawingml/2006/main">
            <a:r>
              <a:t>VM 수량과 재활용 장비 수량은 기존 사업 기록 기준입니다. 호스트별 VM 배치 및 수행 시점의 실제 자원 현황은 착수 전 대조합니다.</a:t>
            </a:r>
          </a:p>
          <a:p xmlns:a="http://schemas.openxmlformats.org/drawingml/2006/main">
            <a:r>
              <a:t>구분계획 기준대상 환경외부망·내부망 VMware 대상 환경을 구분하여 구축 및 이관합니다. DB 레거시 풀은 재구성 대상에서 제외합니다.설치 방식폐쇄망 UPI 수동 설치입니다. Bastion에서 설치 도구·Ignition 파일을 준비하고 별도 Bootstrap 서버를 사용하며, 내부 미러 레지스트리를 구축·연동합니다.버전기존 문서 기준 OCP 4.22 / RHEL 9.8 기반 RHCOS / Bastion RHEL 9.8. 릴리스 및 호환성의 최신 검증 결과는 별도 확보하며 구축 전 적용 버전 및 지원 조합 확정 필요재활용 장비TNS-2100 · 기존 기록상 서버당 36 Core / 메모리 576GB / NIC 5포트. 실제 부품·포트 구성 및 지원 범위 확인 필요범위VM 집약, 기존 장비 재구성, 재활용 서버 구축, 네트워크·EMC CSI 구성, MTV 이관, 최종 Worker2 편입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01. 추진 개요본 작업은 기존 VMware 환경의 가상머신을 OpenShift로 이관하고, 기존 장비와 재활용 서버를 활용하여 대상 인프라를 구성하는 것을 목적으로 합니다. 망별 HV#01은 VM 집약 및 MTV 이관 원본으로 유지하며, 대상 Worker1을 우선 구축합니다. 이관 완료 후 HV#01을 Worker2로 전환합니다.</a:t>
            </a:r>
          </a:p>
          <a:p xmlns:a="http://schemas.openxmlformats.org/drawingml/2006/main">
            <a:r>
              <a:t>기존 하이퍼바이저5대외부망 2 / 내부망 3이관 대상 VM39식외부망 13 / 내부망 26재활용 서버 투입3대별도 확보 5대 중 2대 여유분스토리지동일 EMC원본 VMFS 유지 + CSI 대상 볼륨</a:t>
            </a:r>
          </a:p>
          <a:p xmlns:a="http://schemas.openxmlformats.org/drawingml/2006/main">
            <a:r>
              <a:t>VM 수량과 재활용 장비 수량은 기존 사업 기록 기준입니다. 호스트별 VM 배치 및 수행 시점의 실제 자원 현황은 착수 전 대조합니다.</a:t>
            </a:r>
          </a:p>
          <a:p xmlns:a="http://schemas.openxmlformats.org/drawingml/2006/main">
            <a:r>
              <a:t>구분계획 기준대상 환경외부망·내부망 VMware 대상 환경을 구분하여 구축 및 이관합니다. DB 레거시 풀은 재구성 대상에서 제외합니다.설치 방식폐쇄망 UPI 수동 설치입니다. Bastion에서 설치 도구·Ignition 파일을 준비하고 별도 Bootstrap 서버를 사용하며, 내부 미러 레지스트리를 구축·연동합니다.버전기존 문서 기준 OCP 4.22 / RHEL 9.8 기반 RHCOS / Bastion RHEL 9.8. 릴리스 및 호환성의 최신 검증 결과는 별도 확보하며 구축 전 적용 버전 및 지원 조합 확정 필요재활용 장비TNS-2100 · 기존 기록상 서버당 36 Core / 메모리 576GB / NIC 5포트. 실제 부품·포트 구성 및 지원 범위 확인 필요범위VM 집약, 기존 장비 재구성, 재활용 서버 구축, 네트워크·EMC CSI 구성, MTV 이관, 최종 Worker2 편입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03. 장비 활용 및 전환 계획망TO-BE 역할장비 출처IP 계획전환 시점·확인 사항외부망Master재활용 TNS-2100신규 할당사전 구축외부망Bastion기존 장비 재구성 · 출처 확인 필요기존 IP 재사용번호 배정 확인외부망Worker1외부 HV#02기존 IP 재사용MTV 이전 구축외부망Worker2기존 HV#01기존 IP 재사용MTV 원본 유지 → 이관 이후 전환내부망Master재활용 TNS-2100신규 할당사전 구축내부망Bastion재활용 TNS-2100신규 할당사전 구축내부망Worker1HV#02·HV#03 중 선정 필요기존 IP 재사용MTV 이전 구축내부망Worker2기존 HV#01기존 IP 재사용MTV 원본 유지 → 이관 이후 전환</a:t>
            </a:r>
          </a:p>
          <a:p xmlns:a="http://schemas.openxmlformats.org/drawingml/2006/main">
            <a:r>
              <a:t>기존 HV 수량은 외부망 2대·내부망 3대입니다. 외부망 Bastion은 기존 장비 재구성 계획을 유지하되 대상 장비 출처를 확인해야 합니다. 외부 HV#02는 Worker1 전환 대상이며, 내부망은 HV#02·HV#03 중 Worker1 전환 장비와 잔여 장비의 용도를 확인해야 합니다. 각 망 HV#01은 MTV 이후 Worker2로 전환합니다.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03. 장비 활용 및 전환 계획망TO-BE 역할장비 출처IP 계획전환 시점·확인 사항외부망Master재활용 TNS-2100신규 할당사전 구축외부망Bastion기존 장비 재구성 · 출처 확인 필요기존 IP 재사용번호 배정 확인외부망Worker1외부 HV#02기존 IP 재사용MTV 이전 구축외부망Worker2기존 HV#01기존 IP 재사용MTV 원본 유지 → 이관 이후 전환내부망Master재활용 TNS-2100신규 할당사전 구축내부망Bastion재활용 TNS-2100신규 할당사전 구축내부망Worker1HV#02·HV#03 중 선정 필요기존 IP 재사용MTV 이전 구축내부망Worker2기존 HV#01기존 IP 재사용MTV 원본 유지 → 이관 이후 전환</a:t>
            </a:r>
          </a:p>
          <a:p xmlns:a="http://schemas.openxmlformats.org/drawingml/2006/main">
            <a:r>
              <a:t>기존 HV 수량은 외부망 2대·내부망 3대입니다. 외부망 Bastion은 기존 장비 재구성 계획을 유지하되 대상 장비 출처를 확인해야 합니다. 외부 HV#02는 Worker1 전환 대상이며, 내부망은 HV#02·HV#03 중 Worker1 전환 장비와 잔여 장비의 용도를 확인해야 합니다. 각 망 HV#01은 MTV 이후 Worker2로 전환합니다.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04. 네트워크·IP 및 스토리지 계획동일 EMC 스토리지의 원본·대상 공간 동시 확보</a:t>
            </a:r>
          </a:p>
          <a:p xmlns:a="http://schemas.openxmlformats.org/drawingml/2006/main">
            <a:r>
              <a:t>기존 VMware VMFS 데이터스토어는 광채널(FC)로 할당받은 LUN을 사용합니다. OpenShift 구축 후 EMC용 CSI 드라이버를 설치하고, CSI를 통해 MTV 대상 스토리지 볼륨을 할당할 예정입니다. 이관 및 원본 보관 기간에는 기존 VMware VMFS 데이터스토어 유지분과 MTV 대상 볼륨이 동시에 필요합니다.</a:t>
            </a:r>
          </a:p>
          <a:p xmlns:a="http://schemas.openxmlformats.org/drawingml/2006/main">
            <a:r>
              <a:t>항목확정 방향추가 입력·검토기존 HV 네트워크서비스망 / NAS·BK망 / 관리망 IP 재사용기존 IP·서브넷·VLAN·게이트웨이·포트 매핑 확보신규 IP외부 Master, 내부 Master·Bastion역할별 실제 연결망과 IP 수량 결정노드 이중화NIC 및 스위치 경로 확인 후 설계일반 NIC 수·속도, Bond 방식, 스위치 구성 미확정VM 네트워크예시 문서의 VM 풀 표현 방식 참고VM IP 유지 여부, NIC·NAD·브리지 및 VLAN 매핑 미확정원본 스토리지EMC · FC 연결 → LUN 할당 → VMFS 데이터스토어 유지기존 LUN·데이터스토어 매핑, 사용·할당 용량, FC 경로대상 스토리지동일 EMC · CSI 드라이버 설치 후 대상 볼륨 할당EMC 모델·펌웨어, CSI 지원 버전·연결 프로토콜, 풀·StorageClass·볼륨 모드별도 주소 항목UPI 구성에 맞춰 확정API·Ingress VIP, DNS·NTP, BMC 주소</a:t>
            </a:r>
          </a:p>
          <a:p xmlns:a="http://schemas.openxmlformats.org/drawingml/2006/main">
            <a:r>
              <a:t>IP 상세정보 참조IP 상세정보는 국데터 SGIS 구성을 참조합니다.</a:t>
            </a:r>
          </a:p>
          <a:p xmlns:a="http://schemas.openxmlformats.org/drawingml/2006/main">
            <a:r>
              <a:t>기존 서버의 IP 재사용 및 신규 인프라 IP 할당 내역은 내부 문서를 기준으로 확인합니다.</a:t>
            </a:r>
          </a:p>
          <a:p xmlns:a="http://schemas.openxmlformats.org/drawingml/2006/main">
            <a:r>
              <a:t>신규 서버의 연결망과 주소 정보는 국데터 SGIS 구성 문서에 반영하여 관리합니다. 기존 IP는 원 장비에서 해제한 뒤 전환 장비에 적용해 중복 사용을 방지합니다.</a:t>
            </a:r>
          </a:p>
          <a:p xmlns:a="http://schemas.openxmlformats.org/drawingml/2006/main">
            <a:r>
              <a:t>동일 EMC 스토리지 사용 계획 — 이관 기간</a:t>
            </a:r>
          </a:p>
          <a:p xmlns:a="http://schemas.openxmlformats.org/drawingml/2006/main">
            <a:r>
              <a:t>CSI는 볼륨 할당·연동 방식입니다. FC 등 실제 데이터 연결 프로토콜은 EMC 모델과 지원 드라이버를 확인한 후 확정합니다. NAS/BK망과 VM 데이터스토어의 FC 경로는 구분합니다. 기존 NFS 언급은 NAS·백업 용도 등 적용 범위를 별도로 확인하며, VM 데이터스토어 방식으로 표기하지 않습니다.스토리지 용량 산정 초안동일 EMC에서 기존 VMware VMFS 데이터스토어를 유지하면서 MTV 대상 볼륨을 추가 확보합니다. 원본 데이터스토어와 대상 볼륨을 별도로 관리하며, 이관 및 원본 보관 기간에는 두 영역을 동시에 수용해야 합니다. 풀별 잔여 용량과 망별 VM 설정·사용 용량을 확보한 뒤 산정합니다.사업 관련 동시 확보 공간 = 기존 VMware VMFS 데이터스토어 유지분 + MTV 대상 볼륨 + 추가 공간·운영 여유</a:t>
            </a:r>
          </a:p>
          <a:p xmlns:a="http://schemas.openxmlformats.org/drawingml/2006/main">
            <a:r>
              <a:t>추가 필요 공간 = MTV 대상 볼륨 + 오버헤드·플랫폼 공간 + 임시·스냅샷 공간 + 운영 여유</a:t>
            </a:r>
          </a:p>
          <a:p xmlns:a="http://schemas.openxmlformats.org/drawingml/2006/main">
            <a:r>
              <a:t>부족분 = max(0, 추가 필요 공간 − 사업에 할당 가능한 실제 잔여 용량)산정식은 초기 검토 기준이며, 실제 필요 용량은 자원 현황 확보 후 확정합니다. 사업에 할당 가능한 실제 잔여 용량은 원본 데이터스토어 유지분을 제외한 값입니다. 원본 유지분은 추가 필요 공간에 중복 가산하지 않으며, 원본 삭제로 회수할 용량도 사전에 가용 공간으로 계산하지 않습니다. 같은 풀을 공유하는 경우 여유 공간을 망별로 중복 계산하지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04. 네트워크·IP 및 스토리지 계획동일 EMC 스토리지의 원본·대상 공간 동시 확보</a:t>
            </a:r>
          </a:p>
          <a:p xmlns:a="http://schemas.openxmlformats.org/drawingml/2006/main">
            <a:r>
              <a:t>기존 VMware VMFS 데이터스토어는 광채널(FC)로 할당받은 LUN을 사용합니다. OpenShift 구축 후 EMC용 CSI 드라이버를 설치하고, CSI를 통해 MTV 대상 스토리지 볼륨을 할당할 예정입니다. 이관 및 원본 보관 기간에는 기존 VMware VMFS 데이터스토어 유지분과 MTV 대상 볼륨이 동시에 필요합니다.</a:t>
            </a:r>
          </a:p>
          <a:p xmlns:a="http://schemas.openxmlformats.org/drawingml/2006/main">
            <a:r>
              <a:t>항목확정 방향추가 입력·검토기존 HV 네트워크서비스망 / NAS·BK망 / 관리망 IP 재사용기존 IP·서브넷·VLAN·게이트웨이·포트 매핑 확보신규 IP외부 Master, 내부 Master·Bastion역할별 실제 연결망과 IP 수량 결정노드 이중화NIC 및 스위치 경로 확인 후 설계일반 NIC 수·속도, Bond 방식, 스위치 구성 미확정VM 네트워크예시 문서의 VM 풀 표현 방식 참고VM IP 유지 여부, NIC·NAD·브리지 및 VLAN 매핑 미확정원본 스토리지EMC · FC 연결 → LUN 할당 → VMFS 데이터스토어 유지기존 LUN·데이터스토어 매핑, 사용·할당 용량, FC 경로대상 스토리지동일 EMC · CSI 드라이버 설치 후 대상 볼륨 할당EMC 모델·펌웨어, CSI 지원 버전·연결 프로토콜, 풀·StorageClass·볼륨 모드별도 주소 항목UPI 구성에 맞춰 확정API·Ingress VIP, DNS·NTP, BMC 주소</a:t>
            </a:r>
          </a:p>
          <a:p xmlns:a="http://schemas.openxmlformats.org/drawingml/2006/main">
            <a:r>
              <a:t>IP 상세정보 참조IP 상세정보는 국데터 SGIS 구성을 참조합니다.</a:t>
            </a:r>
          </a:p>
          <a:p xmlns:a="http://schemas.openxmlformats.org/drawingml/2006/main">
            <a:r>
              <a:t>기존 서버의 IP 재사용 및 신규 인프라 IP 할당 내역은 내부 문서를 기준으로 확인합니다.</a:t>
            </a:r>
          </a:p>
          <a:p xmlns:a="http://schemas.openxmlformats.org/drawingml/2006/main">
            <a:r>
              <a:t>신규 서버의 연결망과 주소 정보는 국데터 SGIS 구성 문서에 반영하여 관리합니다. 기존 IP는 원 장비에서 해제한 뒤 전환 장비에 적용해 중복 사용을 방지합니다.</a:t>
            </a:r>
          </a:p>
          <a:p xmlns:a="http://schemas.openxmlformats.org/drawingml/2006/main">
            <a:r>
              <a:t>동일 EMC 스토리지 사용 계획 — 이관 기간</a:t>
            </a:r>
          </a:p>
          <a:p xmlns:a="http://schemas.openxmlformats.org/drawingml/2006/main">
            <a:r>
              <a:t>CSI는 볼륨 할당·연동 방식입니다. FC 등 실제 데이터 연결 프로토콜은 EMC 모델과 지원 드라이버를 확인한 후 확정합니다. NAS/BK망과 VM 데이터스토어의 FC 경로는 구분합니다. 기존 NFS 언급은 NAS·백업 용도 등 적용 범위를 별도로 확인하며, VM 데이터스토어 방식으로 표기하지 않습니다.스토리지 용량 산정 초안동일 EMC에서 기존 VMware VMFS 데이터스토어를 유지하면서 MTV 대상 볼륨을 추가 확보합니다. 원본 데이터스토어와 대상 볼륨을 별도로 관리하며, 이관 및 원본 보관 기간에는 두 영역을 동시에 수용해야 합니다. 풀별 잔여 용량과 망별 VM 설정·사용 용량을 확보한 뒤 산정합니다.사업 관련 동시 확보 공간 = 기존 VMware VMFS 데이터스토어 유지분 + MTV 대상 볼륨 + 추가 공간·운영 여유</a:t>
            </a:r>
          </a:p>
          <a:p xmlns:a="http://schemas.openxmlformats.org/drawingml/2006/main">
            <a:r>
              <a:t>추가 필요 공간 = MTV 대상 볼륨 + 오버헤드·플랫폼 공간 + 임시·스냅샷 공간 + 운영 여유</a:t>
            </a:r>
          </a:p>
          <a:p xmlns:a="http://schemas.openxmlformats.org/drawingml/2006/main">
            <a:r>
              <a:t>부족분 = max(0, 추가 필요 공간 − 사업에 할당 가능한 실제 잔여 용량)산정식은 초기 검토 기준이며, 실제 필요 용량은 자원 현황 확보 후 확정합니다. 사업에 할당 가능한 실제 잔여 용량은 원본 데이터스토어 유지분을 제외한 값입니다. 원본 유지분은 추가 필요 공간에 중복 가산하지 않으며, 원본 삭제로 회수할 용량도 사전에 가용 공간으로 계산하지 않습니다. 같은 풀을 공유하는 경우 여유 공간을 망별로 중복 계산하지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04. 네트워크·IP 및 스토리지 계획동일 EMC 스토리지의 원본·대상 공간 동시 확보</a:t>
            </a:r>
          </a:p>
          <a:p xmlns:a="http://schemas.openxmlformats.org/drawingml/2006/main">
            <a:r>
              <a:t>기존 VMware VMFS 데이터스토어는 광채널(FC)로 할당받은 LUN을 사용합니다. OpenShift 구축 후 EMC용 CSI 드라이버를 설치하고, CSI를 통해 MTV 대상 스토리지 볼륨을 할당할 예정입니다. 이관 및 원본 보관 기간에는 기존 VMware VMFS 데이터스토어 유지분과 MTV 대상 볼륨이 동시에 필요합니다.</a:t>
            </a:r>
          </a:p>
          <a:p xmlns:a="http://schemas.openxmlformats.org/drawingml/2006/main">
            <a:r>
              <a:t>항목확정 방향추가 입력·검토기존 HV 네트워크서비스망 / NAS·BK망 / 관리망 IP 재사용기존 IP·서브넷·VLAN·게이트웨이·포트 매핑 확보신규 IP외부 Master, 내부 Master·Bastion역할별 실제 연결망과 IP 수량 결정노드 이중화NIC 및 스위치 경로 확인 후 설계일반 NIC 수·속도, Bond 방식, 스위치 구성 미확정VM 네트워크예시 문서의 VM 풀 표현 방식 참고VM IP 유지 여부, NIC·NAD·브리지 및 VLAN 매핑 미확정원본 스토리지EMC · FC 연결 → LUN 할당 → VMFS 데이터스토어 유지기존 LUN·데이터스토어 매핑, 사용·할당 용량, FC 경로대상 스토리지동일 EMC · CSI 드라이버 설치 후 대상 볼륨 할당EMC 모델·펌웨어, CSI 지원 버전·연결 프로토콜, 풀·StorageClass·볼륨 모드별도 주소 항목UPI 구성에 맞춰 확정API·Ingress VIP, DNS·NTP, BMC 주소</a:t>
            </a:r>
          </a:p>
          <a:p xmlns:a="http://schemas.openxmlformats.org/drawingml/2006/main">
            <a:r>
              <a:t>IP 상세정보 참조IP 상세정보는 국데터 SGIS 구성을 참조합니다.</a:t>
            </a:r>
          </a:p>
          <a:p xmlns:a="http://schemas.openxmlformats.org/drawingml/2006/main">
            <a:r>
              <a:t>기존 서버의 IP 재사용 및 신규 인프라 IP 할당 내역은 내부 문서를 기준으로 확인합니다.</a:t>
            </a:r>
          </a:p>
          <a:p xmlns:a="http://schemas.openxmlformats.org/drawingml/2006/main">
            <a:r>
              <a:t>신규 서버의 연결망과 주소 정보는 국데터 SGIS 구성 문서에 반영하여 관리합니다. 기존 IP는 원 장비에서 해제한 뒤 전환 장비에 적용해 중복 사용을 방지합니다.</a:t>
            </a:r>
          </a:p>
          <a:p xmlns:a="http://schemas.openxmlformats.org/drawingml/2006/main">
            <a:r>
              <a:t>동일 EMC 스토리지 사용 계획 — 이관 기간</a:t>
            </a:r>
          </a:p>
          <a:p xmlns:a="http://schemas.openxmlformats.org/drawingml/2006/main">
            <a:r>
              <a:t>CSI는 볼륨 할당·연동 방식입니다. FC 등 실제 데이터 연결 프로토콜은 EMC 모델과 지원 드라이버를 확인한 후 확정합니다. NAS/BK망과 VM 데이터스토어의 FC 경로는 구분합니다. 기존 NFS 언급은 NAS·백업 용도 등 적용 범위를 별도로 확인하며, VM 데이터스토어 방식으로 표기하지 않습니다.스토리지 용량 산정 초안동일 EMC에서 기존 VMware VMFS 데이터스토어를 유지하면서 MTV 대상 볼륨을 추가 확보합니다. 원본 데이터스토어와 대상 볼륨을 별도로 관리하며, 이관 및 원본 보관 기간에는 두 영역을 동시에 수용해야 합니다. 풀별 잔여 용량과 망별 VM 설정·사용 용량을 확보한 뒤 산정합니다.사업 관련 동시 확보 공간 = 기존 VMware VMFS 데이터스토어 유지분 + MTV 대상 볼륨 + 추가 공간·운영 여유</a:t>
            </a:r>
          </a:p>
          <a:p xmlns:a="http://schemas.openxmlformats.org/drawingml/2006/main">
            <a:r>
              <a:t>추가 필요 공간 = MTV 대상 볼륨 + 오버헤드·플랫폼 공간 + 임시·스냅샷 공간 + 운영 여유</a:t>
            </a:r>
          </a:p>
          <a:p xmlns:a="http://schemas.openxmlformats.org/drawingml/2006/main">
            <a:r>
              <a:t>부족분 = max(0, 추가 필요 공간 − 사업에 할당 가능한 실제 잔여 용량)산정식은 초기 검토 기준이며, 실제 필요 용량은 자원 현황 확보 후 확정합니다. 사업에 할당 가능한 실제 잔여 용량은 원본 데이터스토어 유지분을 제외한 값입니다. 원본 유지분은 추가 필요 공간에 중복 가산하지 않으며, 원본 삭제로 회수할 용량도 사전에 가용 공간으로 계산하지 않습니다. 같은 풀을 공유하는 경우 여유 공간을 망별로 중복 계산하지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05. 단계별 수행 계획</a:t>
            </a:r>
          </a:p>
          <a:p xmlns:a="http://schemas.openxmlformats.org/drawingml/2006/main">
            <a:r>
              <a:t>단계작업 내용진행 전 확인 / 완료 기준1. 현황·백업 확보HV·VM·네트워크·FC LUN·VMFS 데이터스토어 현황 및 설정 기록, 복구 가능한 백업 확보VM별 OS·NIC·디스크·부팅 설정 기록 및 백업, 콘솔 접근, 망별 HV#01 수용 자원 확인2. VMware VM 집약외부 VM 13식·내부 VM 26식을 각 망 HV#01로 집약VM 이동 방식 확정, 서비스 정상 확인, 나머지 HV의 VM 잔존 여부 확인3. 장비 재구성외부 HV#02 및 내부 선정 HV를 Worker1으로 구성합니다. 외부 Bastion 장비 출처와 내부 잔여 HV 용도는 확인 후 반영합니다.외부 HV 번호별 배정 확정, IP 중복 방지, 재구성 전 데이터·설정 보존4. 신규 인프라 구축재활용 서버로 외부 Master, 내부 Master·Bastion 구성Master 실제 구성·UPI 설치 자원·호환 버전 및 신규 IP 확인5. OpenShift 기반 검증클러스터·가상화 기능·네트워크 구성, EMC CSI 드라이버 설치 및 StorageClass·대상 볼륨 할당 검증Worker1 단독 자원 수용 여부, CSI 볼륨·VM 디스크 기능, 동일 EMC 원본·대상 용량과 이관 중 I/O 부하 확인6. MTV 준비·시험 이관소스·대상 연결 및 망·스토리지 매핑 구성, 주요 OS·다중 NIC·디스크 유형별 시험 이관, 보정 절차와 소요 시간 기록MTV 버전·이관 방식 확정, 연결·권한·인증서·필요 통신 확인, 시험 결과 기록7. 회차별 본 이관회차별 대상 선정 → 사전 검사 → 이관 및 원본 종료·최종 동기화 → 대상 기동 → NIC·디스크 보정 → 업무 검증동일 서비스 원본·대상의 동시 활성화 방지, 회차별 성공·실패·재작업 기록8. HV#01 전환 판단대상 서비스 검증, 원본 보관 및 복구 조건 확인원본 HV를 재구성해도 되는 시점 명시, 백업 및 데이터 복구 경로 확보9. Worker2 추가각 망 HV#01 재구성 → Worker2 편입, 기존 IP 재사용노드·네트워크·CSI 볼륨 접근 정상 확인, VM 배치·이동 검증 범위 협의10. 완료 기록최종 구성·IP·VM 이관 결과 및 잔여 작업 정리MTV 완료, OS 기동, 디스크·네트워크·업무·백업 정상 확인 및 합의된 검수 항목 충족, 결과서 갱신</a:t>
            </a:r>
          </a:p>
          <a:p xmlns:a="http://schemas.openxmlformats.org/drawingml/2006/main">
            <a:r>
              <a:t>3~5단계는 아래 UPI 절차를 적용하며, Master 상세 구성에 따라 세부 순서를 확정합니다. 작업 명령, 수행일 및 소요 시간은 상세 작업 절차서에 반영합니다.</a:t>
            </a:r>
          </a:p>
          <a:p xmlns:a="http://schemas.openxmlformats.org/drawingml/2006/main">
            <a:r>
              <a:t>폐쇄망 UPI 설치 절차단계작업 내용1. 사전 준비Bastion에 설치 도구와 CLI를 준비하고 DNS·NTP·API/Ingress 로드밸런서 및 네트워크를 구성합니다.2. 폐쇄망 미러 구성필요한 OCP·가상화·MTV·CSI 이미지를 내부 레지스트리에 반입하고 인증서·인증·미러 설정을 준비합니다.3. 설치 설정 생성클러스터 구성과 미러 정보를 반영하여 설치 설정 및 Bootstrap·Master·Worker용 Ignition 파일을 생성합니다.4. Bootstrap 및 노드 설치별도 Bootstrap 서버를 구동하고 대상 노드에 RHCOS와 해당 Ignition을 적용합니다. 각 망 HV#01은 MTV 원본으로 유지하며 최초 설치 대상에서 제외합니다.5. Bootstrap 완료 확인Bootstrap 완료를 확인한 뒤 로드밸런서에서 Bootstrap 대상을 제거하고 임시 서버를 종료·철거합니다.6. 클러스터 완료 검증노드·CSR·ClusterOperator 상태와 API·콘솔·미러 접근을 확인합니다. 이후 가상화·EMC CSI·MTV를 구성합니다.7. MTV 이후 Worker2 편입원본 보관·원복 조건을 확인한 뒤 HV#01에 신규 노드용 설정을 적용하고 Worker2로 편입합니다.설치 방식은 UPI로 확정합니다. Master 실제 노드 수·HA 구성, 초기 Worker1 단독 운영의 지원 조건 및 Bootstrap 자원 배치는 구축 전 확인합니다. OS 설치 디스크와 EMC의 기존 VMFS LUN을 구분하여 원본 데이터를 보존합니다.VM별 사전 점검 및 시험 이관대상 VM의 가상 하드웨어 및 게스트 설정 변경에 대비하여 아래 항목을 조사합니다. 해당 항목의 사용 여부를 먼저 확인하고, 적용할 MTV·OpenShift Virtualization 버전의 지원 조건에 따라 처리합니다. 확인 결과는 미확인 / 해당 없음 / 적합 / 조치 필요로 구분하여 기록합니다.점검 항목사전 조사·준비시험 이관 및 조치 기준OS·커널 및 지원 조합OS·커널·아키텍처와 적용 MTV·가상화 버전의 지원 여부를 확인합니다.주요 OS 유형별 대표 VM을 선정하여 변환·기동 결과를 확인합니다.부팅 방식·VirtIO 드라이버BIOS/UEFI, 부팅 디스크와 드라이버 상태를 기록하고 콘솔·복구 접근을 확보합니다.부팅 및 디스크·NIC 인식 결과를 확인하고 OS별 보정 절차를 작성합니다.디스크·마운트디스크별 용량·용도, Linux fstab·UUID·LVM, Windows 드라이브 문자를 기록합니다.데이터 디스크 누락, 마운트 및 애플리케이션 경로 변경 여부를 확인합니다.NIC·IP·라우팅NIC별 이름·MAC·Port Group·VLAN·IP/Prefix, 게이트웨이·DNS·정적 경로·MTU를 기록하고 설정을 백업합니다.NetworkMap과 실제 대상 NIC를 대조합니다. 이름 또는 순서만으로 서비스망·NAS/BK망을 판단하지 않습니다.암호화·보안 부팅Secure Boot·vTPM·BitLocker·LUKS 사용 여부와 지원 절차를 확인합니다. 복구 키는 승인된 보관 위치에 확보합니다.해당 기능을 사용하는 VM은 적용 버전의 지원 절차를 검증합니다. 보고서에는 비밀 키를 기재하지 않습니다.게스트 도구·에이전트VMware Tools, QEMU Guest Agent, 보안·백업·모니터링 에이전트 현황을 기록합니다.변환 후 도구 처리 결과와 대상 에이전트 설치·동작을 확인합니다. VMware Tools 사전 제거를 일괄 지시하지 않습니다.스냅샷·웜 이관 조건기존 스냅샷, CBT 상태 및 필요한 여유 공간을 확인합니다. Windows 웜 이관은 VSS 등 사전 조건을 확인합니다.사전 복사와 최종 변경분 반영이 정상 완료되는지 확인합니다.라이선스·시간·서비스하드웨어 정보 종속 라이선스, DNS·시간 동기화, 서비스 자동 기동·배치와 외부 연계를 조사합니다.재인증·재등록 필요 여부와 실제 업무 동작을 확인합니다.Worker1·EMC 수용 능력망별 Worker1 단독 운영 기간의 CPU·메모리와 원본·대상 스토리지 동시 사용량을 확인합니다.이관 복사와 운영 I/O가 겹치는 조건에서 응답시간·디스크 지연을 확인하고 회차·동시 이관 수를 결정합니다.시험 대상은 주요 OS, 다중 NIC, 다중 디스크 및 보안·암호화 등 특수 구성을 포함하여 선정합니다. 보정 소요 시간과 허용 기준은 시험 결과를 근거로 회차별 작업계획에 반영합니다.</a:t>
            </a:r>
          </a:p>
          <a:p xmlns:a="http://schemas.openxmlformats.org/drawingml/2006/main">
            <a:r>
              <a:t>VM 인터페이스 변경 대응 절차순서수행 내용1. 사전 기록·백업VM별 NIC 매핑표와 IP·경로 정보를 확보하고 게스트 네트워크 설정을 백업합니다.2. 이관·전환원본 VM 종료와 최종 데이터 반영 이후 대상 VM을 운영망에서 기동합니다. 동일 IP의 원본·대상이 동시에 활성화되지 않도록 합니다.3. 콘솔 확인대상 VM 콘솔에서 NIC 이름·MAC·IP 적용 상태를 확인하고 NetworkMap 및 사전 기록과 대조합니다.4. 설정 보정필요한 경우 이름·MAC에 종속된 설정을 올바른 대상 NIC에 연결합니다. 기존 IP를 유지하는 계획에 따라 IP·게이트웨이·경로를 보정합니다.5. 검증·판단서비스·NAS/BK망별 통신과 업무를 확인합니다. 보정이 지연되는 경우 합의한 원복 기준에 따라 조치합니다.VM별 NIC 매핑표 양식VM명용도기존 NIC / MAC기존 Port Group / VLANIP 상세정보대상 NetworkMap·네트워크이관 후 NIC / MAC기입서비스망기입기입국데터 SGIS 구성 참조기입이관 후 확인기입NAS/BK망기입기입국데터 SGIS 구성 참조기입이관 후 확인게이트웨이, DNS, 정적 경로 및 MTU는 VM별 상세 기록에 함께 보관합니다. 기존 물리 NIC·케이블·스위치 연결은 유지하며, 재구성한 노드의 설정과 VM 망 매핑을 기존 연결 조건에 맞춰 검증합니다.</a:t>
            </a:r>
          </a:p>
          <a:p xmlns:a="http://schemas.openxmlformats.org/drawingml/2006/main">
            <a:r>
              <a:t>이관 방식별 서비스 전환 순서방식작업 순서콜드 이관원본 VM 종료 → 데이터 복사·변환 → 대상 VM 기동 → 네트워크·업무 검증웜 이관원본 운영 중 사전 복사 → 전환 시 원본 VM 종료 → 최종 변경분 복사·변환 → 대상 VM 기동 → 네트워크·업무 검증MTV의 원본 종료 및 대상 기동 동작은 적용 버전과 계획 설정을 사전에 확인합니다. 원본 VM은 전원 종료 상태로 보관하며, 보관·원복 기준 충족 후 정리합니다.회차별 이관 관리표회차예정일망대상 VM방식검증 결과상태시험미정외부 / 내부선정 필요미정미수행계획본 이관 1차미정선정 필요선정 필요미정미수행계획추가 회차미정선정 필요선정 필요미정미수행필요 시 추가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05. 단계별 수행 계획</a:t>
            </a:r>
          </a:p>
          <a:p xmlns:a="http://schemas.openxmlformats.org/drawingml/2006/main">
            <a:r>
              <a:t>단계작업 내용진행 전 확인 / 완료 기준1. 현황·백업 확보HV·VM·네트워크·FC LUN·VMFS 데이터스토어 현황 및 설정 기록, 복구 가능한 백업 확보VM별 OS·NIC·디스크·부팅 설정 기록 및 백업, 콘솔 접근, 망별 HV#01 수용 자원 확인2. VMware VM 집약외부 VM 13식·내부 VM 26식을 각 망 HV#01로 집약VM 이동 방식 확정, 서비스 정상 확인, 나머지 HV의 VM 잔존 여부 확인3. 장비 재구성외부 HV#02 및 내부 선정 HV를 Worker1으로 구성합니다. 외부 Bastion 장비 출처와 내부 잔여 HV 용도는 확인 후 반영합니다.외부 HV 번호별 배정 확정, IP 중복 방지, 재구성 전 데이터·설정 보존4. 신규 인프라 구축재활용 서버로 외부 Master, 내부 Master·Bastion 구성Master 실제 구성·UPI 설치 자원·호환 버전 및 신규 IP 확인5. OpenShift 기반 검증클러스터·가상화 기능·네트워크 구성, EMC CSI 드라이버 설치 및 StorageClass·대상 볼륨 할당 검증Worker1 단독 자원 수용 여부, CSI 볼륨·VM 디스크 기능, 동일 EMC 원본·대상 용량과 이관 중 I/O 부하 확인6. MTV 준비·시험 이관소스·대상 연결 및 망·스토리지 매핑 구성, 주요 OS·다중 NIC·디스크 유형별 시험 이관, 보정 절차와 소요 시간 기록MTV 버전·이관 방식 확정, 연결·권한·인증서·필요 통신 확인, 시험 결과 기록7. 회차별 본 이관회차별 대상 선정 → 사전 검사 → 이관 및 원본 종료·최종 동기화 → 대상 기동 → NIC·디스크 보정 → 업무 검증동일 서비스 원본·대상의 동시 활성화 방지, 회차별 성공·실패·재작업 기록8. HV#01 전환 판단대상 서비스 검증, 원본 보관 및 복구 조건 확인원본 HV를 재구성해도 되는 시점 명시, 백업 및 데이터 복구 경로 확보9. Worker2 추가각 망 HV#01 재구성 → Worker2 편입, 기존 IP 재사용노드·네트워크·CSI 볼륨 접근 정상 확인, VM 배치·이동 검증 범위 협의10. 완료 기록최종 구성·IP·VM 이관 결과 및 잔여 작업 정리MTV 완료, OS 기동, 디스크·네트워크·업무·백업 정상 확인 및 합의된 검수 항목 충족, 결과서 갱신</a:t>
            </a:r>
          </a:p>
          <a:p xmlns:a="http://schemas.openxmlformats.org/drawingml/2006/main">
            <a:r>
              <a:t>3~5단계는 아래 UPI 절차를 적용하며, Master 상세 구성에 따라 세부 순서를 확정합니다. 작업 명령, 수행일 및 소요 시간은 상세 작업 절차서에 반영합니다.</a:t>
            </a:r>
          </a:p>
          <a:p xmlns:a="http://schemas.openxmlformats.org/drawingml/2006/main">
            <a:r>
              <a:t>폐쇄망 UPI 설치 절차단계작업 내용1. 사전 준비Bastion에 설치 도구와 CLI를 준비하고 DNS·NTP·API/Ingress 로드밸런서 및 네트워크를 구성합니다.2. 폐쇄망 미러 구성필요한 OCP·가상화·MTV·CSI 이미지를 내부 레지스트리에 반입하고 인증서·인증·미러 설정을 준비합니다.3. 설치 설정 생성클러스터 구성과 미러 정보를 반영하여 설치 설정 및 Bootstrap·Master·Worker용 Ignition 파일을 생성합니다.4. Bootstrap 및 노드 설치별도 Bootstrap 서버를 구동하고 대상 노드에 RHCOS와 해당 Ignition을 적용합니다. 각 망 HV#01은 MTV 원본으로 유지하며 최초 설치 대상에서 제외합니다.5. Bootstrap 완료 확인Bootstrap 완료를 확인한 뒤 로드밸런서에서 Bootstrap 대상을 제거하고 임시 서버를 종료·철거합니다.6. 클러스터 완료 검증노드·CSR·ClusterOperator 상태와 API·콘솔·미러 접근을 확인합니다. 이후 가상화·EMC CSI·MTV를 구성합니다.7. MTV 이후 Worker2 편입원본 보관·원복 조건을 확인한 뒤 HV#01에 신규 노드용 설정을 적용하고 Worker2로 편입합니다.설치 방식은 UPI로 확정합니다. Master 실제 노드 수·HA 구성, 초기 Worker1 단독 운영의 지원 조건 및 Bootstrap 자원 배치는 구축 전 확인합니다. OS 설치 디스크와 EMC의 기존 VMFS LUN을 구분하여 원본 데이터를 보존합니다.VM별 사전 점검 및 시험 이관대상 VM의 가상 하드웨어 및 게스트 설정 변경에 대비하여 아래 항목을 조사합니다. 해당 항목의 사용 여부를 먼저 확인하고, 적용할 MTV·OpenShift Virtualization 버전의 지원 조건에 따라 처리합니다. 확인 결과는 미확인 / 해당 없음 / 적합 / 조치 필요로 구분하여 기록합니다.점검 항목사전 조사·준비시험 이관 및 조치 기준OS·커널 및 지원 조합OS·커널·아키텍처와 적용 MTV·가상화 버전의 지원 여부를 확인합니다.주요 OS 유형별 대표 VM을 선정하여 변환·기동 결과를 확인합니다.부팅 방식·VirtIO 드라이버BIOS/UEFI, 부팅 디스크와 드라이버 상태를 기록하고 콘솔·복구 접근을 확보합니다.부팅 및 디스크·NIC 인식 결과를 확인하고 OS별 보정 절차를 작성합니다.디스크·마운트디스크별 용량·용도, Linux fstab·UUID·LVM, Windows 드라이브 문자를 기록합니다.데이터 디스크 누락, 마운트 및 애플리케이션 경로 변경 여부를 확인합니다.NIC·IP·라우팅NIC별 이름·MAC·Port Group·VLAN·IP/Prefix, 게이트웨이·DNS·정적 경로·MTU를 기록하고 설정을 백업합니다.NetworkMap과 실제 대상 NIC를 대조합니다. 이름 또는 순서만으로 서비스망·NAS/BK망을 판단하지 않습니다.암호화·보안 부팅Secure Boot·vTPM·BitLocker·LUKS 사용 여부와 지원 절차를 확인합니다. 복구 키는 승인된 보관 위치에 확보합니다.해당 기능을 사용하는 VM은 적용 버전의 지원 절차를 검증합니다. 보고서에는 비밀 키를 기재하지 않습니다.게스트 도구·에이전트VMware Tools, QEMU Guest Agent, 보안·백업·모니터링 에이전트 현황을 기록합니다.변환 후 도구 처리 결과와 대상 에이전트 설치·동작을 확인합니다. VMware Tools 사전 제거를 일괄 지시하지 않습니다.스냅샷·웜 이관 조건기존 스냅샷, CBT 상태 및 필요한 여유 공간을 확인합니다. Windows 웜 이관은 VSS 등 사전 조건을 확인합니다.사전 복사와 최종 변경분 반영이 정상 완료되는지 확인합니다.라이선스·시간·서비스하드웨어 정보 종속 라이선스, DNS·시간 동기화, 서비스 자동 기동·배치와 외부 연계를 조사합니다.재인증·재등록 필요 여부와 실제 업무 동작을 확인합니다.Worker1·EMC 수용 능력망별 Worker1 단독 운영 기간의 CPU·메모리와 원본·대상 스토리지 동시 사용량을 확인합니다.이관 복사와 운영 I/O가 겹치는 조건에서 응답시간·디스크 지연을 확인하고 회차·동시 이관 수를 결정합니다.시험 대상은 주요 OS, 다중 NIC, 다중 디스크 및 보안·암호화 등 특수 구성을 포함하여 선정합니다. 보정 소요 시간과 허용 기준은 시험 결과를 근거로 회차별 작업계획에 반영합니다.</a:t>
            </a:r>
          </a:p>
          <a:p xmlns:a="http://schemas.openxmlformats.org/drawingml/2006/main">
            <a:r>
              <a:t>VM 인터페이스 변경 대응 절차순서수행 내용1. 사전 기록·백업VM별 NIC 매핑표와 IP·경로 정보를 확보하고 게스트 네트워크 설정을 백업합니다.2. 이관·전환원본 VM 종료와 최종 데이터 반영 이후 대상 VM을 운영망에서 기동합니다. 동일 IP의 원본·대상이 동시에 활성화되지 않도록 합니다.3. 콘솔 확인대상 VM 콘솔에서 NIC 이름·MAC·IP 적용 상태를 확인하고 NetworkMap 및 사전 기록과 대조합니다.4. 설정 보정필요한 경우 이름·MAC에 종속된 설정을 올바른 대상 NIC에 연결합니다. 기존 IP를 유지하는 계획에 따라 IP·게이트웨이·경로를 보정합니다.5. 검증·판단서비스·NAS/BK망별 통신과 업무를 확인합니다. 보정이 지연되는 경우 합의한 원복 기준에 따라 조치합니다.VM별 NIC 매핑표 양식VM명용도기존 NIC / MAC기존 Port Group / VLANIP 상세정보대상 NetworkMap·네트워크이관 후 NIC / MAC기입서비스망기입기입국데터 SGIS 구성 참조기입이관 후 확인기입NAS/BK망기입기입국데터 SGIS 구성 참조기입이관 후 확인게이트웨이, DNS, 정적 경로 및 MTU는 VM별 상세 기록에 함께 보관합니다. 기존 물리 NIC·케이블·스위치 연결은 유지하며, 재구성한 노드의 설정과 VM 망 매핑을 기존 연결 조건에 맞춰 검증합니다.</a:t>
            </a:r>
          </a:p>
          <a:p xmlns:a="http://schemas.openxmlformats.org/drawingml/2006/main">
            <a:r>
              <a:t>이관 방식별 서비스 전환 순서방식작업 순서콜드 이관원본 VM 종료 → 데이터 복사·변환 → 대상 VM 기동 → 네트워크·업무 검증웜 이관원본 운영 중 사전 복사 → 전환 시 원본 VM 종료 → 최종 변경분 복사·변환 → 대상 VM 기동 → 네트워크·업무 검증MTV의 원본 종료 및 대상 기동 동작은 적용 버전과 계획 설정을 사전에 확인합니다. 원본 VM은 전원 종료 상태로 보관하며, 보관·원복 기준 충족 후 정리합니다.회차별 이관 관리표회차예정일망대상 VM방식검증 결과상태시험미정외부 / 내부선정 필요미정미수행계획본 이관 1차미정선정 필요선정 필요미정미수행계획추가 회차미정선정 필요선정 필요미정미수행필요 시 추가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05. 단계별 수행 계획</a:t>
            </a:r>
          </a:p>
          <a:p xmlns:a="http://schemas.openxmlformats.org/drawingml/2006/main">
            <a:r>
              <a:t>단계작업 내용진행 전 확인 / 완료 기준1. 현황·백업 확보HV·VM·네트워크·FC LUN·VMFS 데이터스토어 현황 및 설정 기록, 복구 가능한 백업 확보VM별 OS·NIC·디스크·부팅 설정 기록 및 백업, 콘솔 접근, 망별 HV#01 수용 자원 확인2. VMware VM 집약외부 VM 13식·내부 VM 26식을 각 망 HV#01로 집약VM 이동 방식 확정, 서비스 정상 확인, 나머지 HV의 VM 잔존 여부 확인3. 장비 재구성외부 HV#02 및 내부 선정 HV를 Worker1으로 구성합니다. 외부 Bastion 장비 출처와 내부 잔여 HV 용도는 확인 후 반영합니다.외부 HV 번호별 배정 확정, IP 중복 방지, 재구성 전 데이터·설정 보존4. 신규 인프라 구축재활용 서버로 외부 Master, 내부 Master·Bastion 구성Master 실제 구성·UPI 설치 자원·호환 버전 및 신규 IP 확인5. OpenShift 기반 검증클러스터·가상화 기능·네트워크 구성, EMC CSI 드라이버 설치 및 StorageClass·대상 볼륨 할당 검증Worker1 단독 자원 수용 여부, CSI 볼륨·VM 디스크 기능, 동일 EMC 원본·대상 용량과 이관 중 I/O 부하 확인6. MTV 준비·시험 이관소스·대상 연결 및 망·스토리지 매핑 구성, 주요 OS·다중 NIC·디스크 유형별 시험 이관, 보정 절차와 소요 시간 기록MTV 버전·이관 방식 확정, 연결·권한·인증서·필요 통신 확인, 시험 결과 기록7. 회차별 본 이관회차별 대상 선정 → 사전 검사 → 이관 및 원본 종료·최종 동기화 → 대상 기동 → NIC·디스크 보정 → 업무 검증동일 서비스 원본·대상의 동시 활성화 방지, 회차별 성공·실패·재작업 기록8. HV#01 전환 판단대상 서비스 검증, 원본 보관 및 복구 조건 확인원본 HV를 재구성해도 되는 시점 명시, 백업 및 데이터 복구 경로 확보9. Worker2 추가각 망 HV#01 재구성 → Worker2 편입, 기존 IP 재사용노드·네트워크·CSI 볼륨 접근 정상 확인, VM 배치·이동 검증 범위 협의10. 완료 기록최종 구성·IP·VM 이관 결과 및 잔여 작업 정리MTV 완료, OS 기동, 디스크·네트워크·업무·백업 정상 확인 및 합의된 검수 항목 충족, 결과서 갱신</a:t>
            </a:r>
          </a:p>
          <a:p xmlns:a="http://schemas.openxmlformats.org/drawingml/2006/main">
            <a:r>
              <a:t>3~5단계는 아래 UPI 절차를 적용하며, Master 상세 구성에 따라 세부 순서를 확정합니다. 작업 명령, 수행일 및 소요 시간은 상세 작업 절차서에 반영합니다.</a:t>
            </a:r>
          </a:p>
          <a:p xmlns:a="http://schemas.openxmlformats.org/drawingml/2006/main">
            <a:r>
              <a:t>폐쇄망 UPI 설치 절차단계작업 내용1. 사전 준비Bastion에 설치 도구와 CLI를 준비하고 DNS·NTP·API/Ingress 로드밸런서 및 네트워크를 구성합니다.2. 폐쇄망 미러 구성필요한 OCP·가상화·MTV·CSI 이미지를 내부 레지스트리에 반입하고 인증서·인증·미러 설정을 준비합니다.3. 설치 설정 생성클러스터 구성과 미러 정보를 반영하여 설치 설정 및 Bootstrap·Master·Worker용 Ignition 파일을 생성합니다.4. Bootstrap 및 노드 설치별도 Bootstrap 서버를 구동하고 대상 노드에 RHCOS와 해당 Ignition을 적용합니다. 각 망 HV#01은 MTV 원본으로 유지하며 최초 설치 대상에서 제외합니다.5. Bootstrap 완료 확인Bootstrap 완료를 확인한 뒤 로드밸런서에서 Bootstrap 대상을 제거하고 임시 서버를 종료·철거합니다.6. 클러스터 완료 검증노드·CSR·ClusterOperator 상태와 API·콘솔·미러 접근을 확인합니다. 이후 가상화·EMC CSI·MTV를 구성합니다.7. MTV 이후 Worker2 편입원본 보관·원복 조건을 확인한 뒤 HV#01에 신규 노드용 설정을 적용하고 Worker2로 편입합니다.설치 방식은 UPI로 확정합니다. Master 실제 노드 수·HA 구성, 초기 Worker1 단독 운영의 지원 조건 및 Bootstrap 자원 배치는 구축 전 확인합니다. OS 설치 디스크와 EMC의 기존 VMFS LUN을 구분하여 원본 데이터를 보존합니다.VM별 사전 점검 및 시험 이관대상 VM의 가상 하드웨어 및 게스트 설정 변경에 대비하여 아래 항목을 조사합니다. 해당 항목의 사용 여부를 먼저 확인하고, 적용할 MTV·OpenShift Virtualization 버전의 지원 조건에 따라 처리합니다. 확인 결과는 미확인 / 해당 없음 / 적합 / 조치 필요로 구분하여 기록합니다.점검 항목사전 조사·준비시험 이관 및 조치 기준OS·커널 및 지원 조합OS·커널·아키텍처와 적용 MTV·가상화 버전의 지원 여부를 확인합니다.주요 OS 유형별 대표 VM을 선정하여 변환·기동 결과를 확인합니다.부팅 방식·VirtIO 드라이버BIOS/UEFI, 부팅 디스크와 드라이버 상태를 기록하고 콘솔·복구 접근을 확보합니다.부팅 및 디스크·NIC 인식 결과를 확인하고 OS별 보정 절차를 작성합니다.디스크·마운트디스크별 용량·용도, Linux fstab·UUID·LVM, Windows 드라이브 문자를 기록합니다.데이터 디스크 누락, 마운트 및 애플리케이션 경로 변경 여부를 확인합니다.NIC·IP·라우팅NIC별 이름·MAC·Port Group·VLAN·IP/Prefix, 게이트웨이·DNS·정적 경로·MTU를 기록하고 설정을 백업합니다.NetworkMap과 실제 대상 NIC를 대조합니다. 이름 또는 순서만으로 서비스망·NAS/BK망을 판단하지 않습니다.암호화·보안 부팅Secure Boot·vTPM·BitLocker·LUKS 사용 여부와 지원 절차를 확인합니다. 복구 키는 승인된 보관 위치에 확보합니다.해당 기능을 사용하는 VM은 적용 버전의 지원 절차를 검증합니다. 보고서에는 비밀 키를 기재하지 않습니다.게스트 도구·에이전트VMware Tools, QEMU Guest Agent, 보안·백업·모니터링 에이전트 현황을 기록합니다.변환 후 도구 처리 결과와 대상 에이전트 설치·동작을 확인합니다. VMware Tools 사전 제거를 일괄 지시하지 않습니다.스냅샷·웜 이관 조건기존 스냅샷, CBT 상태 및 필요한 여유 공간을 확인합니다. Windows 웜 이관은 VSS 등 사전 조건을 확인합니다.사전 복사와 최종 변경분 반영이 정상 완료되는지 확인합니다.라이선스·시간·서비스하드웨어 정보 종속 라이선스, DNS·시간 동기화, 서비스 자동 기동·배치와 외부 연계를 조사합니다.재인증·재등록 필요 여부와 실제 업무 동작을 확인합니다.Worker1·EMC 수용 능력망별 Worker1 단독 운영 기간의 CPU·메모리와 원본·대상 스토리지 동시 사용량을 확인합니다.이관 복사와 운영 I/O가 겹치는 조건에서 응답시간·디스크 지연을 확인하고 회차·동시 이관 수를 결정합니다.시험 대상은 주요 OS, 다중 NIC, 다중 디스크 및 보안·암호화 등 특수 구성을 포함하여 선정합니다. 보정 소요 시간과 허용 기준은 시험 결과를 근거로 회차별 작업계획에 반영합니다.</a:t>
            </a:r>
          </a:p>
          <a:p xmlns:a="http://schemas.openxmlformats.org/drawingml/2006/main">
            <a:r>
              <a:t>VM 인터페이스 변경 대응 절차순서수행 내용1. 사전 기록·백업VM별 NIC 매핑표와 IP·경로 정보를 확보하고 게스트 네트워크 설정을 백업합니다.2. 이관·전환원본 VM 종료와 최종 데이터 반영 이후 대상 VM을 운영망에서 기동합니다. 동일 IP의 원본·대상이 동시에 활성화되지 않도록 합니다.3. 콘솔 확인대상 VM 콘솔에서 NIC 이름·MAC·IP 적용 상태를 확인하고 NetworkMap 및 사전 기록과 대조합니다.4. 설정 보정필요한 경우 이름·MAC에 종속된 설정을 올바른 대상 NIC에 연결합니다. 기존 IP를 유지하는 계획에 따라 IP·게이트웨이·경로를 보정합니다.5. 검증·판단서비스·NAS/BK망별 통신과 업무를 확인합니다. 보정이 지연되는 경우 합의한 원복 기준에 따라 조치합니다.VM별 NIC 매핑표 양식VM명용도기존 NIC / MAC기존 Port Group / VLANIP 상세정보대상 NetworkMap·네트워크이관 후 NIC / MAC기입서비스망기입기입국데터 SGIS 구성 참조기입이관 후 확인기입NAS/BK망기입기입국데터 SGIS 구성 참조기입이관 후 확인게이트웨이, DNS, 정적 경로 및 MTU는 VM별 상세 기록에 함께 보관합니다. 기존 물리 NIC·케이블·스위치 연결은 유지하며, 재구성한 노드의 설정과 VM 망 매핑을 기존 연결 조건에 맞춰 검증합니다.</a:t>
            </a:r>
          </a:p>
          <a:p xmlns:a="http://schemas.openxmlformats.org/drawingml/2006/main">
            <a:r>
              <a:t>이관 방식별 서비스 전환 순서방식작업 순서콜드 이관원본 VM 종료 → 데이터 복사·변환 → 대상 VM 기동 → 네트워크·업무 검증웜 이관원본 운영 중 사전 복사 → 전환 시 원본 VM 종료 → 최종 변경분 복사·변환 → 대상 VM 기동 → 네트워크·업무 검증MTV의 원본 종료 및 대상 기동 동작은 적용 버전과 계획 설정을 사전에 확인합니다. 원본 VM은 전원 종료 상태로 보관하며, 보관·원복 기준 충족 후 정리합니다.회차별 이관 관리표회차예정일망대상 VM방식검증 결과상태시험미정외부 / 내부선정 필요미정미수행계획본 이관 1차미정선정 필요선정 필요미정미수행계획추가 회차미정선정 필요선정 필요미정미수행필요 시 추가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05. 단계별 수행 계획</a:t>
            </a:r>
          </a:p>
          <a:p xmlns:a="http://schemas.openxmlformats.org/drawingml/2006/main">
            <a:r>
              <a:t>단계작업 내용진행 전 확인 / 완료 기준1. 현황·백업 확보HV·VM·네트워크·FC LUN·VMFS 데이터스토어 현황 및 설정 기록, 복구 가능한 백업 확보VM별 OS·NIC·디스크·부팅 설정 기록 및 백업, 콘솔 접근, 망별 HV#01 수용 자원 확인2. VMware VM 집약외부 VM 13식·내부 VM 26식을 각 망 HV#01로 집약VM 이동 방식 확정, 서비스 정상 확인, 나머지 HV의 VM 잔존 여부 확인3. 장비 재구성외부 HV#02 및 내부 선정 HV를 Worker1으로 구성합니다. 외부 Bastion 장비 출처와 내부 잔여 HV 용도는 확인 후 반영합니다.외부 HV 번호별 배정 확정, IP 중복 방지, 재구성 전 데이터·설정 보존4. 신규 인프라 구축재활용 서버로 외부 Master, 내부 Master·Bastion 구성Master 실제 구성·UPI 설치 자원·호환 버전 및 신규 IP 확인5. OpenShift 기반 검증클러스터·가상화 기능·네트워크 구성, EMC CSI 드라이버 설치 및 StorageClass·대상 볼륨 할당 검증Worker1 단독 자원 수용 여부, CSI 볼륨·VM 디스크 기능, 동일 EMC 원본·대상 용량과 이관 중 I/O 부하 확인6. MTV 준비·시험 이관소스·대상 연결 및 망·스토리지 매핑 구성, 주요 OS·다중 NIC·디스크 유형별 시험 이관, 보정 절차와 소요 시간 기록MTV 버전·이관 방식 확정, 연결·권한·인증서·필요 통신 확인, 시험 결과 기록7. 회차별 본 이관회차별 대상 선정 → 사전 검사 → 이관 및 원본 종료·최종 동기화 → 대상 기동 → NIC·디스크 보정 → 업무 검증동일 서비스 원본·대상의 동시 활성화 방지, 회차별 성공·실패·재작업 기록8. HV#01 전환 판단대상 서비스 검증, 원본 보관 및 복구 조건 확인원본 HV를 재구성해도 되는 시점 명시, 백업 및 데이터 복구 경로 확보9. Worker2 추가각 망 HV#01 재구성 → Worker2 편입, 기존 IP 재사용노드·네트워크·CSI 볼륨 접근 정상 확인, VM 배치·이동 검증 범위 협의10. 완료 기록최종 구성·IP·VM 이관 결과 및 잔여 작업 정리MTV 완료, OS 기동, 디스크·네트워크·업무·백업 정상 확인 및 합의된 검수 항목 충족, 결과서 갱신</a:t>
            </a:r>
          </a:p>
          <a:p xmlns:a="http://schemas.openxmlformats.org/drawingml/2006/main">
            <a:r>
              <a:t>3~5단계는 아래 UPI 절차를 적용하며, Master 상세 구성에 따라 세부 순서를 확정합니다. 작업 명령, 수행일 및 소요 시간은 상세 작업 절차서에 반영합니다.</a:t>
            </a:r>
          </a:p>
          <a:p xmlns:a="http://schemas.openxmlformats.org/drawingml/2006/main">
            <a:r>
              <a:t>폐쇄망 UPI 설치 절차단계작업 내용1. 사전 준비Bastion에 설치 도구와 CLI를 준비하고 DNS·NTP·API/Ingress 로드밸런서 및 네트워크를 구성합니다.2. 폐쇄망 미러 구성필요한 OCP·가상화·MTV·CSI 이미지를 내부 레지스트리에 반입하고 인증서·인증·미러 설정을 준비합니다.3. 설치 설정 생성클러스터 구성과 미러 정보를 반영하여 설치 설정 및 Bootstrap·Master·Worker용 Ignition 파일을 생성합니다.4. Bootstrap 및 노드 설치별도 Bootstrap 서버를 구동하고 대상 노드에 RHCOS와 해당 Ignition을 적용합니다. 각 망 HV#01은 MTV 원본으로 유지하며 최초 설치 대상에서 제외합니다.5. Bootstrap 완료 확인Bootstrap 완료를 확인한 뒤 로드밸런서에서 Bootstrap 대상을 제거하고 임시 서버를 종료·철거합니다.6. 클러스터 완료 검증노드·CSR·ClusterOperator 상태와 API·콘솔·미러 접근을 확인합니다. 이후 가상화·EMC CSI·MTV를 구성합니다.7. MTV 이후 Worker2 편입원본 보관·원복 조건을 확인한 뒤 HV#01에 신규 노드용 설정을 적용하고 Worker2로 편입합니다.설치 방식은 UPI로 확정합니다. Master 실제 노드 수·HA 구성, 초기 Worker1 단독 운영의 지원 조건 및 Bootstrap 자원 배치는 구축 전 확인합니다. OS 설치 디스크와 EMC의 기존 VMFS LUN을 구분하여 원본 데이터를 보존합니다.VM별 사전 점검 및 시험 이관대상 VM의 가상 하드웨어 및 게스트 설정 변경에 대비하여 아래 항목을 조사합니다. 해당 항목의 사용 여부를 먼저 확인하고, 적용할 MTV·OpenShift Virtualization 버전의 지원 조건에 따라 처리합니다. 확인 결과는 미확인 / 해당 없음 / 적합 / 조치 필요로 구분하여 기록합니다.점검 항목사전 조사·준비시험 이관 및 조치 기준OS·커널 및 지원 조합OS·커널·아키텍처와 적용 MTV·가상화 버전의 지원 여부를 확인합니다.주요 OS 유형별 대표 VM을 선정하여 변환·기동 결과를 확인합니다.부팅 방식·VirtIO 드라이버BIOS/UEFI, 부팅 디스크와 드라이버 상태를 기록하고 콘솔·복구 접근을 확보합니다.부팅 및 디스크·NIC 인식 결과를 확인하고 OS별 보정 절차를 작성합니다.디스크·마운트디스크별 용량·용도, Linux fstab·UUID·LVM, Windows 드라이브 문자를 기록합니다.데이터 디스크 누락, 마운트 및 애플리케이션 경로 변경 여부를 확인합니다.NIC·IP·라우팅NIC별 이름·MAC·Port Group·VLAN·IP/Prefix, 게이트웨이·DNS·정적 경로·MTU를 기록하고 설정을 백업합니다.NetworkMap과 실제 대상 NIC를 대조합니다. 이름 또는 순서만으로 서비스망·NAS/BK망을 판단하지 않습니다.암호화·보안 부팅Secure Boot·vTPM·BitLocker·LUKS 사용 여부와 지원 절차를 확인합니다. 복구 키는 승인된 보관 위치에 확보합니다.해당 기능을 사용하는 VM은 적용 버전의 지원 절차를 검증합니다. 보고서에는 비밀 키를 기재하지 않습니다.게스트 도구·에이전트VMware Tools, QEMU Guest Agent, 보안·백업·모니터링 에이전트 현황을 기록합니다.변환 후 도구 처리 결과와 대상 에이전트 설치·동작을 확인합니다. VMware Tools 사전 제거를 일괄 지시하지 않습니다.스냅샷·웜 이관 조건기존 스냅샷, CBT 상태 및 필요한 여유 공간을 확인합니다. Windows 웜 이관은 VSS 등 사전 조건을 확인합니다.사전 복사와 최종 변경분 반영이 정상 완료되는지 확인합니다.라이선스·시간·서비스하드웨어 정보 종속 라이선스, DNS·시간 동기화, 서비스 자동 기동·배치와 외부 연계를 조사합니다.재인증·재등록 필요 여부와 실제 업무 동작을 확인합니다.Worker1·EMC 수용 능력망별 Worker1 단독 운영 기간의 CPU·메모리와 원본·대상 스토리지 동시 사용량을 확인합니다.이관 복사와 운영 I/O가 겹치는 조건에서 응답시간·디스크 지연을 확인하고 회차·동시 이관 수를 결정합니다.시험 대상은 주요 OS, 다중 NIC, 다중 디스크 및 보안·암호화 등 특수 구성을 포함하여 선정합니다. 보정 소요 시간과 허용 기준은 시험 결과를 근거로 회차별 작업계획에 반영합니다.</a:t>
            </a:r>
          </a:p>
          <a:p xmlns:a="http://schemas.openxmlformats.org/drawingml/2006/main">
            <a:r>
              <a:t>VM 인터페이스 변경 대응 절차순서수행 내용1. 사전 기록·백업VM별 NIC 매핑표와 IP·경로 정보를 확보하고 게스트 네트워크 설정을 백업합니다.2. 이관·전환원본 VM 종료와 최종 데이터 반영 이후 대상 VM을 운영망에서 기동합니다. 동일 IP의 원본·대상이 동시에 활성화되지 않도록 합니다.3. 콘솔 확인대상 VM 콘솔에서 NIC 이름·MAC·IP 적용 상태를 확인하고 NetworkMap 및 사전 기록과 대조합니다.4. 설정 보정필요한 경우 이름·MAC에 종속된 설정을 올바른 대상 NIC에 연결합니다. 기존 IP를 유지하는 계획에 따라 IP·게이트웨이·경로를 보정합니다.5. 검증·판단서비스·NAS/BK망별 통신과 업무를 확인합니다. 보정이 지연되는 경우 합의한 원복 기준에 따라 조치합니다.VM별 NIC 매핑표 양식VM명용도기존 NIC / MAC기존 Port Group / VLANIP 상세정보대상 NetworkMap·네트워크이관 후 NIC / MAC기입서비스망기입기입국데터 SGIS 구성 참조기입이관 후 확인기입NAS/BK망기입기입국데터 SGIS 구성 참조기입이관 후 확인게이트웨이, DNS, 정적 경로 및 MTU는 VM별 상세 기록에 함께 보관합니다. 기존 물리 NIC·케이블·스위치 연결은 유지하며, 재구성한 노드의 설정과 VM 망 매핑을 기존 연결 조건에 맞춰 검증합니다.</a:t>
            </a:r>
          </a:p>
          <a:p xmlns:a="http://schemas.openxmlformats.org/drawingml/2006/main">
            <a:r>
              <a:t>이관 방식별 서비스 전환 순서방식작업 순서콜드 이관원본 VM 종료 → 데이터 복사·변환 → 대상 VM 기동 → 네트워크·업무 검증웜 이관원본 운영 중 사전 복사 → 전환 시 원본 VM 종료 → 최종 변경분 복사·변환 → 대상 VM 기동 → 네트워크·업무 검증MTV의 원본 종료 및 대상 기동 동작은 적용 버전과 계획 설정을 사전에 확인합니다. 원본 VM은 전원 종료 상태로 보관하며, 보관·원복 기준 충족 후 정리합니다.회차별 이관 관리표회차예정일망대상 VM방식검증 결과상태시험미정외부 / 내부선정 필요미정미수행계획본 이관 1차미정선정 필요선정 필요미정미수행계획추가 회차미정선정 필요선정 필요미정미수행필요 시 추가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05. 단계별 수행 계획</a:t>
            </a:r>
          </a:p>
          <a:p xmlns:a="http://schemas.openxmlformats.org/drawingml/2006/main">
            <a:r>
              <a:t>단계작업 내용진행 전 확인 / 완료 기준1. 현황·백업 확보HV·VM·네트워크·FC LUN·VMFS 데이터스토어 현황 및 설정 기록, 복구 가능한 백업 확보VM별 OS·NIC·디스크·부팅 설정 기록 및 백업, 콘솔 접근, 망별 HV#01 수용 자원 확인2. VMware VM 집약외부 VM 13식·내부 VM 26식을 각 망 HV#01로 집약VM 이동 방식 확정, 서비스 정상 확인, 나머지 HV의 VM 잔존 여부 확인3. 장비 재구성외부 HV#02 및 내부 선정 HV를 Worker1으로 구성합니다. 외부 Bastion 장비 출처와 내부 잔여 HV 용도는 확인 후 반영합니다.외부 HV 번호별 배정 확정, IP 중복 방지, 재구성 전 데이터·설정 보존4. 신규 인프라 구축재활용 서버로 외부 Master, 내부 Master·Bastion 구성Master 실제 구성·UPI 설치 자원·호환 버전 및 신규 IP 확인5. OpenShift 기반 검증클러스터·가상화 기능·네트워크 구성, EMC CSI 드라이버 설치 및 StorageClass·대상 볼륨 할당 검증Worker1 단독 자원 수용 여부, CSI 볼륨·VM 디스크 기능, 동일 EMC 원본·대상 용량과 이관 중 I/O 부하 확인6. MTV 준비·시험 이관소스·대상 연결 및 망·스토리지 매핑 구성, 주요 OS·다중 NIC·디스크 유형별 시험 이관, 보정 절차와 소요 시간 기록MTV 버전·이관 방식 확정, 연결·권한·인증서·필요 통신 확인, 시험 결과 기록7. 회차별 본 이관회차별 대상 선정 → 사전 검사 → 이관 및 원본 종료·최종 동기화 → 대상 기동 → NIC·디스크 보정 → 업무 검증동일 서비스 원본·대상의 동시 활성화 방지, 회차별 성공·실패·재작업 기록8. HV#01 전환 판단대상 서비스 검증, 원본 보관 및 복구 조건 확인원본 HV를 재구성해도 되는 시점 명시, 백업 및 데이터 복구 경로 확보9. Worker2 추가각 망 HV#01 재구성 → Worker2 편입, 기존 IP 재사용노드·네트워크·CSI 볼륨 접근 정상 확인, VM 배치·이동 검증 범위 협의10. 완료 기록최종 구성·IP·VM 이관 결과 및 잔여 작업 정리MTV 완료, OS 기동, 디스크·네트워크·업무·백업 정상 확인 및 합의된 검수 항목 충족, 결과서 갱신</a:t>
            </a:r>
          </a:p>
          <a:p xmlns:a="http://schemas.openxmlformats.org/drawingml/2006/main">
            <a:r>
              <a:t>3~5단계는 아래 UPI 절차를 적용하며, Master 상세 구성에 따라 세부 순서를 확정합니다. 작업 명령, 수행일 및 소요 시간은 상세 작업 절차서에 반영합니다.</a:t>
            </a:r>
          </a:p>
          <a:p xmlns:a="http://schemas.openxmlformats.org/drawingml/2006/main">
            <a:r>
              <a:t>폐쇄망 UPI 설치 절차단계작업 내용1. 사전 준비Bastion에 설치 도구와 CLI를 준비하고 DNS·NTP·API/Ingress 로드밸런서 및 네트워크를 구성합니다.2. 폐쇄망 미러 구성필요한 OCP·가상화·MTV·CSI 이미지를 내부 레지스트리에 반입하고 인증서·인증·미러 설정을 준비합니다.3. 설치 설정 생성클러스터 구성과 미러 정보를 반영하여 설치 설정 및 Bootstrap·Master·Worker용 Ignition 파일을 생성합니다.4. Bootstrap 및 노드 설치별도 Bootstrap 서버를 구동하고 대상 노드에 RHCOS와 해당 Ignition을 적용합니다. 각 망 HV#01은 MTV 원본으로 유지하며 최초 설치 대상에서 제외합니다.5. Bootstrap 완료 확인Bootstrap 완료를 확인한 뒤 로드밸런서에서 Bootstrap 대상을 제거하고 임시 서버를 종료·철거합니다.6. 클러스터 완료 검증노드·CSR·ClusterOperator 상태와 API·콘솔·미러 접근을 확인합니다. 이후 가상화·EMC CSI·MTV를 구성합니다.7. MTV 이후 Worker2 편입원본 보관·원복 조건을 확인한 뒤 HV#01에 신규 노드용 설정을 적용하고 Worker2로 편입합니다.설치 방식은 UPI로 확정합니다. Master 실제 노드 수·HA 구성, 초기 Worker1 단독 운영의 지원 조건 및 Bootstrap 자원 배치는 구축 전 확인합니다. OS 설치 디스크와 EMC의 기존 VMFS LUN을 구분하여 원본 데이터를 보존합니다.VM별 사전 점검 및 시험 이관대상 VM의 가상 하드웨어 및 게스트 설정 변경에 대비하여 아래 항목을 조사합니다. 해당 항목의 사용 여부를 먼저 확인하고, 적용할 MTV·OpenShift Virtualization 버전의 지원 조건에 따라 처리합니다. 확인 결과는 미확인 / 해당 없음 / 적합 / 조치 필요로 구분하여 기록합니다.점검 항목사전 조사·준비시험 이관 및 조치 기준OS·커널 및 지원 조합OS·커널·아키텍처와 적용 MTV·가상화 버전의 지원 여부를 확인합니다.주요 OS 유형별 대표 VM을 선정하여 변환·기동 결과를 확인합니다.부팅 방식·VirtIO 드라이버BIOS/UEFI, 부팅 디스크와 드라이버 상태를 기록하고 콘솔·복구 접근을 확보합니다.부팅 및 디스크·NIC 인식 결과를 확인하고 OS별 보정 절차를 작성합니다.디스크·마운트디스크별 용량·용도, Linux fstab·UUID·LVM, Windows 드라이브 문자를 기록합니다.데이터 디스크 누락, 마운트 및 애플리케이션 경로 변경 여부를 확인합니다.NIC·IP·라우팅NIC별 이름·MAC·Port Group·VLAN·IP/Prefix, 게이트웨이·DNS·정적 경로·MTU를 기록하고 설정을 백업합니다.NetworkMap과 실제 대상 NIC를 대조합니다. 이름 또는 순서만으로 서비스망·NAS/BK망을 판단하지 않습니다.암호화·보안 부팅Secure Boot·vTPM·BitLocker·LUKS 사용 여부와 지원 절차를 확인합니다. 복구 키는 승인된 보관 위치에 확보합니다.해당 기능을 사용하는 VM은 적용 버전의 지원 절차를 검증합니다. 보고서에는 비밀 키를 기재하지 않습니다.게스트 도구·에이전트VMware Tools, QEMU Guest Agent, 보안·백업·모니터링 에이전트 현황을 기록합니다.변환 후 도구 처리 결과와 대상 에이전트 설치·동작을 확인합니다. VMware Tools 사전 제거를 일괄 지시하지 않습니다.스냅샷·웜 이관 조건기존 스냅샷, CBT 상태 및 필요한 여유 공간을 확인합니다. Windows 웜 이관은 VSS 등 사전 조건을 확인합니다.사전 복사와 최종 변경분 반영이 정상 완료되는지 확인합니다.라이선스·시간·서비스하드웨어 정보 종속 라이선스, DNS·시간 동기화, 서비스 자동 기동·배치와 외부 연계를 조사합니다.재인증·재등록 필요 여부와 실제 업무 동작을 확인합니다.Worker1·EMC 수용 능력망별 Worker1 단독 운영 기간의 CPU·메모리와 원본·대상 스토리지 동시 사용량을 확인합니다.이관 복사와 운영 I/O가 겹치는 조건에서 응답시간·디스크 지연을 확인하고 회차·동시 이관 수를 결정합니다.시험 대상은 주요 OS, 다중 NIC, 다중 디스크 및 보안·암호화 등 특수 구성을 포함하여 선정합니다. 보정 소요 시간과 허용 기준은 시험 결과를 근거로 회차별 작업계획에 반영합니다.</a:t>
            </a:r>
          </a:p>
          <a:p xmlns:a="http://schemas.openxmlformats.org/drawingml/2006/main">
            <a:r>
              <a:t>VM 인터페이스 변경 대응 절차순서수행 내용1. 사전 기록·백업VM별 NIC 매핑표와 IP·경로 정보를 확보하고 게스트 네트워크 설정을 백업합니다.2. 이관·전환원본 VM 종료와 최종 데이터 반영 이후 대상 VM을 운영망에서 기동합니다. 동일 IP의 원본·대상이 동시에 활성화되지 않도록 합니다.3. 콘솔 확인대상 VM 콘솔에서 NIC 이름·MAC·IP 적용 상태를 확인하고 NetworkMap 및 사전 기록과 대조합니다.4. 설정 보정필요한 경우 이름·MAC에 종속된 설정을 올바른 대상 NIC에 연결합니다. 기존 IP를 유지하는 계획에 따라 IP·게이트웨이·경로를 보정합니다.5. 검증·판단서비스·NAS/BK망별 통신과 업무를 확인합니다. 보정이 지연되는 경우 합의한 원복 기준에 따라 조치합니다.VM별 NIC 매핑표 양식VM명용도기존 NIC / MAC기존 Port Group / VLANIP 상세정보대상 NetworkMap·네트워크이관 후 NIC / MAC기입서비스망기입기입국데터 SGIS 구성 참조기입이관 후 확인기입NAS/BK망기입기입국데터 SGIS 구성 참조기입이관 후 확인게이트웨이, DNS, 정적 경로 및 MTU는 VM별 상세 기록에 함께 보관합니다. 기존 물리 NIC·케이블·스위치 연결은 유지하며, 재구성한 노드의 설정과 VM 망 매핑을 기존 연결 조건에 맞춰 검증합니다.</a:t>
            </a:r>
          </a:p>
          <a:p xmlns:a="http://schemas.openxmlformats.org/drawingml/2006/main">
            <a:r>
              <a:t>이관 방식별 서비스 전환 순서방식작업 순서콜드 이관원본 VM 종료 → 데이터 복사·변환 → 대상 VM 기동 → 네트워크·업무 검증웜 이관원본 운영 중 사전 복사 → 전환 시 원본 VM 종료 → 최종 변경분 복사·변환 → 대상 VM 기동 → 네트워크·업무 검증MTV의 원본 종료 및 대상 기동 동작은 적용 버전과 계획 설정을 사전에 확인합니다. 원본 VM은 전원 종료 상태로 보관하며, 보관·원복 기준 충족 후 정리합니다.회차별 이관 관리표회차예정일망대상 VM방식검증 결과상태시험미정외부 / 내부선정 필요미정미수행계획본 이관 1차미정선정 필요선정 필요미정미수행계획추가 회차미정선정 필요선정 필요미정미수행필요 시 추가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05. 단계별 수행 계획</a:t>
            </a:r>
          </a:p>
          <a:p xmlns:a="http://schemas.openxmlformats.org/drawingml/2006/main">
            <a:r>
              <a:t>단계작업 내용진행 전 확인 / 완료 기준1. 현황·백업 확보HV·VM·네트워크·FC LUN·VMFS 데이터스토어 현황 및 설정 기록, 복구 가능한 백업 확보VM별 OS·NIC·디스크·부팅 설정 기록 및 백업, 콘솔 접근, 망별 HV#01 수용 자원 확인2. VMware VM 집약외부 VM 13식·내부 VM 26식을 각 망 HV#01로 집약VM 이동 방식 확정, 서비스 정상 확인, 나머지 HV의 VM 잔존 여부 확인3. 장비 재구성외부 HV#02 및 내부 선정 HV를 Worker1으로 구성합니다. 외부 Bastion 장비 출처와 내부 잔여 HV 용도는 확인 후 반영합니다.외부 HV 번호별 배정 확정, IP 중복 방지, 재구성 전 데이터·설정 보존4. 신규 인프라 구축재활용 서버로 외부 Master, 내부 Master·Bastion 구성Master 실제 구성·UPI 설치 자원·호환 버전 및 신규 IP 확인5. OpenShift 기반 검증클러스터·가상화 기능·네트워크 구성, EMC CSI 드라이버 설치 및 StorageClass·대상 볼륨 할당 검증Worker1 단독 자원 수용 여부, CSI 볼륨·VM 디스크 기능, 동일 EMC 원본·대상 용량과 이관 중 I/O 부하 확인6. MTV 준비·시험 이관소스·대상 연결 및 망·스토리지 매핑 구성, 주요 OS·다중 NIC·디스크 유형별 시험 이관, 보정 절차와 소요 시간 기록MTV 버전·이관 방식 확정, 연결·권한·인증서·필요 통신 확인, 시험 결과 기록7. 회차별 본 이관회차별 대상 선정 → 사전 검사 → 이관 및 원본 종료·최종 동기화 → 대상 기동 → NIC·디스크 보정 → 업무 검증동일 서비스 원본·대상의 동시 활성화 방지, 회차별 성공·실패·재작업 기록8. HV#01 전환 판단대상 서비스 검증, 원본 보관 및 복구 조건 확인원본 HV를 재구성해도 되는 시점 명시, 백업 및 데이터 복구 경로 확보9. Worker2 추가각 망 HV#01 재구성 → Worker2 편입, 기존 IP 재사용노드·네트워크·CSI 볼륨 접근 정상 확인, VM 배치·이동 검증 범위 협의10. 완료 기록최종 구성·IP·VM 이관 결과 및 잔여 작업 정리MTV 완료, OS 기동, 디스크·네트워크·업무·백업 정상 확인 및 합의된 검수 항목 충족, 결과서 갱신</a:t>
            </a:r>
          </a:p>
          <a:p xmlns:a="http://schemas.openxmlformats.org/drawingml/2006/main">
            <a:r>
              <a:t>3~5단계는 아래 UPI 절차를 적용하며, Master 상세 구성에 따라 세부 순서를 확정합니다. 작업 명령, 수행일 및 소요 시간은 상세 작업 절차서에 반영합니다.</a:t>
            </a:r>
          </a:p>
          <a:p xmlns:a="http://schemas.openxmlformats.org/drawingml/2006/main">
            <a:r>
              <a:t>폐쇄망 UPI 설치 절차단계작업 내용1. 사전 준비Bastion에 설치 도구와 CLI를 준비하고 DNS·NTP·API/Ingress 로드밸런서 및 네트워크를 구성합니다.2. 폐쇄망 미러 구성필요한 OCP·가상화·MTV·CSI 이미지를 내부 레지스트리에 반입하고 인증서·인증·미러 설정을 준비합니다.3. 설치 설정 생성클러스터 구성과 미러 정보를 반영하여 설치 설정 및 Bootstrap·Master·Worker용 Ignition 파일을 생성합니다.4. Bootstrap 및 노드 설치별도 Bootstrap 서버를 구동하고 대상 노드에 RHCOS와 해당 Ignition을 적용합니다. 각 망 HV#01은 MTV 원본으로 유지하며 최초 설치 대상에서 제외합니다.5. Bootstrap 완료 확인Bootstrap 완료를 확인한 뒤 로드밸런서에서 Bootstrap 대상을 제거하고 임시 서버를 종료·철거합니다.6. 클러스터 완료 검증노드·CSR·ClusterOperator 상태와 API·콘솔·미러 접근을 확인합니다. 이후 가상화·EMC CSI·MTV를 구성합니다.7. MTV 이후 Worker2 편입원본 보관·원복 조건을 확인한 뒤 HV#01에 신규 노드용 설정을 적용하고 Worker2로 편입합니다.설치 방식은 UPI로 확정합니다. Master 실제 노드 수·HA 구성, 초기 Worker1 단독 운영의 지원 조건 및 Bootstrap 자원 배치는 구축 전 확인합니다. OS 설치 디스크와 EMC의 기존 VMFS LUN을 구분하여 원본 데이터를 보존합니다.VM별 사전 점검 및 시험 이관대상 VM의 가상 하드웨어 및 게스트 설정 변경에 대비하여 아래 항목을 조사합니다. 해당 항목의 사용 여부를 먼저 확인하고, 적용할 MTV·OpenShift Virtualization 버전의 지원 조건에 따라 처리합니다. 확인 결과는 미확인 / 해당 없음 / 적합 / 조치 필요로 구분하여 기록합니다.점검 항목사전 조사·준비시험 이관 및 조치 기준OS·커널 및 지원 조합OS·커널·아키텍처와 적용 MTV·가상화 버전의 지원 여부를 확인합니다.주요 OS 유형별 대표 VM을 선정하여 변환·기동 결과를 확인합니다.부팅 방식·VirtIO 드라이버BIOS/UEFI, 부팅 디스크와 드라이버 상태를 기록하고 콘솔·복구 접근을 확보합니다.부팅 및 디스크·NIC 인식 결과를 확인하고 OS별 보정 절차를 작성합니다.디스크·마운트디스크별 용량·용도, Linux fstab·UUID·LVM, Windows 드라이브 문자를 기록합니다.데이터 디스크 누락, 마운트 및 애플리케이션 경로 변경 여부를 확인합니다.NIC·IP·라우팅NIC별 이름·MAC·Port Group·VLAN·IP/Prefix, 게이트웨이·DNS·정적 경로·MTU를 기록하고 설정을 백업합니다.NetworkMap과 실제 대상 NIC를 대조합니다. 이름 또는 순서만으로 서비스망·NAS/BK망을 판단하지 않습니다.암호화·보안 부팅Secure Boot·vTPM·BitLocker·LUKS 사용 여부와 지원 절차를 확인합니다. 복구 키는 승인된 보관 위치에 확보합니다.해당 기능을 사용하는 VM은 적용 버전의 지원 절차를 검증합니다. 보고서에는 비밀 키를 기재하지 않습니다.게스트 도구·에이전트VMware Tools, QEMU Guest Agent, 보안·백업·모니터링 에이전트 현황을 기록합니다.변환 후 도구 처리 결과와 대상 에이전트 설치·동작을 확인합니다. VMware Tools 사전 제거를 일괄 지시하지 않습니다.스냅샷·웜 이관 조건기존 스냅샷, CBT 상태 및 필요한 여유 공간을 확인합니다. Windows 웜 이관은 VSS 등 사전 조건을 확인합니다.사전 복사와 최종 변경분 반영이 정상 완료되는지 확인합니다.라이선스·시간·서비스하드웨어 정보 종속 라이선스, DNS·시간 동기화, 서비스 자동 기동·배치와 외부 연계를 조사합니다.재인증·재등록 필요 여부와 실제 업무 동작을 확인합니다.Worker1·EMC 수용 능력망별 Worker1 단독 운영 기간의 CPU·메모리와 원본·대상 스토리지 동시 사용량을 확인합니다.이관 복사와 운영 I/O가 겹치는 조건에서 응답시간·디스크 지연을 확인하고 회차·동시 이관 수를 결정합니다.시험 대상은 주요 OS, 다중 NIC, 다중 디스크 및 보안·암호화 등 특수 구성을 포함하여 선정합니다. 보정 소요 시간과 허용 기준은 시험 결과를 근거로 회차별 작업계획에 반영합니다.</a:t>
            </a:r>
          </a:p>
          <a:p xmlns:a="http://schemas.openxmlformats.org/drawingml/2006/main">
            <a:r>
              <a:t>VM 인터페이스 변경 대응 절차순서수행 내용1. 사전 기록·백업VM별 NIC 매핑표와 IP·경로 정보를 확보하고 게스트 네트워크 설정을 백업합니다.2. 이관·전환원본 VM 종료와 최종 데이터 반영 이후 대상 VM을 운영망에서 기동합니다. 동일 IP의 원본·대상이 동시에 활성화되지 않도록 합니다.3. 콘솔 확인대상 VM 콘솔에서 NIC 이름·MAC·IP 적용 상태를 확인하고 NetworkMap 및 사전 기록과 대조합니다.4. 설정 보정필요한 경우 이름·MAC에 종속된 설정을 올바른 대상 NIC에 연결합니다. 기존 IP를 유지하는 계획에 따라 IP·게이트웨이·경로를 보정합니다.5. 검증·판단서비스·NAS/BK망별 통신과 업무를 확인합니다. 보정이 지연되는 경우 합의한 원복 기준에 따라 조치합니다.VM별 NIC 매핑표 양식VM명용도기존 NIC / MAC기존 Port Group / VLANIP 상세정보대상 NetworkMap·네트워크이관 후 NIC / MAC기입서비스망기입기입국데터 SGIS 구성 참조기입이관 후 확인기입NAS/BK망기입기입국데터 SGIS 구성 참조기입이관 후 확인게이트웨이, DNS, 정적 경로 및 MTU는 VM별 상세 기록에 함께 보관합니다. 기존 물리 NIC·케이블·스위치 연결은 유지하며, 재구성한 노드의 설정과 VM 망 매핑을 기존 연결 조건에 맞춰 검증합니다.</a:t>
            </a:r>
          </a:p>
          <a:p xmlns:a="http://schemas.openxmlformats.org/drawingml/2006/main">
            <a:r>
              <a:t>이관 방식별 서비스 전환 순서방식작업 순서콜드 이관원본 VM 종료 → 데이터 복사·변환 → 대상 VM 기동 → 네트워크·업무 검증웜 이관원본 운영 중 사전 복사 → 전환 시 원본 VM 종료 → 최종 변경분 복사·변환 → 대상 VM 기동 → 네트워크·업무 검증MTV의 원본 종료 및 대상 기동 동작은 적용 버전과 계획 설정을 사전에 확인합니다. 원본 VM은 전원 종료 상태로 보관하며, 보관·원복 기준 충족 후 정리합니다.회차별 이관 관리표회차예정일망대상 VM방식검증 결과상태시험미정외부 / 내부선정 필요미정미수행계획본 이관 1차미정선정 필요선정 필요미정미수행계획추가 회차미정선정 필요선정 필요미정미수행필요 시 추가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05. 단계별 수행 계획</a:t>
            </a:r>
          </a:p>
          <a:p xmlns:a="http://schemas.openxmlformats.org/drawingml/2006/main">
            <a:r>
              <a:t>단계작업 내용진행 전 확인 / 완료 기준1. 현황·백업 확보HV·VM·네트워크·FC LUN·VMFS 데이터스토어 현황 및 설정 기록, 복구 가능한 백업 확보VM별 OS·NIC·디스크·부팅 설정 기록 및 백업, 콘솔 접근, 망별 HV#01 수용 자원 확인2. VMware VM 집약외부 VM 13식·내부 VM 26식을 각 망 HV#01로 집약VM 이동 방식 확정, 서비스 정상 확인, 나머지 HV의 VM 잔존 여부 확인3. 장비 재구성외부 HV#02 및 내부 선정 HV를 Worker1으로 구성합니다. 외부 Bastion 장비 출처와 내부 잔여 HV 용도는 확인 후 반영합니다.외부 HV 번호별 배정 확정, IP 중복 방지, 재구성 전 데이터·설정 보존4. 신규 인프라 구축재활용 서버로 외부 Master, 내부 Master·Bastion 구성Master 실제 구성·UPI 설치 자원·호환 버전 및 신규 IP 확인5. OpenShift 기반 검증클러스터·가상화 기능·네트워크 구성, EMC CSI 드라이버 설치 및 StorageClass·대상 볼륨 할당 검증Worker1 단독 자원 수용 여부, CSI 볼륨·VM 디스크 기능, 동일 EMC 원본·대상 용량과 이관 중 I/O 부하 확인6. MTV 준비·시험 이관소스·대상 연결 및 망·스토리지 매핑 구성, 주요 OS·다중 NIC·디스크 유형별 시험 이관, 보정 절차와 소요 시간 기록MTV 버전·이관 방식 확정, 연결·권한·인증서·필요 통신 확인, 시험 결과 기록7. 회차별 본 이관회차별 대상 선정 → 사전 검사 → 이관 및 원본 종료·최종 동기화 → 대상 기동 → NIC·디스크 보정 → 업무 검증동일 서비스 원본·대상의 동시 활성화 방지, 회차별 성공·실패·재작업 기록8. HV#01 전환 판단대상 서비스 검증, 원본 보관 및 복구 조건 확인원본 HV를 재구성해도 되는 시점 명시, 백업 및 데이터 복구 경로 확보9. Worker2 추가각 망 HV#01 재구성 → Worker2 편입, 기존 IP 재사용노드·네트워크·CSI 볼륨 접근 정상 확인, VM 배치·이동 검증 범위 협의10. 완료 기록최종 구성·IP·VM 이관 결과 및 잔여 작업 정리MTV 완료, OS 기동, 디스크·네트워크·업무·백업 정상 확인 및 합의된 검수 항목 충족, 결과서 갱신</a:t>
            </a:r>
          </a:p>
          <a:p xmlns:a="http://schemas.openxmlformats.org/drawingml/2006/main">
            <a:r>
              <a:t>3~5단계는 아래 UPI 절차를 적용하며, Master 상세 구성에 따라 세부 순서를 확정합니다. 작업 명령, 수행일 및 소요 시간은 상세 작업 절차서에 반영합니다.</a:t>
            </a:r>
          </a:p>
          <a:p xmlns:a="http://schemas.openxmlformats.org/drawingml/2006/main">
            <a:r>
              <a:t>폐쇄망 UPI 설치 절차단계작업 내용1. 사전 준비Bastion에 설치 도구와 CLI를 준비하고 DNS·NTP·API/Ingress 로드밸런서 및 네트워크를 구성합니다.2. 폐쇄망 미러 구성필요한 OCP·가상화·MTV·CSI 이미지를 내부 레지스트리에 반입하고 인증서·인증·미러 설정을 준비합니다.3. 설치 설정 생성클러스터 구성과 미러 정보를 반영하여 설치 설정 및 Bootstrap·Master·Worker용 Ignition 파일을 생성합니다.4. Bootstrap 및 노드 설치별도 Bootstrap 서버를 구동하고 대상 노드에 RHCOS와 해당 Ignition을 적용합니다. 각 망 HV#01은 MTV 원본으로 유지하며 최초 설치 대상에서 제외합니다.5. Bootstrap 완료 확인Bootstrap 완료를 확인한 뒤 로드밸런서에서 Bootstrap 대상을 제거하고 임시 서버를 종료·철거합니다.6. 클러스터 완료 검증노드·CSR·ClusterOperator 상태와 API·콘솔·미러 접근을 확인합니다. 이후 가상화·EMC CSI·MTV를 구성합니다.7. MTV 이후 Worker2 편입원본 보관·원복 조건을 확인한 뒤 HV#01에 신규 노드용 설정을 적용하고 Worker2로 편입합니다.설치 방식은 UPI로 확정합니다. Master 실제 노드 수·HA 구성, 초기 Worker1 단독 운영의 지원 조건 및 Bootstrap 자원 배치는 구축 전 확인합니다. OS 설치 디스크와 EMC의 기존 VMFS LUN을 구분하여 원본 데이터를 보존합니다.VM별 사전 점검 및 시험 이관대상 VM의 가상 하드웨어 및 게스트 설정 변경에 대비하여 아래 항목을 조사합니다. 해당 항목의 사용 여부를 먼저 확인하고, 적용할 MTV·OpenShift Virtualization 버전의 지원 조건에 따라 처리합니다. 확인 결과는 미확인 / 해당 없음 / 적합 / 조치 필요로 구분하여 기록합니다.점검 항목사전 조사·준비시험 이관 및 조치 기준OS·커널 및 지원 조합OS·커널·아키텍처와 적용 MTV·가상화 버전의 지원 여부를 확인합니다.주요 OS 유형별 대표 VM을 선정하여 변환·기동 결과를 확인합니다.부팅 방식·VirtIO 드라이버BIOS/UEFI, 부팅 디스크와 드라이버 상태를 기록하고 콘솔·복구 접근을 확보합니다.부팅 및 디스크·NIC 인식 결과를 확인하고 OS별 보정 절차를 작성합니다.디스크·마운트디스크별 용량·용도, Linux fstab·UUID·LVM, Windows 드라이브 문자를 기록합니다.데이터 디스크 누락, 마운트 및 애플리케이션 경로 변경 여부를 확인합니다.NIC·IP·라우팅NIC별 이름·MAC·Port Group·VLAN·IP/Prefix, 게이트웨이·DNS·정적 경로·MTU를 기록하고 설정을 백업합니다.NetworkMap과 실제 대상 NIC를 대조합니다. 이름 또는 순서만으로 서비스망·NAS/BK망을 판단하지 않습니다.암호화·보안 부팅Secure Boot·vTPM·BitLocker·LUKS 사용 여부와 지원 절차를 확인합니다. 복구 키는 승인된 보관 위치에 확보합니다.해당 기능을 사용하는 VM은 적용 버전의 지원 절차를 검증합니다. 보고서에는 비밀 키를 기재하지 않습니다.게스트 도구·에이전트VMware Tools, QEMU Guest Agent, 보안·백업·모니터링 에이전트 현황을 기록합니다.변환 후 도구 처리 결과와 대상 에이전트 설치·동작을 확인합니다. VMware Tools 사전 제거를 일괄 지시하지 않습니다.스냅샷·웜 이관 조건기존 스냅샷, CBT 상태 및 필요한 여유 공간을 확인합니다. Windows 웜 이관은 VSS 등 사전 조건을 확인합니다.사전 복사와 최종 변경분 반영이 정상 완료되는지 확인합니다.라이선스·시간·서비스하드웨어 정보 종속 라이선스, DNS·시간 동기화, 서비스 자동 기동·배치와 외부 연계를 조사합니다.재인증·재등록 필요 여부와 실제 업무 동작을 확인합니다.Worker1·EMC 수용 능력망별 Worker1 단독 운영 기간의 CPU·메모리와 원본·대상 스토리지 동시 사용량을 확인합니다.이관 복사와 운영 I/O가 겹치는 조건에서 응답시간·디스크 지연을 확인하고 회차·동시 이관 수를 결정합니다.시험 대상은 주요 OS, 다중 NIC, 다중 디스크 및 보안·암호화 등 특수 구성을 포함하여 선정합니다. 보정 소요 시간과 허용 기준은 시험 결과를 근거로 회차별 작업계획에 반영합니다.</a:t>
            </a:r>
          </a:p>
          <a:p xmlns:a="http://schemas.openxmlformats.org/drawingml/2006/main">
            <a:r>
              <a:t>VM 인터페이스 변경 대응 절차순서수행 내용1. 사전 기록·백업VM별 NIC 매핑표와 IP·경로 정보를 확보하고 게스트 네트워크 설정을 백업합니다.2. 이관·전환원본 VM 종료와 최종 데이터 반영 이후 대상 VM을 운영망에서 기동합니다. 동일 IP의 원본·대상이 동시에 활성화되지 않도록 합니다.3. 콘솔 확인대상 VM 콘솔에서 NIC 이름·MAC·IP 적용 상태를 확인하고 NetworkMap 및 사전 기록과 대조합니다.4. 설정 보정필요한 경우 이름·MAC에 종속된 설정을 올바른 대상 NIC에 연결합니다. 기존 IP를 유지하는 계획에 따라 IP·게이트웨이·경로를 보정합니다.5. 검증·판단서비스·NAS/BK망별 통신과 업무를 확인합니다. 보정이 지연되는 경우 합의한 원복 기준에 따라 조치합니다.VM별 NIC 매핑표 양식VM명용도기존 NIC / MAC기존 Port Group / VLANIP 상세정보대상 NetworkMap·네트워크이관 후 NIC / MAC기입서비스망기입기입국데터 SGIS 구성 참조기입이관 후 확인기입NAS/BK망기입기입국데터 SGIS 구성 참조기입이관 후 확인게이트웨이, DNS, 정적 경로 및 MTU는 VM별 상세 기록에 함께 보관합니다. 기존 물리 NIC·케이블·스위치 연결은 유지하며, 재구성한 노드의 설정과 VM 망 매핑을 기존 연결 조건에 맞춰 검증합니다.</a:t>
            </a:r>
          </a:p>
          <a:p xmlns:a="http://schemas.openxmlformats.org/drawingml/2006/main">
            <a:r>
              <a:t>이관 방식별 서비스 전환 순서방식작업 순서콜드 이관원본 VM 종료 → 데이터 복사·변환 → 대상 VM 기동 → 네트워크·업무 검증웜 이관원본 운영 중 사전 복사 → 전환 시 원본 VM 종료 → 최종 변경분 복사·변환 → 대상 VM 기동 → 네트워크·업무 검증MTV의 원본 종료 및 대상 기동 동작은 적용 버전과 계획 설정을 사전에 확인합니다. 원본 VM은 전원 종료 상태로 보관하며, 보관·원복 기준 충족 후 정리합니다.회차별 이관 관리표회차예정일망대상 VM방식검증 결과상태시험미정외부 / 내부선정 필요미정미수행계획본 이관 1차미정선정 필요선정 필요미정미수행계획추가 회차미정선정 필요선정 필요미정미수행필요 시 추가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05. 단계별 수행 계획</a:t>
            </a:r>
          </a:p>
          <a:p xmlns:a="http://schemas.openxmlformats.org/drawingml/2006/main">
            <a:r>
              <a:t>단계작업 내용진행 전 확인 / 완료 기준1. 현황·백업 확보HV·VM·네트워크·FC LUN·VMFS 데이터스토어 현황 및 설정 기록, 복구 가능한 백업 확보VM별 OS·NIC·디스크·부팅 설정 기록 및 백업, 콘솔 접근, 망별 HV#01 수용 자원 확인2. VMware VM 집약외부 VM 13식·내부 VM 26식을 각 망 HV#01로 집약VM 이동 방식 확정, 서비스 정상 확인, 나머지 HV의 VM 잔존 여부 확인3. 장비 재구성외부 HV#02 및 내부 선정 HV를 Worker1으로 구성합니다. 외부 Bastion 장비 출처와 내부 잔여 HV 용도는 확인 후 반영합니다.외부 HV 번호별 배정 확정, IP 중복 방지, 재구성 전 데이터·설정 보존4. 신규 인프라 구축재활용 서버로 외부 Master, 내부 Master·Bastion 구성Master 실제 구성·UPI 설치 자원·호환 버전 및 신규 IP 확인5. OpenShift 기반 검증클러스터·가상화 기능·네트워크 구성, EMC CSI 드라이버 설치 및 StorageClass·대상 볼륨 할당 검증Worker1 단독 자원 수용 여부, CSI 볼륨·VM 디스크 기능, 동일 EMC 원본·대상 용량과 이관 중 I/O 부하 확인6. MTV 준비·시험 이관소스·대상 연결 및 망·스토리지 매핑 구성, 주요 OS·다중 NIC·디스크 유형별 시험 이관, 보정 절차와 소요 시간 기록MTV 버전·이관 방식 확정, 연결·권한·인증서·필요 통신 확인, 시험 결과 기록7. 회차별 본 이관회차별 대상 선정 → 사전 검사 → 이관 및 원본 종료·최종 동기화 → 대상 기동 → NIC·디스크 보정 → 업무 검증동일 서비스 원본·대상의 동시 활성화 방지, 회차별 성공·실패·재작업 기록8. HV#01 전환 판단대상 서비스 검증, 원본 보관 및 복구 조건 확인원본 HV를 재구성해도 되는 시점 명시, 백업 및 데이터 복구 경로 확보9. Worker2 추가각 망 HV#01 재구성 → Worker2 편입, 기존 IP 재사용노드·네트워크·CSI 볼륨 접근 정상 확인, VM 배치·이동 검증 범위 협의10. 완료 기록최종 구성·IP·VM 이관 결과 및 잔여 작업 정리MTV 완료, OS 기동, 디스크·네트워크·업무·백업 정상 확인 및 합의된 검수 항목 충족, 결과서 갱신</a:t>
            </a:r>
          </a:p>
          <a:p xmlns:a="http://schemas.openxmlformats.org/drawingml/2006/main">
            <a:r>
              <a:t>3~5단계는 아래 UPI 절차를 적용하며, Master 상세 구성에 따라 세부 순서를 확정합니다. 작업 명령, 수행일 및 소요 시간은 상세 작업 절차서에 반영합니다.</a:t>
            </a:r>
          </a:p>
          <a:p xmlns:a="http://schemas.openxmlformats.org/drawingml/2006/main">
            <a:r>
              <a:t>폐쇄망 UPI 설치 절차단계작업 내용1. 사전 준비Bastion에 설치 도구와 CLI를 준비하고 DNS·NTP·API/Ingress 로드밸런서 및 네트워크를 구성합니다.2. 폐쇄망 미러 구성필요한 OCP·가상화·MTV·CSI 이미지를 내부 레지스트리에 반입하고 인증서·인증·미러 설정을 준비합니다.3. 설치 설정 생성클러스터 구성과 미러 정보를 반영하여 설치 설정 및 Bootstrap·Master·Worker용 Ignition 파일을 생성합니다.4. Bootstrap 및 노드 설치별도 Bootstrap 서버를 구동하고 대상 노드에 RHCOS와 해당 Ignition을 적용합니다. 각 망 HV#01은 MTV 원본으로 유지하며 최초 설치 대상에서 제외합니다.5. Bootstrap 완료 확인Bootstrap 완료를 확인한 뒤 로드밸런서에서 Bootstrap 대상을 제거하고 임시 서버를 종료·철거합니다.6. 클러스터 완료 검증노드·CSR·ClusterOperator 상태와 API·콘솔·미러 접근을 확인합니다. 이후 가상화·EMC CSI·MTV를 구성합니다.7. MTV 이후 Worker2 편입원본 보관·원복 조건을 확인한 뒤 HV#01에 신규 노드용 설정을 적용하고 Worker2로 편입합니다.설치 방식은 UPI로 확정합니다. Master 실제 노드 수·HA 구성, 초기 Worker1 단독 운영의 지원 조건 및 Bootstrap 자원 배치는 구축 전 확인합니다. OS 설치 디스크와 EMC의 기존 VMFS LUN을 구분하여 원본 데이터를 보존합니다.VM별 사전 점검 및 시험 이관대상 VM의 가상 하드웨어 및 게스트 설정 변경에 대비하여 아래 항목을 조사합니다. 해당 항목의 사용 여부를 먼저 확인하고, 적용할 MTV·OpenShift Virtualization 버전의 지원 조건에 따라 처리합니다. 확인 결과는 미확인 / 해당 없음 / 적합 / 조치 필요로 구분하여 기록합니다.점검 항목사전 조사·준비시험 이관 및 조치 기준OS·커널 및 지원 조합OS·커널·아키텍처와 적용 MTV·가상화 버전의 지원 여부를 확인합니다.주요 OS 유형별 대표 VM을 선정하여 변환·기동 결과를 확인합니다.부팅 방식·VirtIO 드라이버BIOS/UEFI, 부팅 디스크와 드라이버 상태를 기록하고 콘솔·복구 접근을 확보합니다.부팅 및 디스크·NIC 인식 결과를 확인하고 OS별 보정 절차를 작성합니다.디스크·마운트디스크별 용량·용도, Linux fstab·UUID·LVM, Windows 드라이브 문자를 기록합니다.데이터 디스크 누락, 마운트 및 애플리케이션 경로 변경 여부를 확인합니다.NIC·IP·라우팅NIC별 이름·MAC·Port Group·VLAN·IP/Prefix, 게이트웨이·DNS·정적 경로·MTU를 기록하고 설정을 백업합니다.NetworkMap과 실제 대상 NIC를 대조합니다. 이름 또는 순서만으로 서비스망·NAS/BK망을 판단하지 않습니다.암호화·보안 부팅Secure Boot·vTPM·BitLocker·LUKS 사용 여부와 지원 절차를 확인합니다. 복구 키는 승인된 보관 위치에 확보합니다.해당 기능을 사용하는 VM은 적용 버전의 지원 절차를 검증합니다. 보고서에는 비밀 키를 기재하지 않습니다.게스트 도구·에이전트VMware Tools, QEMU Guest Agent, 보안·백업·모니터링 에이전트 현황을 기록합니다.변환 후 도구 처리 결과와 대상 에이전트 설치·동작을 확인합니다. VMware Tools 사전 제거를 일괄 지시하지 않습니다.스냅샷·웜 이관 조건기존 스냅샷, CBT 상태 및 필요한 여유 공간을 확인합니다. Windows 웜 이관은 VSS 등 사전 조건을 확인합니다.사전 복사와 최종 변경분 반영이 정상 완료되는지 확인합니다.라이선스·시간·서비스하드웨어 정보 종속 라이선스, DNS·시간 동기화, 서비스 자동 기동·배치와 외부 연계를 조사합니다.재인증·재등록 필요 여부와 실제 업무 동작을 확인합니다.Worker1·EMC 수용 능력망별 Worker1 단독 운영 기간의 CPU·메모리와 원본·대상 스토리지 동시 사용량을 확인합니다.이관 복사와 운영 I/O가 겹치는 조건에서 응답시간·디스크 지연을 확인하고 회차·동시 이관 수를 결정합니다.시험 대상은 주요 OS, 다중 NIC, 다중 디스크 및 보안·암호화 등 특수 구성을 포함하여 선정합니다. 보정 소요 시간과 허용 기준은 시험 결과를 근거로 회차별 작업계획에 반영합니다.</a:t>
            </a:r>
          </a:p>
          <a:p xmlns:a="http://schemas.openxmlformats.org/drawingml/2006/main">
            <a:r>
              <a:t>VM 인터페이스 변경 대응 절차순서수행 내용1. 사전 기록·백업VM별 NIC 매핑표와 IP·경로 정보를 확보하고 게스트 네트워크 설정을 백업합니다.2. 이관·전환원본 VM 종료와 최종 데이터 반영 이후 대상 VM을 운영망에서 기동합니다. 동일 IP의 원본·대상이 동시에 활성화되지 않도록 합니다.3. 콘솔 확인대상 VM 콘솔에서 NIC 이름·MAC·IP 적용 상태를 확인하고 NetworkMap 및 사전 기록과 대조합니다.4. 설정 보정필요한 경우 이름·MAC에 종속된 설정을 올바른 대상 NIC에 연결합니다. 기존 IP를 유지하는 계획에 따라 IP·게이트웨이·경로를 보정합니다.5. 검증·판단서비스·NAS/BK망별 통신과 업무를 확인합니다. 보정이 지연되는 경우 합의한 원복 기준에 따라 조치합니다.VM별 NIC 매핑표 양식VM명용도기존 NIC / MAC기존 Port Group / VLANIP 상세정보대상 NetworkMap·네트워크이관 후 NIC / MAC기입서비스망기입기입국데터 SGIS 구성 참조기입이관 후 확인기입NAS/BK망기입기입국데터 SGIS 구성 참조기입이관 후 확인게이트웨이, DNS, 정적 경로 및 MTU는 VM별 상세 기록에 함께 보관합니다. 기존 물리 NIC·케이블·스위치 연결은 유지하며, 재구성한 노드의 설정과 VM 망 매핑을 기존 연결 조건에 맞춰 검증합니다.</a:t>
            </a:r>
          </a:p>
          <a:p xmlns:a="http://schemas.openxmlformats.org/drawingml/2006/main">
            <a:r>
              <a:t>이관 방식별 서비스 전환 순서방식작업 순서콜드 이관원본 VM 종료 → 데이터 복사·변환 → 대상 VM 기동 → 네트워크·업무 검증웜 이관원본 운영 중 사전 복사 → 전환 시 원본 VM 종료 → 최종 변경분 복사·변환 → 대상 VM 기동 → 네트워크·업무 검증MTV의 원본 종료 및 대상 기동 동작은 적용 버전과 계획 설정을 사전에 확인합니다. 원본 VM은 전원 종료 상태로 보관하며, 보관·원복 기준 충족 후 정리합니다.회차별 이관 관리표회차예정일망대상 VM방식검증 결과상태시험미정외부 / 내부선정 필요미정미수행계획본 이관 1차미정선정 필요선정 필요미정미수행계획추가 회차미정선정 필요선정 필요미정미수행필요 시 추가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05. 단계별 수행 계획</a:t>
            </a:r>
          </a:p>
          <a:p xmlns:a="http://schemas.openxmlformats.org/drawingml/2006/main">
            <a:r>
              <a:t>단계작업 내용진행 전 확인 / 완료 기준1. 현황·백업 확보HV·VM·네트워크·FC LUN·VMFS 데이터스토어 현황 및 설정 기록, 복구 가능한 백업 확보VM별 OS·NIC·디스크·부팅 설정 기록 및 백업, 콘솔 접근, 망별 HV#01 수용 자원 확인2. VMware VM 집약외부 VM 13식·내부 VM 26식을 각 망 HV#01로 집약VM 이동 방식 확정, 서비스 정상 확인, 나머지 HV의 VM 잔존 여부 확인3. 장비 재구성외부 HV#02 및 내부 선정 HV를 Worker1으로 구성합니다. 외부 Bastion 장비 출처와 내부 잔여 HV 용도는 확인 후 반영합니다.외부 HV 번호별 배정 확정, IP 중복 방지, 재구성 전 데이터·설정 보존4. 신규 인프라 구축재활용 서버로 외부 Master, 내부 Master·Bastion 구성Master 실제 구성·UPI 설치 자원·호환 버전 및 신규 IP 확인5. OpenShift 기반 검증클러스터·가상화 기능·네트워크 구성, EMC CSI 드라이버 설치 및 StorageClass·대상 볼륨 할당 검증Worker1 단독 자원 수용 여부, CSI 볼륨·VM 디스크 기능, 동일 EMC 원본·대상 용량과 이관 중 I/O 부하 확인6. MTV 준비·시험 이관소스·대상 연결 및 망·스토리지 매핑 구성, 주요 OS·다중 NIC·디스크 유형별 시험 이관, 보정 절차와 소요 시간 기록MTV 버전·이관 방식 확정, 연결·권한·인증서·필요 통신 확인, 시험 결과 기록7. 회차별 본 이관회차별 대상 선정 → 사전 검사 → 이관 및 원본 종료·최종 동기화 → 대상 기동 → NIC·디스크 보정 → 업무 검증동일 서비스 원본·대상의 동시 활성화 방지, 회차별 성공·실패·재작업 기록8. HV#01 전환 판단대상 서비스 검증, 원본 보관 및 복구 조건 확인원본 HV를 재구성해도 되는 시점 명시, 백업 및 데이터 복구 경로 확보9. Worker2 추가각 망 HV#01 재구성 → Worker2 편입, 기존 IP 재사용노드·네트워크·CSI 볼륨 접근 정상 확인, VM 배치·이동 검증 범위 협의10. 완료 기록최종 구성·IP·VM 이관 결과 및 잔여 작업 정리MTV 완료, OS 기동, 디스크·네트워크·업무·백업 정상 확인 및 합의된 검수 항목 충족, 결과서 갱신</a:t>
            </a:r>
          </a:p>
          <a:p xmlns:a="http://schemas.openxmlformats.org/drawingml/2006/main">
            <a:r>
              <a:t>3~5단계는 아래 UPI 절차를 적용하며, Master 상세 구성에 따라 세부 순서를 확정합니다. 작업 명령, 수행일 및 소요 시간은 상세 작업 절차서에 반영합니다.</a:t>
            </a:r>
          </a:p>
          <a:p xmlns:a="http://schemas.openxmlformats.org/drawingml/2006/main">
            <a:r>
              <a:t>폐쇄망 UPI 설치 절차단계작업 내용1. 사전 준비Bastion에 설치 도구와 CLI를 준비하고 DNS·NTP·API/Ingress 로드밸런서 및 네트워크를 구성합니다.2. 폐쇄망 미러 구성필요한 OCP·가상화·MTV·CSI 이미지를 내부 레지스트리에 반입하고 인증서·인증·미러 설정을 준비합니다.3. 설치 설정 생성클러스터 구성과 미러 정보를 반영하여 설치 설정 및 Bootstrap·Master·Worker용 Ignition 파일을 생성합니다.4. Bootstrap 및 노드 설치별도 Bootstrap 서버를 구동하고 대상 노드에 RHCOS와 해당 Ignition을 적용합니다. 각 망 HV#01은 MTV 원본으로 유지하며 최초 설치 대상에서 제외합니다.5. Bootstrap 완료 확인Bootstrap 완료를 확인한 뒤 로드밸런서에서 Bootstrap 대상을 제거하고 임시 서버를 종료·철거합니다.6. 클러스터 완료 검증노드·CSR·ClusterOperator 상태와 API·콘솔·미러 접근을 확인합니다. 이후 가상화·EMC CSI·MTV를 구성합니다.7. MTV 이후 Worker2 편입원본 보관·원복 조건을 확인한 뒤 HV#01에 신규 노드용 설정을 적용하고 Worker2로 편입합니다.설치 방식은 UPI로 확정합니다. Master 실제 노드 수·HA 구성, 초기 Worker1 단독 운영의 지원 조건 및 Bootstrap 자원 배치는 구축 전 확인합니다. OS 설치 디스크와 EMC의 기존 VMFS LUN을 구분하여 원본 데이터를 보존합니다.VM별 사전 점검 및 시험 이관대상 VM의 가상 하드웨어 및 게스트 설정 변경에 대비하여 아래 항목을 조사합니다. 해당 항목의 사용 여부를 먼저 확인하고, 적용할 MTV·OpenShift Virtualization 버전의 지원 조건에 따라 처리합니다. 확인 결과는 미확인 / 해당 없음 / 적합 / 조치 필요로 구분하여 기록합니다.점검 항목사전 조사·준비시험 이관 및 조치 기준OS·커널 및 지원 조합OS·커널·아키텍처와 적용 MTV·가상화 버전의 지원 여부를 확인합니다.주요 OS 유형별 대표 VM을 선정하여 변환·기동 결과를 확인합니다.부팅 방식·VirtIO 드라이버BIOS/UEFI, 부팅 디스크와 드라이버 상태를 기록하고 콘솔·복구 접근을 확보합니다.부팅 및 디스크·NIC 인식 결과를 확인하고 OS별 보정 절차를 작성합니다.디스크·마운트디스크별 용량·용도, Linux fstab·UUID·LVM, Windows 드라이브 문자를 기록합니다.데이터 디스크 누락, 마운트 및 애플리케이션 경로 변경 여부를 확인합니다.NIC·IP·라우팅NIC별 이름·MAC·Port Group·VLAN·IP/Prefix, 게이트웨이·DNS·정적 경로·MTU를 기록하고 설정을 백업합니다.NetworkMap과 실제 대상 NIC를 대조합니다. 이름 또는 순서만으로 서비스망·NAS/BK망을 판단하지 않습니다.암호화·보안 부팅Secure Boot·vTPM·BitLocker·LUKS 사용 여부와 지원 절차를 확인합니다. 복구 키는 승인된 보관 위치에 확보합니다.해당 기능을 사용하는 VM은 적용 버전의 지원 절차를 검증합니다. 보고서에는 비밀 키를 기재하지 않습니다.게스트 도구·에이전트VMware Tools, QEMU Guest Agent, 보안·백업·모니터링 에이전트 현황을 기록합니다.변환 후 도구 처리 결과와 대상 에이전트 설치·동작을 확인합니다. VMware Tools 사전 제거를 일괄 지시하지 않습니다.스냅샷·웜 이관 조건기존 스냅샷, CBT 상태 및 필요한 여유 공간을 확인합니다. Windows 웜 이관은 VSS 등 사전 조건을 확인합니다.사전 복사와 최종 변경분 반영이 정상 완료되는지 확인합니다.라이선스·시간·서비스하드웨어 정보 종속 라이선스, DNS·시간 동기화, 서비스 자동 기동·배치와 외부 연계를 조사합니다.재인증·재등록 필요 여부와 실제 업무 동작을 확인합니다.Worker1·EMC 수용 능력망별 Worker1 단독 운영 기간의 CPU·메모리와 원본·대상 스토리지 동시 사용량을 확인합니다.이관 복사와 운영 I/O가 겹치는 조건에서 응답시간·디스크 지연을 확인하고 회차·동시 이관 수를 결정합니다.시험 대상은 주요 OS, 다중 NIC, 다중 디스크 및 보안·암호화 등 특수 구성을 포함하여 선정합니다. 보정 소요 시간과 허용 기준은 시험 결과를 근거로 회차별 작업계획에 반영합니다.</a:t>
            </a:r>
          </a:p>
          <a:p xmlns:a="http://schemas.openxmlformats.org/drawingml/2006/main">
            <a:r>
              <a:t>VM 인터페이스 변경 대응 절차순서수행 내용1. 사전 기록·백업VM별 NIC 매핑표와 IP·경로 정보를 확보하고 게스트 네트워크 설정을 백업합니다.2. 이관·전환원본 VM 종료와 최종 데이터 반영 이후 대상 VM을 운영망에서 기동합니다. 동일 IP의 원본·대상이 동시에 활성화되지 않도록 합니다.3. 콘솔 확인대상 VM 콘솔에서 NIC 이름·MAC·IP 적용 상태를 확인하고 NetworkMap 및 사전 기록과 대조합니다.4. 설정 보정필요한 경우 이름·MAC에 종속된 설정을 올바른 대상 NIC에 연결합니다. 기존 IP를 유지하는 계획에 따라 IP·게이트웨이·경로를 보정합니다.5. 검증·판단서비스·NAS/BK망별 통신과 업무를 확인합니다. 보정이 지연되는 경우 합의한 원복 기준에 따라 조치합니다.VM별 NIC 매핑표 양식VM명용도기존 NIC / MAC기존 Port Group / VLANIP 상세정보대상 NetworkMap·네트워크이관 후 NIC / MAC기입서비스망기입기입국데터 SGIS 구성 참조기입이관 후 확인기입NAS/BK망기입기입국데터 SGIS 구성 참조기입이관 후 확인게이트웨이, DNS, 정적 경로 및 MTU는 VM별 상세 기록에 함께 보관합니다. 기존 물리 NIC·케이블·스위치 연결은 유지하며, 재구성한 노드의 설정과 VM 망 매핑을 기존 연결 조건에 맞춰 검증합니다.</a:t>
            </a:r>
          </a:p>
          <a:p xmlns:a="http://schemas.openxmlformats.org/drawingml/2006/main">
            <a:r>
              <a:t>이관 방식별 서비스 전환 순서방식작업 순서콜드 이관원본 VM 종료 → 데이터 복사·변환 → 대상 VM 기동 → 네트워크·업무 검증웜 이관원본 운영 중 사전 복사 → 전환 시 원본 VM 종료 → 최종 변경분 복사·변환 → 대상 VM 기동 → 네트워크·업무 검증MTV의 원본 종료 및 대상 기동 동작은 적용 버전과 계획 설정을 사전에 확인합니다. 원본 VM은 전원 종료 상태로 보관하며, 보관·원복 기준 충족 후 정리합니다.회차별 이관 관리표회차예정일망대상 VM방식검증 결과상태시험미정외부 / 내부선정 필요미정미수행계획본 이관 1차미정선정 필요선정 필요미정미수행계획추가 회차미정선정 필요선정 필요미정미수행필요 시 추가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05. 단계별 수행 계획</a:t>
            </a:r>
          </a:p>
          <a:p xmlns:a="http://schemas.openxmlformats.org/drawingml/2006/main">
            <a:r>
              <a:t>단계작업 내용진행 전 확인 / 완료 기준1. 현황·백업 확보HV·VM·네트워크·FC LUN·VMFS 데이터스토어 현황 및 설정 기록, 복구 가능한 백업 확보VM별 OS·NIC·디스크·부팅 설정 기록 및 백업, 콘솔 접근, 망별 HV#01 수용 자원 확인2. VMware VM 집약외부 VM 13식·내부 VM 26식을 각 망 HV#01로 집약VM 이동 방식 확정, 서비스 정상 확인, 나머지 HV의 VM 잔존 여부 확인3. 장비 재구성외부 HV#02 및 내부 선정 HV를 Worker1으로 구성합니다. 외부 Bastion 장비 출처와 내부 잔여 HV 용도는 확인 후 반영합니다.외부 HV 번호별 배정 확정, IP 중복 방지, 재구성 전 데이터·설정 보존4. 신규 인프라 구축재활용 서버로 외부 Master, 내부 Master·Bastion 구성Master 실제 구성·UPI 설치 자원·호환 버전 및 신규 IP 확인5. OpenShift 기반 검증클러스터·가상화 기능·네트워크 구성, EMC CSI 드라이버 설치 및 StorageClass·대상 볼륨 할당 검증Worker1 단독 자원 수용 여부, CSI 볼륨·VM 디스크 기능, 동일 EMC 원본·대상 용량과 이관 중 I/O 부하 확인6. MTV 준비·시험 이관소스·대상 연결 및 망·스토리지 매핑 구성, 주요 OS·다중 NIC·디스크 유형별 시험 이관, 보정 절차와 소요 시간 기록MTV 버전·이관 방식 확정, 연결·권한·인증서·필요 통신 확인, 시험 결과 기록7. 회차별 본 이관회차별 대상 선정 → 사전 검사 → 이관 및 원본 종료·최종 동기화 → 대상 기동 → NIC·디스크 보정 → 업무 검증동일 서비스 원본·대상의 동시 활성화 방지, 회차별 성공·실패·재작업 기록8. HV#01 전환 판단대상 서비스 검증, 원본 보관 및 복구 조건 확인원본 HV를 재구성해도 되는 시점 명시, 백업 및 데이터 복구 경로 확보9. Worker2 추가각 망 HV#01 재구성 → Worker2 편입, 기존 IP 재사용노드·네트워크·CSI 볼륨 접근 정상 확인, VM 배치·이동 검증 범위 협의10. 완료 기록최종 구성·IP·VM 이관 결과 및 잔여 작업 정리MTV 완료, OS 기동, 디스크·네트워크·업무·백업 정상 확인 및 합의된 검수 항목 충족, 결과서 갱신</a:t>
            </a:r>
          </a:p>
          <a:p xmlns:a="http://schemas.openxmlformats.org/drawingml/2006/main">
            <a:r>
              <a:t>3~5단계는 아래 UPI 절차를 적용하며, Master 상세 구성에 따라 세부 순서를 확정합니다. 작업 명령, 수행일 및 소요 시간은 상세 작업 절차서에 반영합니다.</a:t>
            </a:r>
          </a:p>
          <a:p xmlns:a="http://schemas.openxmlformats.org/drawingml/2006/main">
            <a:r>
              <a:t>폐쇄망 UPI 설치 절차단계작업 내용1. 사전 준비Bastion에 설치 도구와 CLI를 준비하고 DNS·NTP·API/Ingress 로드밸런서 및 네트워크를 구성합니다.2. 폐쇄망 미러 구성필요한 OCP·가상화·MTV·CSI 이미지를 내부 레지스트리에 반입하고 인증서·인증·미러 설정을 준비합니다.3. 설치 설정 생성클러스터 구성과 미러 정보를 반영하여 설치 설정 및 Bootstrap·Master·Worker용 Ignition 파일을 생성합니다.4. Bootstrap 및 노드 설치별도 Bootstrap 서버를 구동하고 대상 노드에 RHCOS와 해당 Ignition을 적용합니다. 각 망 HV#01은 MTV 원본으로 유지하며 최초 설치 대상에서 제외합니다.5. Bootstrap 완료 확인Bootstrap 완료를 확인한 뒤 로드밸런서에서 Bootstrap 대상을 제거하고 임시 서버를 종료·철거합니다.6. 클러스터 완료 검증노드·CSR·ClusterOperator 상태와 API·콘솔·미러 접근을 확인합니다. 이후 가상화·EMC CSI·MTV를 구성합니다.7. MTV 이후 Worker2 편입원본 보관·원복 조건을 확인한 뒤 HV#01에 신규 노드용 설정을 적용하고 Worker2로 편입합니다.설치 방식은 UPI로 확정합니다. Master 실제 노드 수·HA 구성, 초기 Worker1 단독 운영의 지원 조건 및 Bootstrap 자원 배치는 구축 전 확인합니다. OS 설치 디스크와 EMC의 기존 VMFS LUN을 구분하여 원본 데이터를 보존합니다.VM별 사전 점검 및 시험 이관대상 VM의 가상 하드웨어 및 게스트 설정 변경에 대비하여 아래 항목을 조사합니다. 해당 항목의 사용 여부를 먼저 확인하고, 적용할 MTV·OpenShift Virtualization 버전의 지원 조건에 따라 처리합니다. 확인 결과는 미확인 / 해당 없음 / 적합 / 조치 필요로 구분하여 기록합니다.점검 항목사전 조사·준비시험 이관 및 조치 기준OS·커널 및 지원 조합OS·커널·아키텍처와 적용 MTV·가상화 버전의 지원 여부를 확인합니다.주요 OS 유형별 대표 VM을 선정하여 변환·기동 결과를 확인합니다.부팅 방식·VirtIO 드라이버BIOS/UEFI, 부팅 디스크와 드라이버 상태를 기록하고 콘솔·복구 접근을 확보합니다.부팅 및 디스크·NIC 인식 결과를 확인하고 OS별 보정 절차를 작성합니다.디스크·마운트디스크별 용량·용도, Linux fstab·UUID·LVM, Windows 드라이브 문자를 기록합니다.데이터 디스크 누락, 마운트 및 애플리케이션 경로 변경 여부를 확인합니다.NIC·IP·라우팅NIC별 이름·MAC·Port Group·VLAN·IP/Prefix, 게이트웨이·DNS·정적 경로·MTU를 기록하고 설정을 백업합니다.NetworkMap과 실제 대상 NIC를 대조합니다. 이름 또는 순서만으로 서비스망·NAS/BK망을 판단하지 않습니다.암호화·보안 부팅Secure Boot·vTPM·BitLocker·LUKS 사용 여부와 지원 절차를 확인합니다. 복구 키는 승인된 보관 위치에 확보합니다.해당 기능을 사용하는 VM은 적용 버전의 지원 절차를 검증합니다. 보고서에는 비밀 키를 기재하지 않습니다.게스트 도구·에이전트VMware Tools, QEMU Guest Agent, 보안·백업·모니터링 에이전트 현황을 기록합니다.변환 후 도구 처리 결과와 대상 에이전트 설치·동작을 확인합니다. VMware Tools 사전 제거를 일괄 지시하지 않습니다.스냅샷·웜 이관 조건기존 스냅샷, CBT 상태 및 필요한 여유 공간을 확인합니다. Windows 웜 이관은 VSS 등 사전 조건을 확인합니다.사전 복사와 최종 변경분 반영이 정상 완료되는지 확인합니다.라이선스·시간·서비스하드웨어 정보 종속 라이선스, DNS·시간 동기화, 서비스 자동 기동·배치와 외부 연계를 조사합니다.재인증·재등록 필요 여부와 실제 업무 동작을 확인합니다.Worker1·EMC 수용 능력망별 Worker1 단독 운영 기간의 CPU·메모리와 원본·대상 스토리지 동시 사용량을 확인합니다.이관 복사와 운영 I/O가 겹치는 조건에서 응답시간·디스크 지연을 확인하고 회차·동시 이관 수를 결정합니다.시험 대상은 주요 OS, 다중 NIC, 다중 디스크 및 보안·암호화 등 특수 구성을 포함하여 선정합니다. 보정 소요 시간과 허용 기준은 시험 결과를 근거로 회차별 작업계획에 반영합니다.</a:t>
            </a:r>
          </a:p>
          <a:p xmlns:a="http://schemas.openxmlformats.org/drawingml/2006/main">
            <a:r>
              <a:t>VM 인터페이스 변경 대응 절차순서수행 내용1. 사전 기록·백업VM별 NIC 매핑표와 IP·경로 정보를 확보하고 게스트 네트워크 설정을 백업합니다.2. 이관·전환원본 VM 종료와 최종 데이터 반영 이후 대상 VM을 운영망에서 기동합니다. 동일 IP의 원본·대상이 동시에 활성화되지 않도록 합니다.3. 콘솔 확인대상 VM 콘솔에서 NIC 이름·MAC·IP 적용 상태를 확인하고 NetworkMap 및 사전 기록과 대조합니다.4. 설정 보정필요한 경우 이름·MAC에 종속된 설정을 올바른 대상 NIC에 연결합니다. 기존 IP를 유지하는 계획에 따라 IP·게이트웨이·경로를 보정합니다.5. 검증·판단서비스·NAS/BK망별 통신과 업무를 확인합니다. 보정이 지연되는 경우 합의한 원복 기준에 따라 조치합니다.VM별 NIC 매핑표 양식VM명용도기존 NIC / MAC기존 Port Group / VLANIP 상세정보대상 NetworkMap·네트워크이관 후 NIC / MAC기입서비스망기입기입국데터 SGIS 구성 참조기입이관 후 확인기입NAS/BK망기입기입국데터 SGIS 구성 참조기입이관 후 확인게이트웨이, DNS, 정적 경로 및 MTU는 VM별 상세 기록에 함께 보관합니다. 기존 물리 NIC·케이블·스위치 연결은 유지하며, 재구성한 노드의 설정과 VM 망 매핑을 기존 연결 조건에 맞춰 검증합니다.</a:t>
            </a:r>
          </a:p>
          <a:p xmlns:a="http://schemas.openxmlformats.org/drawingml/2006/main">
            <a:r>
              <a:t>이관 방식별 서비스 전환 순서방식작업 순서콜드 이관원본 VM 종료 → 데이터 복사·변환 → 대상 VM 기동 → 네트워크·업무 검증웜 이관원본 운영 중 사전 복사 → 전환 시 원본 VM 종료 → 최종 변경분 복사·변환 → 대상 VM 기동 → 네트워크·업무 검증MTV의 원본 종료 및 대상 기동 동작은 적용 버전과 계획 설정을 사전에 확인합니다. 원본 VM은 전원 종료 상태로 보관하며, 보관·원복 기준 충족 후 정리합니다.회차별 이관 관리표회차예정일망대상 VM방식검증 결과상태시험미정외부 / 내부선정 필요미정미수행계획본 이관 1차미정선정 필요선정 필요미정미수행계획추가 회차미정선정 필요선정 필요미정미수행필요 시 추가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05. 단계별 수행 계획</a:t>
            </a:r>
          </a:p>
          <a:p xmlns:a="http://schemas.openxmlformats.org/drawingml/2006/main">
            <a:r>
              <a:t>단계작업 내용진행 전 확인 / 완료 기준1. 현황·백업 확보HV·VM·네트워크·FC LUN·VMFS 데이터스토어 현황 및 설정 기록, 복구 가능한 백업 확보VM별 OS·NIC·디스크·부팅 설정 기록 및 백업, 콘솔 접근, 망별 HV#01 수용 자원 확인2. VMware VM 집약외부 VM 13식·내부 VM 26식을 각 망 HV#01로 집약VM 이동 방식 확정, 서비스 정상 확인, 나머지 HV의 VM 잔존 여부 확인3. 장비 재구성외부 HV#02 및 내부 선정 HV를 Worker1으로 구성합니다. 외부 Bastion 장비 출처와 내부 잔여 HV 용도는 확인 후 반영합니다.외부 HV 번호별 배정 확정, IP 중복 방지, 재구성 전 데이터·설정 보존4. 신규 인프라 구축재활용 서버로 외부 Master, 내부 Master·Bastion 구성Master 실제 구성·UPI 설치 자원·호환 버전 및 신규 IP 확인5. OpenShift 기반 검증클러스터·가상화 기능·네트워크 구성, EMC CSI 드라이버 설치 및 StorageClass·대상 볼륨 할당 검증Worker1 단독 자원 수용 여부, CSI 볼륨·VM 디스크 기능, 동일 EMC 원본·대상 용량과 이관 중 I/O 부하 확인6. MTV 준비·시험 이관소스·대상 연결 및 망·스토리지 매핑 구성, 주요 OS·다중 NIC·디스크 유형별 시험 이관, 보정 절차와 소요 시간 기록MTV 버전·이관 방식 확정, 연결·권한·인증서·필요 통신 확인, 시험 결과 기록7. 회차별 본 이관회차별 대상 선정 → 사전 검사 → 이관 및 원본 종료·최종 동기화 → 대상 기동 → NIC·디스크 보정 → 업무 검증동일 서비스 원본·대상의 동시 활성화 방지, 회차별 성공·실패·재작업 기록8. HV#01 전환 판단대상 서비스 검증, 원본 보관 및 복구 조건 확인원본 HV를 재구성해도 되는 시점 명시, 백업 및 데이터 복구 경로 확보9. Worker2 추가각 망 HV#01 재구성 → Worker2 편입, 기존 IP 재사용노드·네트워크·CSI 볼륨 접근 정상 확인, VM 배치·이동 검증 범위 협의10. 완료 기록최종 구성·IP·VM 이관 결과 및 잔여 작업 정리MTV 완료, OS 기동, 디스크·네트워크·업무·백업 정상 확인 및 합의된 검수 항목 충족, 결과서 갱신</a:t>
            </a:r>
          </a:p>
          <a:p xmlns:a="http://schemas.openxmlformats.org/drawingml/2006/main">
            <a:r>
              <a:t>3~5단계는 아래 UPI 절차를 적용하며, Master 상세 구성에 따라 세부 순서를 확정합니다. 작업 명령, 수행일 및 소요 시간은 상세 작업 절차서에 반영합니다.</a:t>
            </a:r>
          </a:p>
          <a:p xmlns:a="http://schemas.openxmlformats.org/drawingml/2006/main">
            <a:r>
              <a:t>폐쇄망 UPI 설치 절차단계작업 내용1. 사전 준비Bastion에 설치 도구와 CLI를 준비하고 DNS·NTP·API/Ingress 로드밸런서 및 네트워크를 구성합니다.2. 폐쇄망 미러 구성필요한 OCP·가상화·MTV·CSI 이미지를 내부 레지스트리에 반입하고 인증서·인증·미러 설정을 준비합니다.3. 설치 설정 생성클러스터 구성과 미러 정보를 반영하여 설치 설정 및 Bootstrap·Master·Worker용 Ignition 파일을 생성합니다.4. Bootstrap 및 노드 설치별도 Bootstrap 서버를 구동하고 대상 노드에 RHCOS와 해당 Ignition을 적용합니다. 각 망 HV#01은 MTV 원본으로 유지하며 최초 설치 대상에서 제외합니다.5. Bootstrap 완료 확인Bootstrap 완료를 확인한 뒤 로드밸런서에서 Bootstrap 대상을 제거하고 임시 서버를 종료·철거합니다.6. 클러스터 완료 검증노드·CSR·ClusterOperator 상태와 API·콘솔·미러 접근을 확인합니다. 이후 가상화·EMC CSI·MTV를 구성합니다.7. MTV 이후 Worker2 편입원본 보관·원복 조건을 확인한 뒤 HV#01에 신규 노드용 설정을 적용하고 Worker2로 편입합니다.설치 방식은 UPI로 확정합니다. Master 실제 노드 수·HA 구성, 초기 Worker1 단독 운영의 지원 조건 및 Bootstrap 자원 배치는 구축 전 확인합니다. OS 설치 디스크와 EMC의 기존 VMFS LUN을 구분하여 원본 데이터를 보존합니다.VM별 사전 점검 및 시험 이관대상 VM의 가상 하드웨어 및 게스트 설정 변경에 대비하여 아래 항목을 조사합니다. 해당 항목의 사용 여부를 먼저 확인하고, 적용할 MTV·OpenShift Virtualization 버전의 지원 조건에 따라 처리합니다. 확인 결과는 미확인 / 해당 없음 / 적합 / 조치 필요로 구분하여 기록합니다.점검 항목사전 조사·준비시험 이관 및 조치 기준OS·커널 및 지원 조합OS·커널·아키텍처와 적용 MTV·가상화 버전의 지원 여부를 확인합니다.주요 OS 유형별 대표 VM을 선정하여 변환·기동 결과를 확인합니다.부팅 방식·VirtIO 드라이버BIOS/UEFI, 부팅 디스크와 드라이버 상태를 기록하고 콘솔·복구 접근을 확보합니다.부팅 및 디스크·NIC 인식 결과를 확인하고 OS별 보정 절차를 작성합니다.디스크·마운트디스크별 용량·용도, Linux fstab·UUID·LVM, Windows 드라이브 문자를 기록합니다.데이터 디스크 누락, 마운트 및 애플리케이션 경로 변경 여부를 확인합니다.NIC·IP·라우팅NIC별 이름·MAC·Port Group·VLAN·IP/Prefix, 게이트웨이·DNS·정적 경로·MTU를 기록하고 설정을 백업합니다.NetworkMap과 실제 대상 NIC를 대조합니다. 이름 또는 순서만으로 서비스망·NAS/BK망을 판단하지 않습니다.암호화·보안 부팅Secure Boot·vTPM·BitLocker·LUKS 사용 여부와 지원 절차를 확인합니다. 복구 키는 승인된 보관 위치에 확보합니다.해당 기능을 사용하는 VM은 적용 버전의 지원 절차를 검증합니다. 보고서에는 비밀 키를 기재하지 않습니다.게스트 도구·에이전트VMware Tools, QEMU Guest Agent, 보안·백업·모니터링 에이전트 현황을 기록합니다.변환 후 도구 처리 결과와 대상 에이전트 설치·동작을 확인합니다. VMware Tools 사전 제거를 일괄 지시하지 않습니다.스냅샷·웜 이관 조건기존 스냅샷, CBT 상태 및 필요한 여유 공간을 확인합니다. Windows 웜 이관은 VSS 등 사전 조건을 확인합니다.사전 복사와 최종 변경분 반영이 정상 완료되는지 확인합니다.라이선스·시간·서비스하드웨어 정보 종속 라이선스, DNS·시간 동기화, 서비스 자동 기동·배치와 외부 연계를 조사합니다.재인증·재등록 필요 여부와 실제 업무 동작을 확인합니다.Worker1·EMC 수용 능력망별 Worker1 단독 운영 기간의 CPU·메모리와 원본·대상 스토리지 동시 사용량을 확인합니다.이관 복사와 운영 I/O가 겹치는 조건에서 응답시간·디스크 지연을 확인하고 회차·동시 이관 수를 결정합니다.시험 대상은 주요 OS, 다중 NIC, 다중 디스크 및 보안·암호화 등 특수 구성을 포함하여 선정합니다. 보정 소요 시간과 허용 기준은 시험 결과를 근거로 회차별 작업계획에 반영합니다.</a:t>
            </a:r>
          </a:p>
          <a:p xmlns:a="http://schemas.openxmlformats.org/drawingml/2006/main">
            <a:r>
              <a:t>VM 인터페이스 변경 대응 절차순서수행 내용1. 사전 기록·백업VM별 NIC 매핑표와 IP·경로 정보를 확보하고 게스트 네트워크 설정을 백업합니다.2. 이관·전환원본 VM 종료와 최종 데이터 반영 이후 대상 VM을 운영망에서 기동합니다. 동일 IP의 원본·대상이 동시에 활성화되지 않도록 합니다.3. 콘솔 확인대상 VM 콘솔에서 NIC 이름·MAC·IP 적용 상태를 확인하고 NetworkMap 및 사전 기록과 대조합니다.4. 설정 보정필요한 경우 이름·MAC에 종속된 설정을 올바른 대상 NIC에 연결합니다. 기존 IP를 유지하는 계획에 따라 IP·게이트웨이·경로를 보정합니다.5. 검증·판단서비스·NAS/BK망별 통신과 업무를 확인합니다. 보정이 지연되는 경우 합의한 원복 기준에 따라 조치합니다.VM별 NIC 매핑표 양식VM명용도기존 NIC / MAC기존 Port Group / VLANIP 상세정보대상 NetworkMap·네트워크이관 후 NIC / MAC기입서비스망기입기입국데터 SGIS 구성 참조기입이관 후 확인기입NAS/BK망기입기입국데터 SGIS 구성 참조기입이관 후 확인게이트웨이, DNS, 정적 경로 및 MTU는 VM별 상세 기록에 함께 보관합니다. 기존 물리 NIC·케이블·스위치 연결은 유지하며, 재구성한 노드의 설정과 VM 망 매핑을 기존 연결 조건에 맞춰 검증합니다.</a:t>
            </a:r>
          </a:p>
          <a:p xmlns:a="http://schemas.openxmlformats.org/drawingml/2006/main">
            <a:r>
              <a:t>이관 방식별 서비스 전환 순서방식작업 순서콜드 이관원본 VM 종료 → 데이터 복사·변환 → 대상 VM 기동 → 네트워크·업무 검증웜 이관원본 운영 중 사전 복사 → 전환 시 원본 VM 종료 → 최종 변경분 복사·변환 → 대상 VM 기동 → 네트워크·업무 검증MTV의 원본 종료 및 대상 기동 동작은 적용 버전과 계획 설정을 사전에 확인합니다. 원본 VM은 전원 종료 상태로 보관하며, 보관·원복 기준 충족 후 정리합니다.회차별 이관 관리표회차예정일망대상 VM방식검증 결과상태시험미정외부 / 내부선정 필요미정미수행계획본 이관 1차미정선정 필요선정 필요미정미수행계획추가 회차미정선정 필요선정 필요미정미수행필요 시 추가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05. 단계별 수행 계획</a:t>
            </a:r>
          </a:p>
          <a:p xmlns:a="http://schemas.openxmlformats.org/drawingml/2006/main">
            <a:r>
              <a:t>단계작업 내용진행 전 확인 / 완료 기준1. 현황·백업 확보HV·VM·네트워크·FC LUN·VMFS 데이터스토어 현황 및 설정 기록, 복구 가능한 백업 확보VM별 OS·NIC·디스크·부팅 설정 기록 및 백업, 콘솔 접근, 망별 HV#01 수용 자원 확인2. VMware VM 집약외부 VM 13식·내부 VM 26식을 각 망 HV#01로 집약VM 이동 방식 확정, 서비스 정상 확인, 나머지 HV의 VM 잔존 여부 확인3. 장비 재구성외부 HV#02 및 내부 선정 HV를 Worker1으로 구성합니다. 외부 Bastion 장비 출처와 내부 잔여 HV 용도는 확인 후 반영합니다.외부 HV 번호별 배정 확정, IP 중복 방지, 재구성 전 데이터·설정 보존4. 신규 인프라 구축재활용 서버로 외부 Master, 내부 Master·Bastion 구성Master 실제 구성·UPI 설치 자원·호환 버전 및 신규 IP 확인5. OpenShift 기반 검증클러스터·가상화 기능·네트워크 구성, EMC CSI 드라이버 설치 및 StorageClass·대상 볼륨 할당 검증Worker1 단독 자원 수용 여부, CSI 볼륨·VM 디스크 기능, 동일 EMC 원본·대상 용량과 이관 중 I/O 부하 확인6. MTV 준비·시험 이관소스·대상 연결 및 망·스토리지 매핑 구성, 주요 OS·다중 NIC·디스크 유형별 시험 이관, 보정 절차와 소요 시간 기록MTV 버전·이관 방식 확정, 연결·권한·인증서·필요 통신 확인, 시험 결과 기록7. 회차별 본 이관회차별 대상 선정 → 사전 검사 → 이관 및 원본 종료·최종 동기화 → 대상 기동 → NIC·디스크 보정 → 업무 검증동일 서비스 원본·대상의 동시 활성화 방지, 회차별 성공·실패·재작업 기록8. HV#01 전환 판단대상 서비스 검증, 원본 보관 및 복구 조건 확인원본 HV를 재구성해도 되는 시점 명시, 백업 및 데이터 복구 경로 확보9. Worker2 추가각 망 HV#01 재구성 → Worker2 편입, 기존 IP 재사용노드·네트워크·CSI 볼륨 접근 정상 확인, VM 배치·이동 검증 범위 협의10. 완료 기록최종 구성·IP·VM 이관 결과 및 잔여 작업 정리MTV 완료, OS 기동, 디스크·네트워크·업무·백업 정상 확인 및 합의된 검수 항목 충족, 결과서 갱신</a:t>
            </a:r>
          </a:p>
          <a:p xmlns:a="http://schemas.openxmlformats.org/drawingml/2006/main">
            <a:r>
              <a:t>3~5단계는 아래 UPI 절차를 적용하며, Master 상세 구성에 따라 세부 순서를 확정합니다. 작업 명령, 수행일 및 소요 시간은 상세 작업 절차서에 반영합니다.</a:t>
            </a:r>
          </a:p>
          <a:p xmlns:a="http://schemas.openxmlformats.org/drawingml/2006/main">
            <a:r>
              <a:t>폐쇄망 UPI 설치 절차단계작업 내용1. 사전 준비Bastion에 설치 도구와 CLI를 준비하고 DNS·NTP·API/Ingress 로드밸런서 및 네트워크를 구성합니다.2. 폐쇄망 미러 구성필요한 OCP·가상화·MTV·CSI 이미지를 내부 레지스트리에 반입하고 인증서·인증·미러 설정을 준비합니다.3. 설치 설정 생성클러스터 구성과 미러 정보를 반영하여 설치 설정 및 Bootstrap·Master·Worker용 Ignition 파일을 생성합니다.4. Bootstrap 및 노드 설치별도 Bootstrap 서버를 구동하고 대상 노드에 RHCOS와 해당 Ignition을 적용합니다. 각 망 HV#01은 MTV 원본으로 유지하며 최초 설치 대상에서 제외합니다.5. Bootstrap 완료 확인Bootstrap 완료를 확인한 뒤 로드밸런서에서 Bootstrap 대상을 제거하고 임시 서버를 종료·철거합니다.6. 클러스터 완료 검증노드·CSR·ClusterOperator 상태와 API·콘솔·미러 접근을 확인합니다. 이후 가상화·EMC CSI·MTV를 구성합니다.7. MTV 이후 Worker2 편입원본 보관·원복 조건을 확인한 뒤 HV#01에 신규 노드용 설정을 적용하고 Worker2로 편입합니다.설치 방식은 UPI로 확정합니다. Master 실제 노드 수·HA 구성, 초기 Worker1 단독 운영의 지원 조건 및 Bootstrap 자원 배치는 구축 전 확인합니다. OS 설치 디스크와 EMC의 기존 VMFS LUN을 구분하여 원본 데이터를 보존합니다.VM별 사전 점검 및 시험 이관대상 VM의 가상 하드웨어 및 게스트 설정 변경에 대비하여 아래 항목을 조사합니다. 해당 항목의 사용 여부를 먼저 확인하고, 적용할 MTV·OpenShift Virtualization 버전의 지원 조건에 따라 처리합니다. 확인 결과는 미확인 / 해당 없음 / 적합 / 조치 필요로 구분하여 기록합니다.점검 항목사전 조사·준비시험 이관 및 조치 기준OS·커널 및 지원 조합OS·커널·아키텍처와 적용 MTV·가상화 버전의 지원 여부를 확인합니다.주요 OS 유형별 대표 VM을 선정하여 변환·기동 결과를 확인합니다.부팅 방식·VirtIO 드라이버BIOS/UEFI, 부팅 디스크와 드라이버 상태를 기록하고 콘솔·복구 접근을 확보합니다.부팅 및 디스크·NIC 인식 결과를 확인하고 OS별 보정 절차를 작성합니다.디스크·마운트디스크별 용량·용도, Linux fstab·UUID·LVM, Windows 드라이브 문자를 기록합니다.데이터 디스크 누락, 마운트 및 애플리케이션 경로 변경 여부를 확인합니다.NIC·IP·라우팅NIC별 이름·MAC·Port Group·VLAN·IP/Prefix, 게이트웨이·DNS·정적 경로·MTU를 기록하고 설정을 백업합니다.NetworkMap과 실제 대상 NIC를 대조합니다. 이름 또는 순서만으로 서비스망·NAS/BK망을 판단하지 않습니다.암호화·보안 부팅Secure Boot·vTPM·BitLocker·LUKS 사용 여부와 지원 절차를 확인합니다. 복구 키는 승인된 보관 위치에 확보합니다.해당 기능을 사용하는 VM은 적용 버전의 지원 절차를 검증합니다. 보고서에는 비밀 키를 기재하지 않습니다.게스트 도구·에이전트VMware Tools, QEMU Guest Agent, 보안·백업·모니터링 에이전트 현황을 기록합니다.변환 후 도구 처리 결과와 대상 에이전트 설치·동작을 확인합니다. VMware Tools 사전 제거를 일괄 지시하지 않습니다.스냅샷·웜 이관 조건기존 스냅샷, CBT 상태 및 필요한 여유 공간을 확인합니다. Windows 웜 이관은 VSS 등 사전 조건을 확인합니다.사전 복사와 최종 변경분 반영이 정상 완료되는지 확인합니다.라이선스·시간·서비스하드웨어 정보 종속 라이선스, DNS·시간 동기화, 서비스 자동 기동·배치와 외부 연계를 조사합니다.재인증·재등록 필요 여부와 실제 업무 동작을 확인합니다.Worker1·EMC 수용 능력망별 Worker1 단독 운영 기간의 CPU·메모리와 원본·대상 스토리지 동시 사용량을 확인합니다.이관 복사와 운영 I/O가 겹치는 조건에서 응답시간·디스크 지연을 확인하고 회차·동시 이관 수를 결정합니다.시험 대상은 주요 OS, 다중 NIC, 다중 디스크 및 보안·암호화 등 특수 구성을 포함하여 선정합니다. 보정 소요 시간과 허용 기준은 시험 결과를 근거로 회차별 작업계획에 반영합니다.</a:t>
            </a:r>
          </a:p>
          <a:p xmlns:a="http://schemas.openxmlformats.org/drawingml/2006/main">
            <a:r>
              <a:t>VM 인터페이스 변경 대응 절차순서수행 내용1. 사전 기록·백업VM별 NIC 매핑표와 IP·경로 정보를 확보하고 게스트 네트워크 설정을 백업합니다.2. 이관·전환원본 VM 종료와 최종 데이터 반영 이후 대상 VM을 운영망에서 기동합니다. 동일 IP의 원본·대상이 동시에 활성화되지 않도록 합니다.3. 콘솔 확인대상 VM 콘솔에서 NIC 이름·MAC·IP 적용 상태를 확인하고 NetworkMap 및 사전 기록과 대조합니다.4. 설정 보정필요한 경우 이름·MAC에 종속된 설정을 올바른 대상 NIC에 연결합니다. 기존 IP를 유지하는 계획에 따라 IP·게이트웨이·경로를 보정합니다.5. 검증·판단서비스·NAS/BK망별 통신과 업무를 확인합니다. 보정이 지연되는 경우 합의한 원복 기준에 따라 조치합니다.VM별 NIC 매핑표 양식VM명용도기존 NIC / MAC기존 Port Group / VLANIP 상세정보대상 NetworkMap·네트워크이관 후 NIC / MAC기입서비스망기입기입국데터 SGIS 구성 참조기입이관 후 확인기입NAS/BK망기입기입국데터 SGIS 구성 참조기입이관 후 확인게이트웨이, DNS, 정적 경로 및 MTU는 VM별 상세 기록에 함께 보관합니다. 기존 물리 NIC·케이블·스위치 연결은 유지하며, 재구성한 노드의 설정과 VM 망 매핑을 기존 연결 조건에 맞춰 검증합니다.</a:t>
            </a:r>
          </a:p>
          <a:p xmlns:a="http://schemas.openxmlformats.org/drawingml/2006/main">
            <a:r>
              <a:t>이관 방식별 서비스 전환 순서방식작업 순서콜드 이관원본 VM 종료 → 데이터 복사·변환 → 대상 VM 기동 → 네트워크·업무 검증웜 이관원본 운영 중 사전 복사 → 전환 시 원본 VM 종료 → 최종 변경분 복사·변환 → 대상 VM 기동 → 네트워크·업무 검증MTV의 원본 종료 및 대상 기동 동작은 적용 버전과 계획 설정을 사전에 확인합니다. 원본 VM은 전원 종료 상태로 보관하며, 보관·원복 기준 충족 후 정리합니다.회차별 이관 관리표회차예정일망대상 VM방식검증 결과상태시험미정외부 / 내부선정 필요미정미수행계획본 이관 1차미정선정 필요선정 필요미정미수행계획추가 회차미정선정 필요선정 필요미정미수행필요 시 추가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05. 단계별 수행 계획</a:t>
            </a:r>
          </a:p>
          <a:p xmlns:a="http://schemas.openxmlformats.org/drawingml/2006/main">
            <a:r>
              <a:t>단계작업 내용진행 전 확인 / 완료 기준1. 현황·백업 확보HV·VM·네트워크·FC LUN·VMFS 데이터스토어 현황 및 설정 기록, 복구 가능한 백업 확보VM별 OS·NIC·디스크·부팅 설정 기록 및 백업, 콘솔 접근, 망별 HV#01 수용 자원 확인2. VMware VM 집약외부 VM 13식·내부 VM 26식을 각 망 HV#01로 집약VM 이동 방식 확정, 서비스 정상 확인, 나머지 HV의 VM 잔존 여부 확인3. 장비 재구성외부 HV#02 및 내부 선정 HV를 Worker1으로 구성합니다. 외부 Bastion 장비 출처와 내부 잔여 HV 용도는 확인 후 반영합니다.외부 HV 번호별 배정 확정, IP 중복 방지, 재구성 전 데이터·설정 보존4. 신규 인프라 구축재활용 서버로 외부 Master, 내부 Master·Bastion 구성Master 실제 구성·UPI 설치 자원·호환 버전 및 신규 IP 확인5. OpenShift 기반 검증클러스터·가상화 기능·네트워크 구성, EMC CSI 드라이버 설치 및 StorageClass·대상 볼륨 할당 검증Worker1 단독 자원 수용 여부, CSI 볼륨·VM 디스크 기능, 동일 EMC 원본·대상 용량과 이관 중 I/O 부하 확인6. MTV 준비·시험 이관소스·대상 연결 및 망·스토리지 매핑 구성, 주요 OS·다중 NIC·디스크 유형별 시험 이관, 보정 절차와 소요 시간 기록MTV 버전·이관 방식 확정, 연결·권한·인증서·필요 통신 확인, 시험 결과 기록7. 회차별 본 이관회차별 대상 선정 → 사전 검사 → 이관 및 원본 종료·최종 동기화 → 대상 기동 → NIC·디스크 보정 → 업무 검증동일 서비스 원본·대상의 동시 활성화 방지, 회차별 성공·실패·재작업 기록8. HV#01 전환 판단대상 서비스 검증, 원본 보관 및 복구 조건 확인원본 HV를 재구성해도 되는 시점 명시, 백업 및 데이터 복구 경로 확보9. Worker2 추가각 망 HV#01 재구성 → Worker2 편입, 기존 IP 재사용노드·네트워크·CSI 볼륨 접근 정상 확인, VM 배치·이동 검증 범위 협의10. 완료 기록최종 구성·IP·VM 이관 결과 및 잔여 작업 정리MTV 완료, OS 기동, 디스크·네트워크·업무·백업 정상 확인 및 합의된 검수 항목 충족, 결과서 갱신</a:t>
            </a:r>
          </a:p>
          <a:p xmlns:a="http://schemas.openxmlformats.org/drawingml/2006/main">
            <a:r>
              <a:t>3~5단계는 아래 UPI 절차를 적용하며, Master 상세 구성에 따라 세부 순서를 확정합니다. 작업 명령, 수행일 및 소요 시간은 상세 작업 절차서에 반영합니다.</a:t>
            </a:r>
          </a:p>
          <a:p xmlns:a="http://schemas.openxmlformats.org/drawingml/2006/main">
            <a:r>
              <a:t>폐쇄망 UPI 설치 절차단계작업 내용1. 사전 준비Bastion에 설치 도구와 CLI를 준비하고 DNS·NTP·API/Ingress 로드밸런서 및 네트워크를 구성합니다.2. 폐쇄망 미러 구성필요한 OCP·가상화·MTV·CSI 이미지를 내부 레지스트리에 반입하고 인증서·인증·미러 설정을 준비합니다.3. 설치 설정 생성클러스터 구성과 미러 정보를 반영하여 설치 설정 및 Bootstrap·Master·Worker용 Ignition 파일을 생성합니다.4. Bootstrap 및 노드 설치별도 Bootstrap 서버를 구동하고 대상 노드에 RHCOS와 해당 Ignition을 적용합니다. 각 망 HV#01은 MTV 원본으로 유지하며 최초 설치 대상에서 제외합니다.5. Bootstrap 완료 확인Bootstrap 완료를 확인한 뒤 로드밸런서에서 Bootstrap 대상을 제거하고 임시 서버를 종료·철거합니다.6. 클러스터 완료 검증노드·CSR·ClusterOperator 상태와 API·콘솔·미러 접근을 확인합니다. 이후 가상화·EMC CSI·MTV를 구성합니다.7. MTV 이후 Worker2 편입원본 보관·원복 조건을 확인한 뒤 HV#01에 신규 노드용 설정을 적용하고 Worker2로 편입합니다.설치 방식은 UPI로 확정합니다. Master 실제 노드 수·HA 구성, 초기 Worker1 단독 운영의 지원 조건 및 Bootstrap 자원 배치는 구축 전 확인합니다. OS 설치 디스크와 EMC의 기존 VMFS LUN을 구분하여 원본 데이터를 보존합니다.VM별 사전 점검 및 시험 이관대상 VM의 가상 하드웨어 및 게스트 설정 변경에 대비하여 아래 항목을 조사합니다. 해당 항목의 사용 여부를 먼저 확인하고, 적용할 MTV·OpenShift Virtualization 버전의 지원 조건에 따라 처리합니다. 확인 결과는 미확인 / 해당 없음 / 적합 / 조치 필요로 구분하여 기록합니다.점검 항목사전 조사·준비시험 이관 및 조치 기준OS·커널 및 지원 조합OS·커널·아키텍처와 적용 MTV·가상화 버전의 지원 여부를 확인합니다.주요 OS 유형별 대표 VM을 선정하여 변환·기동 결과를 확인합니다.부팅 방식·VirtIO 드라이버BIOS/UEFI, 부팅 디스크와 드라이버 상태를 기록하고 콘솔·복구 접근을 확보합니다.부팅 및 디스크·NIC 인식 결과를 확인하고 OS별 보정 절차를 작성합니다.디스크·마운트디스크별 용량·용도, Linux fstab·UUID·LVM, Windows 드라이브 문자를 기록합니다.데이터 디스크 누락, 마운트 및 애플리케이션 경로 변경 여부를 확인합니다.NIC·IP·라우팅NIC별 이름·MAC·Port Group·VLAN·IP/Prefix, 게이트웨이·DNS·정적 경로·MTU를 기록하고 설정을 백업합니다.NetworkMap과 실제 대상 NIC를 대조합니다. 이름 또는 순서만으로 서비스망·NAS/BK망을 판단하지 않습니다.암호화·보안 부팅Secure Boot·vTPM·BitLocker·LUKS 사용 여부와 지원 절차를 확인합니다. 복구 키는 승인된 보관 위치에 확보합니다.해당 기능을 사용하는 VM은 적용 버전의 지원 절차를 검증합니다. 보고서에는 비밀 키를 기재하지 않습니다.게스트 도구·에이전트VMware Tools, QEMU Guest Agent, 보안·백업·모니터링 에이전트 현황을 기록합니다.변환 후 도구 처리 결과와 대상 에이전트 설치·동작을 확인합니다. VMware Tools 사전 제거를 일괄 지시하지 않습니다.스냅샷·웜 이관 조건기존 스냅샷, CBT 상태 및 필요한 여유 공간을 확인합니다. Windows 웜 이관은 VSS 등 사전 조건을 확인합니다.사전 복사와 최종 변경분 반영이 정상 완료되는지 확인합니다.라이선스·시간·서비스하드웨어 정보 종속 라이선스, DNS·시간 동기화, 서비스 자동 기동·배치와 외부 연계를 조사합니다.재인증·재등록 필요 여부와 실제 업무 동작을 확인합니다.Worker1·EMC 수용 능력망별 Worker1 단독 운영 기간의 CPU·메모리와 원본·대상 스토리지 동시 사용량을 확인합니다.이관 복사와 운영 I/O가 겹치는 조건에서 응답시간·디스크 지연을 확인하고 회차·동시 이관 수를 결정합니다.시험 대상은 주요 OS, 다중 NIC, 다중 디스크 및 보안·암호화 등 특수 구성을 포함하여 선정합니다. 보정 소요 시간과 허용 기준은 시험 결과를 근거로 회차별 작업계획에 반영합니다.</a:t>
            </a:r>
          </a:p>
          <a:p xmlns:a="http://schemas.openxmlformats.org/drawingml/2006/main">
            <a:r>
              <a:t>VM 인터페이스 변경 대응 절차순서수행 내용1. 사전 기록·백업VM별 NIC 매핑표와 IP·경로 정보를 확보하고 게스트 네트워크 설정을 백업합니다.2. 이관·전환원본 VM 종료와 최종 데이터 반영 이후 대상 VM을 운영망에서 기동합니다. 동일 IP의 원본·대상이 동시에 활성화되지 않도록 합니다.3. 콘솔 확인대상 VM 콘솔에서 NIC 이름·MAC·IP 적용 상태를 확인하고 NetworkMap 및 사전 기록과 대조합니다.4. 설정 보정필요한 경우 이름·MAC에 종속된 설정을 올바른 대상 NIC에 연결합니다. 기존 IP를 유지하는 계획에 따라 IP·게이트웨이·경로를 보정합니다.5. 검증·판단서비스·NAS/BK망별 통신과 업무를 확인합니다. 보정이 지연되는 경우 합의한 원복 기준에 따라 조치합니다.VM별 NIC 매핑표 양식VM명용도기존 NIC / MAC기존 Port Group / VLANIP 상세정보대상 NetworkMap·네트워크이관 후 NIC / MAC기입서비스망기입기입국데터 SGIS 구성 참조기입이관 후 확인기입NAS/BK망기입기입국데터 SGIS 구성 참조기입이관 후 확인게이트웨이, DNS, 정적 경로 및 MTU는 VM별 상세 기록에 함께 보관합니다. 기존 물리 NIC·케이블·스위치 연결은 유지하며, 재구성한 노드의 설정과 VM 망 매핑을 기존 연결 조건에 맞춰 검증합니다.</a:t>
            </a:r>
          </a:p>
          <a:p xmlns:a="http://schemas.openxmlformats.org/drawingml/2006/main">
            <a:r>
              <a:t>이관 방식별 서비스 전환 순서방식작업 순서콜드 이관원본 VM 종료 → 데이터 복사·변환 → 대상 VM 기동 → 네트워크·업무 검증웜 이관원본 운영 중 사전 복사 → 전환 시 원본 VM 종료 → 최종 변경분 복사·변환 → 대상 VM 기동 → 네트워크·업무 검증MTV의 원본 종료 및 대상 기동 동작은 적용 버전과 계획 설정을 사전에 확인합니다. 원본 VM은 전원 종료 상태로 보관하며, 보관·원복 기준 충족 후 정리합니다.회차별 이관 관리표회차예정일망대상 VM방식검증 결과상태시험미정외부 / 내부선정 필요미정미수행계획본 이관 1차미정선정 필요선정 필요미정미수행계획추가 회차미정선정 필요선정 필요미정미수행필요 시 추가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05. 단계별 수행 계획</a:t>
            </a:r>
          </a:p>
          <a:p xmlns:a="http://schemas.openxmlformats.org/drawingml/2006/main">
            <a:r>
              <a:t>단계작업 내용진행 전 확인 / 완료 기준1. 현황·백업 확보HV·VM·네트워크·FC LUN·VMFS 데이터스토어 현황 및 설정 기록, 복구 가능한 백업 확보VM별 OS·NIC·디스크·부팅 설정 기록 및 백업, 콘솔 접근, 망별 HV#01 수용 자원 확인2. VMware VM 집약외부 VM 13식·내부 VM 26식을 각 망 HV#01로 집약VM 이동 방식 확정, 서비스 정상 확인, 나머지 HV의 VM 잔존 여부 확인3. 장비 재구성외부 HV#02 및 내부 선정 HV를 Worker1으로 구성합니다. 외부 Bastion 장비 출처와 내부 잔여 HV 용도는 확인 후 반영합니다.외부 HV 번호별 배정 확정, IP 중복 방지, 재구성 전 데이터·설정 보존4. 신규 인프라 구축재활용 서버로 외부 Master, 내부 Master·Bastion 구성Master 실제 구성·UPI 설치 자원·호환 버전 및 신규 IP 확인5. OpenShift 기반 검증클러스터·가상화 기능·네트워크 구성, EMC CSI 드라이버 설치 및 StorageClass·대상 볼륨 할당 검증Worker1 단독 자원 수용 여부, CSI 볼륨·VM 디스크 기능, 동일 EMC 원본·대상 용량과 이관 중 I/O 부하 확인6. MTV 준비·시험 이관소스·대상 연결 및 망·스토리지 매핑 구성, 주요 OS·다중 NIC·디스크 유형별 시험 이관, 보정 절차와 소요 시간 기록MTV 버전·이관 방식 확정, 연결·권한·인증서·필요 통신 확인, 시험 결과 기록7. 회차별 본 이관회차별 대상 선정 → 사전 검사 → 이관 및 원본 종료·최종 동기화 → 대상 기동 → NIC·디스크 보정 → 업무 검증동일 서비스 원본·대상의 동시 활성화 방지, 회차별 성공·실패·재작업 기록8. HV#01 전환 판단대상 서비스 검증, 원본 보관 및 복구 조건 확인원본 HV를 재구성해도 되는 시점 명시, 백업 및 데이터 복구 경로 확보9. Worker2 추가각 망 HV#01 재구성 → Worker2 편입, 기존 IP 재사용노드·네트워크·CSI 볼륨 접근 정상 확인, VM 배치·이동 검증 범위 협의10. 완료 기록최종 구성·IP·VM 이관 결과 및 잔여 작업 정리MTV 완료, OS 기동, 디스크·네트워크·업무·백업 정상 확인 및 합의된 검수 항목 충족, 결과서 갱신</a:t>
            </a:r>
          </a:p>
          <a:p xmlns:a="http://schemas.openxmlformats.org/drawingml/2006/main">
            <a:r>
              <a:t>3~5단계는 아래 UPI 절차를 적용하며, Master 상세 구성에 따라 세부 순서를 확정합니다. 작업 명령, 수행일 및 소요 시간은 상세 작업 절차서에 반영합니다.</a:t>
            </a:r>
          </a:p>
          <a:p xmlns:a="http://schemas.openxmlformats.org/drawingml/2006/main">
            <a:r>
              <a:t>폐쇄망 UPI 설치 절차단계작업 내용1. 사전 준비Bastion에 설치 도구와 CLI를 준비하고 DNS·NTP·API/Ingress 로드밸런서 및 네트워크를 구성합니다.2. 폐쇄망 미러 구성필요한 OCP·가상화·MTV·CSI 이미지를 내부 레지스트리에 반입하고 인증서·인증·미러 설정을 준비합니다.3. 설치 설정 생성클러스터 구성과 미러 정보를 반영하여 설치 설정 및 Bootstrap·Master·Worker용 Ignition 파일을 생성합니다.4. Bootstrap 및 노드 설치별도 Bootstrap 서버를 구동하고 대상 노드에 RHCOS와 해당 Ignition을 적용합니다. 각 망 HV#01은 MTV 원본으로 유지하며 최초 설치 대상에서 제외합니다.5. Bootstrap 완료 확인Bootstrap 완료를 확인한 뒤 로드밸런서에서 Bootstrap 대상을 제거하고 임시 서버를 종료·철거합니다.6. 클러스터 완료 검증노드·CSR·ClusterOperator 상태와 API·콘솔·미러 접근을 확인합니다. 이후 가상화·EMC CSI·MTV를 구성합니다.7. MTV 이후 Worker2 편입원본 보관·원복 조건을 확인한 뒤 HV#01에 신규 노드용 설정을 적용하고 Worker2로 편입합니다.설치 방식은 UPI로 확정합니다. Master 실제 노드 수·HA 구성, 초기 Worker1 단독 운영의 지원 조건 및 Bootstrap 자원 배치는 구축 전 확인합니다. OS 설치 디스크와 EMC의 기존 VMFS LUN을 구분하여 원본 데이터를 보존합니다.VM별 사전 점검 및 시험 이관대상 VM의 가상 하드웨어 및 게스트 설정 변경에 대비하여 아래 항목을 조사합니다. 해당 항목의 사용 여부를 먼저 확인하고, 적용할 MTV·OpenShift Virtualization 버전의 지원 조건에 따라 처리합니다. 확인 결과는 미확인 / 해당 없음 / 적합 / 조치 필요로 구분하여 기록합니다.점검 항목사전 조사·준비시험 이관 및 조치 기준OS·커널 및 지원 조합OS·커널·아키텍처와 적용 MTV·가상화 버전의 지원 여부를 확인합니다.주요 OS 유형별 대표 VM을 선정하여 변환·기동 결과를 확인합니다.부팅 방식·VirtIO 드라이버BIOS/UEFI, 부팅 디스크와 드라이버 상태를 기록하고 콘솔·복구 접근을 확보합니다.부팅 및 디스크·NIC 인식 결과를 확인하고 OS별 보정 절차를 작성합니다.디스크·마운트디스크별 용량·용도, Linux fstab·UUID·LVM, Windows 드라이브 문자를 기록합니다.데이터 디스크 누락, 마운트 및 애플리케이션 경로 변경 여부를 확인합니다.NIC·IP·라우팅NIC별 이름·MAC·Port Group·VLAN·IP/Prefix, 게이트웨이·DNS·정적 경로·MTU를 기록하고 설정을 백업합니다.NetworkMap과 실제 대상 NIC를 대조합니다. 이름 또는 순서만으로 서비스망·NAS/BK망을 판단하지 않습니다.암호화·보안 부팅Secure Boot·vTPM·BitLocker·LUKS 사용 여부와 지원 절차를 확인합니다. 복구 키는 승인된 보관 위치에 확보합니다.해당 기능을 사용하는 VM은 적용 버전의 지원 절차를 검증합니다. 보고서에는 비밀 키를 기재하지 않습니다.게스트 도구·에이전트VMware Tools, QEMU Guest Agent, 보안·백업·모니터링 에이전트 현황을 기록합니다.변환 후 도구 처리 결과와 대상 에이전트 설치·동작을 확인합니다. VMware Tools 사전 제거를 일괄 지시하지 않습니다.스냅샷·웜 이관 조건기존 스냅샷, CBT 상태 및 필요한 여유 공간을 확인합니다. Windows 웜 이관은 VSS 등 사전 조건을 확인합니다.사전 복사와 최종 변경분 반영이 정상 완료되는지 확인합니다.라이선스·시간·서비스하드웨어 정보 종속 라이선스, DNS·시간 동기화, 서비스 자동 기동·배치와 외부 연계를 조사합니다.재인증·재등록 필요 여부와 실제 업무 동작을 확인합니다.Worker1·EMC 수용 능력망별 Worker1 단독 운영 기간의 CPU·메모리와 원본·대상 스토리지 동시 사용량을 확인합니다.이관 복사와 운영 I/O가 겹치는 조건에서 응답시간·디스크 지연을 확인하고 회차·동시 이관 수를 결정합니다.시험 대상은 주요 OS, 다중 NIC, 다중 디스크 및 보안·암호화 등 특수 구성을 포함하여 선정합니다. 보정 소요 시간과 허용 기준은 시험 결과를 근거로 회차별 작업계획에 반영합니다.</a:t>
            </a:r>
          </a:p>
          <a:p xmlns:a="http://schemas.openxmlformats.org/drawingml/2006/main">
            <a:r>
              <a:t>VM 인터페이스 변경 대응 절차순서수행 내용1. 사전 기록·백업VM별 NIC 매핑표와 IP·경로 정보를 확보하고 게스트 네트워크 설정을 백업합니다.2. 이관·전환원본 VM 종료와 최종 데이터 반영 이후 대상 VM을 운영망에서 기동합니다. 동일 IP의 원본·대상이 동시에 활성화되지 않도록 합니다.3. 콘솔 확인대상 VM 콘솔에서 NIC 이름·MAC·IP 적용 상태를 확인하고 NetworkMap 및 사전 기록과 대조합니다.4. 설정 보정필요한 경우 이름·MAC에 종속된 설정을 올바른 대상 NIC에 연결합니다. 기존 IP를 유지하는 계획에 따라 IP·게이트웨이·경로를 보정합니다.5. 검증·판단서비스·NAS/BK망별 통신과 업무를 확인합니다. 보정이 지연되는 경우 합의한 원복 기준에 따라 조치합니다.VM별 NIC 매핑표 양식VM명용도기존 NIC / MAC기존 Port Group / VLANIP 상세정보대상 NetworkMap·네트워크이관 후 NIC / MAC기입서비스망기입기입국데터 SGIS 구성 참조기입이관 후 확인기입NAS/BK망기입기입국데터 SGIS 구성 참조기입이관 후 확인게이트웨이, DNS, 정적 경로 및 MTU는 VM별 상세 기록에 함께 보관합니다. 기존 물리 NIC·케이블·스위치 연결은 유지하며, 재구성한 노드의 설정과 VM 망 매핑을 기존 연결 조건에 맞춰 검증합니다.</a:t>
            </a:r>
          </a:p>
          <a:p xmlns:a="http://schemas.openxmlformats.org/drawingml/2006/main">
            <a:r>
              <a:t>이관 방식별 서비스 전환 순서방식작업 순서콜드 이관원본 VM 종료 → 데이터 복사·변환 → 대상 VM 기동 → 네트워크·업무 검증웜 이관원본 운영 중 사전 복사 → 전환 시 원본 VM 종료 → 최종 변경분 복사·변환 → 대상 VM 기동 → 네트워크·업무 검증MTV의 원본 종료 및 대상 기동 동작은 적용 버전과 계획 설정을 사전에 확인합니다. 원본 VM은 전원 종료 상태로 보관하며, 보관·원복 기준 충족 후 정리합니다.회차별 이관 관리표회차예정일망대상 VM방식검증 결과상태시험미정외부 / 내부선정 필요미정미수행계획본 이관 1차미정선정 필요선정 필요미정미수행계획추가 회차미정선정 필요선정 필요미정미수행필요 시 추가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05. 단계별 수행 계획</a:t>
            </a:r>
          </a:p>
          <a:p xmlns:a="http://schemas.openxmlformats.org/drawingml/2006/main">
            <a:r>
              <a:t>단계작업 내용진행 전 확인 / 완료 기준1. 현황·백업 확보HV·VM·네트워크·FC LUN·VMFS 데이터스토어 현황 및 설정 기록, 복구 가능한 백업 확보VM별 OS·NIC·디스크·부팅 설정 기록 및 백업, 콘솔 접근, 망별 HV#01 수용 자원 확인2. VMware VM 집약외부 VM 13식·내부 VM 26식을 각 망 HV#01로 집약VM 이동 방식 확정, 서비스 정상 확인, 나머지 HV의 VM 잔존 여부 확인3. 장비 재구성외부 HV#02 및 내부 선정 HV를 Worker1으로 구성합니다. 외부 Bastion 장비 출처와 내부 잔여 HV 용도는 확인 후 반영합니다.외부 HV 번호별 배정 확정, IP 중복 방지, 재구성 전 데이터·설정 보존4. 신규 인프라 구축재활용 서버로 외부 Master, 내부 Master·Bastion 구성Master 실제 구성·UPI 설치 자원·호환 버전 및 신규 IP 확인5. OpenShift 기반 검증클러스터·가상화 기능·네트워크 구성, EMC CSI 드라이버 설치 및 StorageClass·대상 볼륨 할당 검증Worker1 단독 자원 수용 여부, CSI 볼륨·VM 디스크 기능, 동일 EMC 원본·대상 용량과 이관 중 I/O 부하 확인6. MTV 준비·시험 이관소스·대상 연결 및 망·스토리지 매핑 구성, 주요 OS·다중 NIC·디스크 유형별 시험 이관, 보정 절차와 소요 시간 기록MTV 버전·이관 방식 확정, 연결·권한·인증서·필요 통신 확인, 시험 결과 기록7. 회차별 본 이관회차별 대상 선정 → 사전 검사 → 이관 및 원본 종료·최종 동기화 → 대상 기동 → NIC·디스크 보정 → 업무 검증동일 서비스 원본·대상의 동시 활성화 방지, 회차별 성공·실패·재작업 기록8. HV#01 전환 판단대상 서비스 검증, 원본 보관 및 복구 조건 확인원본 HV를 재구성해도 되는 시점 명시, 백업 및 데이터 복구 경로 확보9. Worker2 추가각 망 HV#01 재구성 → Worker2 편입, 기존 IP 재사용노드·네트워크·CSI 볼륨 접근 정상 확인, VM 배치·이동 검증 범위 협의10. 완료 기록최종 구성·IP·VM 이관 결과 및 잔여 작업 정리MTV 완료, OS 기동, 디스크·네트워크·업무·백업 정상 확인 및 합의된 검수 항목 충족, 결과서 갱신</a:t>
            </a:r>
          </a:p>
          <a:p xmlns:a="http://schemas.openxmlformats.org/drawingml/2006/main">
            <a:r>
              <a:t>3~5단계는 아래 UPI 절차를 적용하며, Master 상세 구성에 따라 세부 순서를 확정합니다. 작업 명령, 수행일 및 소요 시간은 상세 작업 절차서에 반영합니다.</a:t>
            </a:r>
          </a:p>
          <a:p xmlns:a="http://schemas.openxmlformats.org/drawingml/2006/main">
            <a:r>
              <a:t>폐쇄망 UPI 설치 절차단계작업 내용1. 사전 준비Bastion에 설치 도구와 CLI를 준비하고 DNS·NTP·API/Ingress 로드밸런서 및 네트워크를 구성합니다.2. 폐쇄망 미러 구성필요한 OCP·가상화·MTV·CSI 이미지를 내부 레지스트리에 반입하고 인증서·인증·미러 설정을 준비합니다.3. 설치 설정 생성클러스터 구성과 미러 정보를 반영하여 설치 설정 및 Bootstrap·Master·Worker용 Ignition 파일을 생성합니다.4. Bootstrap 및 노드 설치별도 Bootstrap 서버를 구동하고 대상 노드에 RHCOS와 해당 Ignition을 적용합니다. 각 망 HV#01은 MTV 원본으로 유지하며 최초 설치 대상에서 제외합니다.5. Bootstrap 완료 확인Bootstrap 완료를 확인한 뒤 로드밸런서에서 Bootstrap 대상을 제거하고 임시 서버를 종료·철거합니다.6. 클러스터 완료 검증노드·CSR·ClusterOperator 상태와 API·콘솔·미러 접근을 확인합니다. 이후 가상화·EMC CSI·MTV를 구성합니다.7. MTV 이후 Worker2 편입원본 보관·원복 조건을 확인한 뒤 HV#01에 신규 노드용 설정을 적용하고 Worker2로 편입합니다.설치 방식은 UPI로 확정합니다. Master 실제 노드 수·HA 구성, 초기 Worker1 단독 운영의 지원 조건 및 Bootstrap 자원 배치는 구축 전 확인합니다. OS 설치 디스크와 EMC의 기존 VMFS LUN을 구분하여 원본 데이터를 보존합니다.VM별 사전 점검 및 시험 이관대상 VM의 가상 하드웨어 및 게스트 설정 변경에 대비하여 아래 항목을 조사합니다. 해당 항목의 사용 여부를 먼저 확인하고, 적용할 MTV·OpenShift Virtualization 버전의 지원 조건에 따라 처리합니다. 확인 결과는 미확인 / 해당 없음 / 적합 / 조치 필요로 구분하여 기록합니다.점검 항목사전 조사·준비시험 이관 및 조치 기준OS·커널 및 지원 조합OS·커널·아키텍처와 적용 MTV·가상화 버전의 지원 여부를 확인합니다.주요 OS 유형별 대표 VM을 선정하여 변환·기동 결과를 확인합니다.부팅 방식·VirtIO 드라이버BIOS/UEFI, 부팅 디스크와 드라이버 상태를 기록하고 콘솔·복구 접근을 확보합니다.부팅 및 디스크·NIC 인식 결과를 확인하고 OS별 보정 절차를 작성합니다.디스크·마운트디스크별 용량·용도, Linux fstab·UUID·LVM, Windows 드라이브 문자를 기록합니다.데이터 디스크 누락, 마운트 및 애플리케이션 경로 변경 여부를 확인합니다.NIC·IP·라우팅NIC별 이름·MAC·Port Group·VLAN·IP/Prefix, 게이트웨이·DNS·정적 경로·MTU를 기록하고 설정을 백업합니다.NetworkMap과 실제 대상 NIC를 대조합니다. 이름 또는 순서만으로 서비스망·NAS/BK망을 판단하지 않습니다.암호화·보안 부팅Secure Boot·vTPM·BitLocker·LUKS 사용 여부와 지원 절차를 확인합니다. 복구 키는 승인된 보관 위치에 확보합니다.해당 기능을 사용하는 VM은 적용 버전의 지원 절차를 검증합니다. 보고서에는 비밀 키를 기재하지 않습니다.게스트 도구·에이전트VMware Tools, QEMU Guest Agent, 보안·백업·모니터링 에이전트 현황을 기록합니다.변환 후 도구 처리 결과와 대상 에이전트 설치·동작을 확인합니다. VMware Tools 사전 제거를 일괄 지시하지 않습니다.스냅샷·웜 이관 조건기존 스냅샷, CBT 상태 및 필요한 여유 공간을 확인합니다. Windows 웜 이관은 VSS 등 사전 조건을 확인합니다.사전 복사와 최종 변경분 반영이 정상 완료되는지 확인합니다.라이선스·시간·서비스하드웨어 정보 종속 라이선스, DNS·시간 동기화, 서비스 자동 기동·배치와 외부 연계를 조사합니다.재인증·재등록 필요 여부와 실제 업무 동작을 확인합니다.Worker1·EMC 수용 능력망별 Worker1 단독 운영 기간의 CPU·메모리와 원본·대상 스토리지 동시 사용량을 확인합니다.이관 복사와 운영 I/O가 겹치는 조건에서 응답시간·디스크 지연을 확인하고 회차·동시 이관 수를 결정합니다.시험 대상은 주요 OS, 다중 NIC, 다중 디스크 및 보안·암호화 등 특수 구성을 포함하여 선정합니다. 보정 소요 시간과 허용 기준은 시험 결과를 근거로 회차별 작업계획에 반영합니다.</a:t>
            </a:r>
          </a:p>
          <a:p xmlns:a="http://schemas.openxmlformats.org/drawingml/2006/main">
            <a:r>
              <a:t>VM 인터페이스 변경 대응 절차순서수행 내용1. 사전 기록·백업VM별 NIC 매핑표와 IP·경로 정보를 확보하고 게스트 네트워크 설정을 백업합니다.2. 이관·전환원본 VM 종료와 최종 데이터 반영 이후 대상 VM을 운영망에서 기동합니다. 동일 IP의 원본·대상이 동시에 활성화되지 않도록 합니다.3. 콘솔 확인대상 VM 콘솔에서 NIC 이름·MAC·IP 적용 상태를 확인하고 NetworkMap 및 사전 기록과 대조합니다.4. 설정 보정필요한 경우 이름·MAC에 종속된 설정을 올바른 대상 NIC에 연결합니다. 기존 IP를 유지하는 계획에 따라 IP·게이트웨이·경로를 보정합니다.5. 검증·판단서비스·NAS/BK망별 통신과 업무를 확인합니다. 보정이 지연되는 경우 합의한 원복 기준에 따라 조치합니다.VM별 NIC 매핑표 양식VM명용도기존 NIC / MAC기존 Port Group / VLANIP 상세정보대상 NetworkMap·네트워크이관 후 NIC / MAC기입서비스망기입기입국데터 SGIS 구성 참조기입이관 후 확인기입NAS/BK망기입기입국데터 SGIS 구성 참조기입이관 후 확인게이트웨이, DNS, 정적 경로 및 MTU는 VM별 상세 기록에 함께 보관합니다. 기존 물리 NIC·케이블·스위치 연결은 유지하며, 재구성한 노드의 설정과 VM 망 매핑을 기존 연결 조건에 맞춰 검증합니다.</a:t>
            </a:r>
          </a:p>
          <a:p xmlns:a="http://schemas.openxmlformats.org/drawingml/2006/main">
            <a:r>
              <a:t>이관 방식별 서비스 전환 순서방식작업 순서콜드 이관원본 VM 종료 → 데이터 복사·변환 → 대상 VM 기동 → 네트워크·업무 검증웜 이관원본 운영 중 사전 복사 → 전환 시 원본 VM 종료 → 최종 변경분 복사·변환 → 대상 VM 기동 → 네트워크·업무 검증MTV의 원본 종료 및 대상 기동 동작은 적용 버전과 계획 설정을 사전에 확인합니다. 원본 VM은 전원 종료 상태로 보관하며, 보관·원복 기준 충족 후 정리합니다.회차별 이관 관리표회차예정일망대상 VM방식검증 결과상태시험미정외부 / 내부선정 필요미정미수행계획본 이관 1차미정선정 필요선정 필요미정미수행계획추가 회차미정선정 필요선정 필요미정미수행필요 시 추가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06. 검증 및 복구 계획</a:t>
            </a:r>
          </a:p>
          <a:p xmlns:a="http://schemas.openxmlformats.org/drawingml/2006/main">
            <a:r>
              <a:t>검증 구분확인 항목결과 기록VM 집약VM 수량, CPU·메모리 여유, 디스크·네트워크 접근, 업무 정상 여부작업 전후 비교OpenShift노드 상태, 플랫폼 구성요소 상태, DNS·NTP, 관리 접근구축 결과네트워크망별 IP/VLAN, 게이트웨이·경로, 서비스·관리·NAS/BK 접근연결 확인 결과EMC / CSI원본 FC LUN·VMFS 데이터스토어 정상 유지, CSI 상태, 대상 볼륨 생성·연결·읽기·쓰기, 여유 용량, 필요한 VM 기능스토리지 시험 결과VM 이관부팅, 디스크·NIC, IP, 시간 동기화, 애플리케이션·데이터 정합성VM별 검증표Worker2 추가노드 편입, 네트워크·스토리지, 합의한 VM 배치·이동 검증최종 구성 결과</a:t>
            </a:r>
          </a:p>
          <a:p xmlns:a="http://schemas.openxmlformats.org/drawingml/2006/main">
            <a:r>
              <a:t>VM별 이관 완료 점검표MTV 작업 성공과 OS 부팅만으로 완료 처리하지 않습니다. 아래 항목의 적용 여부와 결과를 기록하고, 사전에 정한 업무 검증 기준을 충족한 후 이관 완료로 판단합니다.검증 항목완료 확인 기준결과 / 근거기동·디스크정상 부팅, 대상 디스크·용량·마운트·드라이브 문자 및 데이터 경로를 확인합니다.미수행NIC·IP·경로NIC별 연결망, IP·게이트웨이·DNS·정적 경로·MTU 및 원본과의 주소 중복 여부를 확인합니다.미수행업무·DB·망 연계서비스 자동 기동, 대표 업무 처리, 기존 DB 접속과 망 연계 송수신을 확인합니다. DB 레거시 풀은 재구성하지 않습니다.미수행시간·라이선스·보안시간 동기화, 라이선스 유효성 및 보안 에이전트 동작을 확인합니다.미수행게스트 에이전트·운영 연동게스트 에이전트, 모니터링 수집·알람 및 적용 가능한 백업 작업의 정상 완료를 확인합니다.미수행성능·정합성이관 전후 응답시간·디스크 지연과 합의한 데이터 정합성 기준을 확인합니다.미수행원본 보관·복구원본 VM 전원 종료·보관 상태와 대상 쓰기 발생 후 복구 방법을 확인합니다.미수행검증 결과는 VM별로 정상 / 조치 필요 / 해당 없음으로 구분하고, 확인 시각·근거·조치 내역을 기록합니다. 미수행 항목을 정상으로 처리하지 않습니다.단계별 원복 방향시점원복 방향선행 조건집약·구축 단계작업 중단 후 확보한 설정·백업을 기준으로 원래 구성을 복구재구성한 장비는 즉시 되돌릴 수 없으므로 복구 매체·절차 확보MTV 이관 후 / HV#01 보존 중대상 VM 정지·격리 후 원본 VM 재가동 여부 판단전환 후 쓰인 데이터의 정합성과 역반영·복구 방법 확인. 원본 재기동 전 데이터 정합성 검증 필요HV#01을 Worker2로 전환한 후백업과 합의한 복구 환경을 사용해 복구원본 VMware 호스트가 없어지는 시점이므로 별도 복구 경로 확보</a:t>
            </a:r>
          </a:p>
          <a:p xmlns:a="http://schemas.openxmlformats.org/drawingml/2006/main">
            <a:r>
              <a:t>원복 판단 기준, 결정 시점, 원본 보관 기간, 데이터 복구 방법 및 최종 검수 조건은 협의 후 확정합니다. HV#01의 Worker2 전환과 원본 LUN·데이터스토어 회수는 별도 판단 항목이며, 원본 공간은 보관·원복 기준 충족 후 회수합니다.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06. 검증 및 복구 계획</a:t>
            </a:r>
          </a:p>
          <a:p xmlns:a="http://schemas.openxmlformats.org/drawingml/2006/main">
            <a:r>
              <a:t>검증 구분확인 항목결과 기록VM 집약VM 수량, CPU·메모리 여유, 디스크·네트워크 접근, 업무 정상 여부작업 전후 비교OpenShift노드 상태, 플랫폼 구성요소 상태, DNS·NTP, 관리 접근구축 결과네트워크망별 IP/VLAN, 게이트웨이·경로, 서비스·관리·NAS/BK 접근연결 확인 결과EMC / CSI원본 FC LUN·VMFS 데이터스토어 정상 유지, CSI 상태, 대상 볼륨 생성·연결·읽기·쓰기, 여유 용량, 필요한 VM 기능스토리지 시험 결과VM 이관부팅, 디스크·NIC, IP, 시간 동기화, 애플리케이션·데이터 정합성VM별 검증표Worker2 추가노드 편입, 네트워크·스토리지, 합의한 VM 배치·이동 검증최종 구성 결과</a:t>
            </a:r>
          </a:p>
          <a:p xmlns:a="http://schemas.openxmlformats.org/drawingml/2006/main">
            <a:r>
              <a:t>VM별 이관 완료 점검표MTV 작업 성공과 OS 부팅만으로 완료 처리하지 않습니다. 아래 항목의 적용 여부와 결과를 기록하고, 사전에 정한 업무 검증 기준을 충족한 후 이관 완료로 판단합니다.검증 항목완료 확인 기준결과 / 근거기동·디스크정상 부팅, 대상 디스크·용량·마운트·드라이브 문자 및 데이터 경로를 확인합니다.미수행NIC·IP·경로NIC별 연결망, IP·게이트웨이·DNS·정적 경로·MTU 및 원본과의 주소 중복 여부를 확인합니다.미수행업무·DB·망 연계서비스 자동 기동, 대표 업무 처리, 기존 DB 접속과 망 연계 송수신을 확인합니다. DB 레거시 풀은 재구성하지 않습니다.미수행시간·라이선스·보안시간 동기화, 라이선스 유효성 및 보안 에이전트 동작을 확인합니다.미수행게스트 에이전트·운영 연동게스트 에이전트, 모니터링 수집·알람 및 적용 가능한 백업 작업의 정상 완료를 확인합니다.미수행성능·정합성이관 전후 응답시간·디스크 지연과 합의한 데이터 정합성 기준을 확인합니다.미수행원본 보관·복구원본 VM 전원 종료·보관 상태와 대상 쓰기 발생 후 복구 방법을 확인합니다.미수행검증 결과는 VM별로 정상 / 조치 필요 / 해당 없음으로 구분하고, 확인 시각·근거·조치 내역을 기록합니다. 미수행 항목을 정상으로 처리하지 않습니다.단계별 원복 방향시점원복 방향선행 조건집약·구축 단계작업 중단 후 확보한 설정·백업을 기준으로 원래 구성을 복구재구성한 장비는 즉시 되돌릴 수 없으므로 복구 매체·절차 확보MTV 이관 후 / HV#01 보존 중대상 VM 정지·격리 후 원본 VM 재가동 여부 판단전환 후 쓰인 데이터의 정합성과 역반영·복구 방법 확인. 원본 재기동 전 데이터 정합성 검증 필요HV#01을 Worker2로 전환한 후백업과 합의한 복구 환경을 사용해 복구원본 VMware 호스트가 없어지는 시점이므로 별도 복구 경로 확보</a:t>
            </a:r>
          </a:p>
          <a:p xmlns:a="http://schemas.openxmlformats.org/drawingml/2006/main">
            <a:r>
              <a:t>원복 판단 기준, 결정 시점, 원본 보관 기간, 데이터 복구 방법 및 최종 검수 조건은 협의 후 확정합니다. HV#01의 Worker2 전환과 원본 LUN·데이터스토어 회수는 별도 판단 항목이며, 원본 공간은 보관·원복 기준 충족 후 회수합니다.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06. 검증 및 복구 계획</a:t>
            </a:r>
          </a:p>
          <a:p xmlns:a="http://schemas.openxmlformats.org/drawingml/2006/main">
            <a:r>
              <a:t>검증 구분확인 항목결과 기록VM 집약VM 수량, CPU·메모리 여유, 디스크·네트워크 접근, 업무 정상 여부작업 전후 비교OpenShift노드 상태, 플랫폼 구성요소 상태, DNS·NTP, 관리 접근구축 결과네트워크망별 IP/VLAN, 게이트웨이·경로, 서비스·관리·NAS/BK 접근연결 확인 결과EMC / CSI원본 FC LUN·VMFS 데이터스토어 정상 유지, CSI 상태, 대상 볼륨 생성·연결·읽기·쓰기, 여유 용량, 필요한 VM 기능스토리지 시험 결과VM 이관부팅, 디스크·NIC, IP, 시간 동기화, 애플리케이션·데이터 정합성VM별 검증표Worker2 추가노드 편입, 네트워크·스토리지, 합의한 VM 배치·이동 검증최종 구성 결과</a:t>
            </a:r>
          </a:p>
          <a:p xmlns:a="http://schemas.openxmlformats.org/drawingml/2006/main">
            <a:r>
              <a:t>VM별 이관 완료 점검표MTV 작업 성공과 OS 부팅만으로 완료 처리하지 않습니다. 아래 항목의 적용 여부와 결과를 기록하고, 사전에 정한 업무 검증 기준을 충족한 후 이관 완료로 판단합니다.검증 항목완료 확인 기준결과 / 근거기동·디스크정상 부팅, 대상 디스크·용량·마운트·드라이브 문자 및 데이터 경로를 확인합니다.미수행NIC·IP·경로NIC별 연결망, IP·게이트웨이·DNS·정적 경로·MTU 및 원본과의 주소 중복 여부를 확인합니다.미수행업무·DB·망 연계서비스 자동 기동, 대표 업무 처리, 기존 DB 접속과 망 연계 송수신을 확인합니다. DB 레거시 풀은 재구성하지 않습니다.미수행시간·라이선스·보안시간 동기화, 라이선스 유효성 및 보안 에이전트 동작을 확인합니다.미수행게스트 에이전트·운영 연동게스트 에이전트, 모니터링 수집·알람 및 적용 가능한 백업 작업의 정상 완료를 확인합니다.미수행성능·정합성이관 전후 응답시간·디스크 지연과 합의한 데이터 정합성 기준을 확인합니다.미수행원본 보관·복구원본 VM 전원 종료·보관 상태와 대상 쓰기 발생 후 복구 방법을 확인합니다.미수행검증 결과는 VM별로 정상 / 조치 필요 / 해당 없음으로 구분하고, 확인 시각·근거·조치 내역을 기록합니다. 미수행 항목을 정상으로 처리하지 않습니다.단계별 원복 방향시점원복 방향선행 조건집약·구축 단계작업 중단 후 확보한 설정·백업을 기준으로 원래 구성을 복구재구성한 장비는 즉시 되돌릴 수 없으므로 복구 매체·절차 확보MTV 이관 후 / HV#01 보존 중대상 VM 정지·격리 후 원본 VM 재가동 여부 판단전환 후 쓰인 데이터의 정합성과 역반영·복구 방법 확인. 원본 재기동 전 데이터 정합성 검증 필요HV#01을 Worker2로 전환한 후백업과 합의한 복구 환경을 사용해 복구원본 VMware 호스트가 없어지는 시점이므로 별도 복구 경로 확보</a:t>
            </a:r>
          </a:p>
          <a:p xmlns:a="http://schemas.openxmlformats.org/drawingml/2006/main">
            <a:r>
              <a:t>원복 판단 기준, 결정 시점, 원본 보관 기간, 데이터 복구 방법 및 최종 검수 조건은 협의 후 확정합니다. HV#01의 Worker2 전환과 원본 LUN·데이터스토어 회수는 별도 판단 항목이며, 원본 공간은 보관·원복 기준 충족 후 회수합니다.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06. 검증 및 복구 계획</a:t>
            </a:r>
          </a:p>
          <a:p xmlns:a="http://schemas.openxmlformats.org/drawingml/2006/main">
            <a:r>
              <a:t>검증 구분확인 항목결과 기록VM 집약VM 수량, CPU·메모리 여유, 디스크·네트워크 접근, 업무 정상 여부작업 전후 비교OpenShift노드 상태, 플랫폼 구성요소 상태, DNS·NTP, 관리 접근구축 결과네트워크망별 IP/VLAN, 게이트웨이·경로, 서비스·관리·NAS/BK 접근연결 확인 결과EMC / CSI원본 FC LUN·VMFS 데이터스토어 정상 유지, CSI 상태, 대상 볼륨 생성·연결·읽기·쓰기, 여유 용량, 필요한 VM 기능스토리지 시험 결과VM 이관부팅, 디스크·NIC, IP, 시간 동기화, 애플리케이션·데이터 정합성VM별 검증표Worker2 추가노드 편입, 네트워크·스토리지, 합의한 VM 배치·이동 검증최종 구성 결과</a:t>
            </a:r>
          </a:p>
          <a:p xmlns:a="http://schemas.openxmlformats.org/drawingml/2006/main">
            <a:r>
              <a:t>VM별 이관 완료 점검표MTV 작업 성공과 OS 부팅만으로 완료 처리하지 않습니다. 아래 항목의 적용 여부와 결과를 기록하고, 사전에 정한 업무 검증 기준을 충족한 후 이관 완료로 판단합니다.검증 항목완료 확인 기준결과 / 근거기동·디스크정상 부팅, 대상 디스크·용량·마운트·드라이브 문자 및 데이터 경로를 확인합니다.미수행NIC·IP·경로NIC별 연결망, IP·게이트웨이·DNS·정적 경로·MTU 및 원본과의 주소 중복 여부를 확인합니다.미수행업무·DB·망 연계서비스 자동 기동, 대표 업무 처리, 기존 DB 접속과 망 연계 송수신을 확인합니다. DB 레거시 풀은 재구성하지 않습니다.미수행시간·라이선스·보안시간 동기화, 라이선스 유효성 및 보안 에이전트 동작을 확인합니다.미수행게스트 에이전트·운영 연동게스트 에이전트, 모니터링 수집·알람 및 적용 가능한 백업 작업의 정상 완료를 확인합니다.미수행성능·정합성이관 전후 응답시간·디스크 지연과 합의한 데이터 정합성 기준을 확인합니다.미수행원본 보관·복구원본 VM 전원 종료·보관 상태와 대상 쓰기 발생 후 복구 방법을 확인합니다.미수행검증 결과는 VM별로 정상 / 조치 필요 / 해당 없음으로 구분하고, 확인 시각·근거·조치 내역을 기록합니다. 미수행 항목을 정상으로 처리하지 않습니다.단계별 원복 방향시점원복 방향선행 조건집약·구축 단계작업 중단 후 확보한 설정·백업을 기준으로 원래 구성을 복구재구성한 장비는 즉시 되돌릴 수 없으므로 복구 매체·절차 확보MTV 이관 후 / HV#01 보존 중대상 VM 정지·격리 후 원본 VM 재가동 여부 판단전환 후 쓰인 데이터의 정합성과 역반영·복구 방법 확인. 원본 재기동 전 데이터 정합성 검증 필요HV#01을 Worker2로 전환한 후백업과 합의한 복구 환경을 사용해 복구원본 VMware 호스트가 없어지는 시점이므로 별도 복구 경로 확보</a:t>
            </a:r>
          </a:p>
          <a:p xmlns:a="http://schemas.openxmlformats.org/drawingml/2006/main">
            <a:r>
              <a:t>원복 판단 기준, 결정 시점, 원본 보관 기간, 데이터 복구 방법 및 최종 검수 조건은 협의 후 확정합니다. HV#01의 Worker2 전환과 원본 LUN·데이터스토어 회수는 별도 판단 항목이며, 원본 공간은 보관·원복 기준 충족 후 회수합니다.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06. 검증 및 복구 계획</a:t>
            </a:r>
          </a:p>
          <a:p xmlns:a="http://schemas.openxmlformats.org/drawingml/2006/main">
            <a:r>
              <a:t>검증 구분확인 항목결과 기록VM 집약VM 수량, CPU·메모리 여유, 디스크·네트워크 접근, 업무 정상 여부작업 전후 비교OpenShift노드 상태, 플랫폼 구성요소 상태, DNS·NTP, 관리 접근구축 결과네트워크망별 IP/VLAN, 게이트웨이·경로, 서비스·관리·NAS/BK 접근연결 확인 결과EMC / CSI원본 FC LUN·VMFS 데이터스토어 정상 유지, CSI 상태, 대상 볼륨 생성·연결·읽기·쓰기, 여유 용량, 필요한 VM 기능스토리지 시험 결과VM 이관부팅, 디스크·NIC, IP, 시간 동기화, 애플리케이션·데이터 정합성VM별 검증표Worker2 추가노드 편입, 네트워크·스토리지, 합의한 VM 배치·이동 검증최종 구성 결과</a:t>
            </a:r>
          </a:p>
          <a:p xmlns:a="http://schemas.openxmlformats.org/drawingml/2006/main">
            <a:r>
              <a:t>VM별 이관 완료 점검표MTV 작업 성공과 OS 부팅만으로 완료 처리하지 않습니다. 아래 항목의 적용 여부와 결과를 기록하고, 사전에 정한 업무 검증 기준을 충족한 후 이관 완료로 판단합니다.검증 항목완료 확인 기준결과 / 근거기동·디스크정상 부팅, 대상 디스크·용량·마운트·드라이브 문자 및 데이터 경로를 확인합니다.미수행NIC·IP·경로NIC별 연결망, IP·게이트웨이·DNS·정적 경로·MTU 및 원본과의 주소 중복 여부를 확인합니다.미수행업무·DB·망 연계서비스 자동 기동, 대표 업무 처리, 기존 DB 접속과 망 연계 송수신을 확인합니다. DB 레거시 풀은 재구성하지 않습니다.미수행시간·라이선스·보안시간 동기화, 라이선스 유효성 및 보안 에이전트 동작을 확인합니다.미수행게스트 에이전트·운영 연동게스트 에이전트, 모니터링 수집·알람 및 적용 가능한 백업 작업의 정상 완료를 확인합니다.미수행성능·정합성이관 전후 응답시간·디스크 지연과 합의한 데이터 정합성 기준을 확인합니다.미수행원본 보관·복구원본 VM 전원 종료·보관 상태와 대상 쓰기 발생 후 복구 방법을 확인합니다.미수행검증 결과는 VM별로 정상 / 조치 필요 / 해당 없음으로 구분하고, 확인 시각·근거·조치 내역을 기록합니다. 미수행 항목을 정상으로 처리하지 않습니다.단계별 원복 방향시점원복 방향선행 조건집약·구축 단계작업 중단 후 확보한 설정·백업을 기준으로 원래 구성을 복구재구성한 장비는 즉시 되돌릴 수 없으므로 복구 매체·절차 확보MTV 이관 후 / HV#01 보존 중대상 VM 정지·격리 후 원본 VM 재가동 여부 판단전환 후 쓰인 데이터의 정합성과 역반영·복구 방법 확인. 원본 재기동 전 데이터 정합성 검증 필요HV#01을 Worker2로 전환한 후백업과 합의한 복구 환경을 사용해 복구원본 VMware 호스트가 없어지는 시점이므로 별도 복구 경로 확보</a:t>
            </a:r>
          </a:p>
          <a:p xmlns:a="http://schemas.openxmlformats.org/drawingml/2006/main">
            <a:r>
              <a:t>원복 판단 기준, 결정 시점, 원본 보관 기간, 데이터 복구 방법 및 최종 검수 조건은 협의 후 확정합니다. HV#01의 Worker2 전환과 원본 LUN·데이터스토어 회수는 별도 판단 항목이며, 원본 공간은 보관·원복 기준 충족 후 회수합니다.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06. 검증 및 복구 계획</a:t>
            </a:r>
          </a:p>
          <a:p xmlns:a="http://schemas.openxmlformats.org/drawingml/2006/main">
            <a:r>
              <a:t>검증 구분확인 항목결과 기록VM 집약VM 수량, CPU·메모리 여유, 디스크·네트워크 접근, 업무 정상 여부작업 전후 비교OpenShift노드 상태, 플랫폼 구성요소 상태, DNS·NTP, 관리 접근구축 결과네트워크망별 IP/VLAN, 게이트웨이·경로, 서비스·관리·NAS/BK 접근연결 확인 결과EMC / CSI원본 FC LUN·VMFS 데이터스토어 정상 유지, CSI 상태, 대상 볼륨 생성·연결·읽기·쓰기, 여유 용량, 필요한 VM 기능스토리지 시험 결과VM 이관부팅, 디스크·NIC, IP, 시간 동기화, 애플리케이션·데이터 정합성VM별 검증표Worker2 추가노드 편입, 네트워크·스토리지, 합의한 VM 배치·이동 검증최종 구성 결과</a:t>
            </a:r>
          </a:p>
          <a:p xmlns:a="http://schemas.openxmlformats.org/drawingml/2006/main">
            <a:r>
              <a:t>VM별 이관 완료 점검표MTV 작업 성공과 OS 부팅만으로 완료 처리하지 않습니다. 아래 항목의 적용 여부와 결과를 기록하고, 사전에 정한 업무 검증 기준을 충족한 후 이관 완료로 판단합니다.검증 항목완료 확인 기준결과 / 근거기동·디스크정상 부팅, 대상 디스크·용량·마운트·드라이브 문자 및 데이터 경로를 확인합니다.미수행NIC·IP·경로NIC별 연결망, IP·게이트웨이·DNS·정적 경로·MTU 및 원본과의 주소 중복 여부를 확인합니다.미수행업무·DB·망 연계서비스 자동 기동, 대표 업무 처리, 기존 DB 접속과 망 연계 송수신을 확인합니다. DB 레거시 풀은 재구성하지 않습니다.미수행시간·라이선스·보안시간 동기화, 라이선스 유효성 및 보안 에이전트 동작을 확인합니다.미수행게스트 에이전트·운영 연동게스트 에이전트, 모니터링 수집·알람 및 적용 가능한 백업 작업의 정상 완료를 확인합니다.미수행성능·정합성이관 전후 응답시간·디스크 지연과 합의한 데이터 정합성 기준을 확인합니다.미수행원본 보관·복구원본 VM 전원 종료·보관 상태와 대상 쓰기 발생 후 복구 방법을 확인합니다.미수행검증 결과는 VM별로 정상 / 조치 필요 / 해당 없음으로 구분하고, 확인 시각·근거·조치 내역을 기록합니다. 미수행 항목을 정상으로 처리하지 않습니다.단계별 원복 방향시점원복 방향선행 조건집약·구축 단계작업 중단 후 확보한 설정·백업을 기준으로 원래 구성을 복구재구성한 장비는 즉시 되돌릴 수 없으므로 복구 매체·절차 확보MTV 이관 후 / HV#01 보존 중대상 VM 정지·격리 후 원본 VM 재가동 여부 판단전환 후 쓰인 데이터의 정합성과 역반영·복구 방법 확인. 원본 재기동 전 데이터 정합성 검증 필요HV#01을 Worker2로 전환한 후백업과 합의한 복구 환경을 사용해 복구원본 VMware 호스트가 없어지는 시점이므로 별도 복구 경로 확보</a:t>
            </a:r>
          </a:p>
          <a:p xmlns:a="http://schemas.openxmlformats.org/drawingml/2006/main">
            <a:r>
              <a:t>원복 판단 기준, 결정 시점, 원본 보관 기간, 데이터 복구 방법 및 최종 검수 조건은 협의 후 확정합니다. HV#01의 Worker2 전환과 원본 LUN·데이터스토어 회수는 별도 판단 항목이며, 원본 공간은 보관·원복 기준 충족 후 회수합니다.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a:p xmlns:a="http://schemas.openxmlformats.org/drawingml/2006/main">
            <a:r>
              <a:t>07. 추진 일정 및 사전 확정 사항</a:t>
            </a:r>
          </a:p>
          <a:p xmlns:a="http://schemas.openxmlformats.org/drawingml/2006/main">
            <a:r>
              <a:t>시기기존 계획현재 기록 상태2026년 10월행정작업·장비 재배치·전기 포설 등 사전 준비예정 — 수행 완료 여부 미확인2026년 11월부터OpenShift 구축·MTV 본 작업 착수착수 예정 — 상세 일자 미정MTV 예상 2개월기존 브리핑 기준 예상 기간적용 범위·회차별 일정·완료일 미확정</a:t>
            </a:r>
          </a:p>
          <a:p xmlns:a="http://schemas.openxmlformats.org/drawingml/2006/main">
            <a:r>
              <a:t>실행 전 확정 항목외부 Bastion 장비 출처, 내부 HV#02·HV#03의 Worker1 배정·잔여 장비 용도 및 실제 장비 식별정보Master 물리·가상 구성과 노드 수·HA 설계, UPI용 Bootstrap 및 로드밸런서 배치망별 HV#01 집약 자원 및 Worker1 단독 수용 자원기존 IP 목록, 신규 IP 할당, NIC·스위치·Bond 및 VM 네트워크 설계EMC 모델·펌웨어, 기존 FC LUN 현황, CSI 지원 조합·연결 방식·StorageClass 및 원본·대상 동시 수용 용량OCP·RHCOS·가상화 기능·MTV·스토리지의 지원 조합 및 실제 하드웨어 호환성시험 대상·회차별 VM, 이관 방식, 검증·원복·원본 보관 및 완료 기준VM별 OS·NIC·디스크·부팅·암호화 현황, OS별 보정 절차·예상 시간, 업무·백업 완료 기준</a:t>
            </a:r>
          </a:p>
          <a:p xmlns:a="http://schemas.openxmlformats.org/drawingml/2006/main">
            <a:r>
              <a:t>본 검토본의 관리 범위는 장비 구성, 네트워크, 스토리지 및 이관 절차입니다.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국데처MTV_작업계획서_V4_빈티지.html. 2026-10-12 기준 검토본입니다.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6aab6e384304af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e618c711b9c414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06f5c4a860a42a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d448248748746d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88f78b9bb79448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4a78987b3694f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9F301C-422A-4C59-AC7B-4B297C257260}"/>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614C490-689E-4C0A-9278-765567689D86}"/>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DA5CC77-3FCD-4432-A64B-DE8E464F858C}"/>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5DCAA8E-1D34-4DE9-B53D-2EC36598CD03}"/>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D703F3F-5F35-4A3B-90DD-29C51344A5C1}"/>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142D543-77C8-4633-8541-8725384CD26A}"/>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CDC2326-9E51-4BFE-B4A6-616EC84C0F17}"/>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E209EDA-CB3C-4E20-ADF1-2891187D22A1}"/>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BD601E-9F61-4F46-A603-E86E18C8D4C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7E0485E-468A-4993-97D4-EB3B3E5C4548}"/>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ba934a4076422b" /><Relationship Type="http://schemas.openxmlformats.org/officeDocument/2006/relationships/slideLayout" Target="/ppt/slideLayouts/slideLayout1.xml" Id="R48520dd13de74543" /><Relationship Type="http://schemas.openxmlformats.org/officeDocument/2006/relationships/slideLayout" Target="/ppt/slideLayouts/slideLayout2.xml" Id="R5168705922864169" /><Relationship Type="http://schemas.openxmlformats.org/officeDocument/2006/relationships/slideLayout" Target="/ppt/slideLayouts/slideLayout3.xml" Id="R9d2da10a83eb4c5e" /><Relationship Type="http://schemas.openxmlformats.org/officeDocument/2006/relationships/slideLayout" Target="/ppt/slideLayouts/slideLayout4.xml" Id="R423076fe6d3e47d6" /><Relationship Type="http://schemas.openxmlformats.org/officeDocument/2006/relationships/slideLayout" Target="/ppt/slideLayouts/slideLayout5.xml" Id="Reeb8b8929e024e62" /><Relationship Type="http://schemas.openxmlformats.org/officeDocument/2006/relationships/slideLayout" Target="/ppt/slideLayouts/slideLayout6.xml" Id="R07104a6824164d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8520dd13de74543"/>
    <p:sldLayoutId xmlns:r="http://schemas.openxmlformats.org/officeDocument/2006/relationships" id="2147483650" r:id="R5168705922864169"/>
    <p:sldLayoutId xmlns:r="http://schemas.openxmlformats.org/officeDocument/2006/relationships" id="2147483651" r:id="R9d2da10a83eb4c5e"/>
    <p:sldLayoutId xmlns:r="http://schemas.openxmlformats.org/officeDocument/2006/relationships" id="2147483652" r:id="R423076fe6d3e47d6"/>
    <p:sldLayoutId xmlns:r="http://schemas.openxmlformats.org/officeDocument/2006/relationships" id="2147483653" r:id="Reeb8b8929e024e62"/>
    <p:sldLayoutId xmlns:r="http://schemas.openxmlformats.org/officeDocument/2006/relationships" id="2147483654" r:id="R07104a6824164d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bd91e05b413454f" /><Relationship Type="http://schemas.openxmlformats.org/officeDocument/2006/relationships/notesSlide" Target="/ppt/notesSlides/notesSlide1.xml" Id="Rdb1b569618324d1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de7057d81404f96" /><Relationship Type="http://schemas.openxmlformats.org/officeDocument/2006/relationships/notesSlide" Target="/ppt/notesSlides/notesSlide2.xml" Id="R48db9ff0920c43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a0bf821ea3b4832" /><Relationship Type="http://schemas.openxmlformats.org/officeDocument/2006/relationships/notesSlide" Target="/ppt/notesSlides/notesSlide3.xml" Id="R95e4f213719d44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912911681f34207" /><Relationship Type="http://schemas.openxmlformats.org/officeDocument/2006/relationships/notesSlide" Target="/ppt/notesSlides/notesSlide4.xml" Id="R3fb48034827144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56acb747c29491d" /><Relationship Type="http://schemas.openxmlformats.org/officeDocument/2006/relationships/notesSlide" Target="/ppt/notesSlides/notesSlide5.xml" Id="R16ea2cedfbad48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f7a9f0e6eb140a0" /><Relationship Type="http://schemas.openxmlformats.org/officeDocument/2006/relationships/notesSlide" Target="/ppt/notesSlides/notesSlide6.xml" Id="R6ae9dd80a20b49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e8a078a71bb4011" /><Relationship Type="http://schemas.openxmlformats.org/officeDocument/2006/relationships/notesSlide" Target="/ppt/notesSlides/notesSlide7.xml" Id="Rbae3a984a345455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2adcc5d5a7d41eb" /><Relationship Type="http://schemas.openxmlformats.org/officeDocument/2006/relationships/notesSlide" Target="/ppt/notesSlides/notesSlide8.xml" Id="R03b9a921f70545f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935913a9aa741d8" /><Relationship Type="http://schemas.openxmlformats.org/officeDocument/2006/relationships/notesSlide" Target="/ppt/notesSlides/notesSlide9.xml" Id="R40e0ffa3137f4bb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c29eae710dc49cf" /><Relationship Type="http://schemas.openxmlformats.org/officeDocument/2006/relationships/notesSlide" Target="/ppt/notesSlides/notesSlide10.xml" Id="R39a325d4afeb49b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3d3baa162b14cd4" /><Relationship Type="http://schemas.openxmlformats.org/officeDocument/2006/relationships/notesSlide" Target="/ppt/notesSlides/notesSlide11.xml" Id="Rc9b1a62979f3433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3a1b25ff8464203" /><Relationship Type="http://schemas.openxmlformats.org/officeDocument/2006/relationships/notesSlide" Target="/ppt/notesSlides/notesSlide12.xml" Id="Rcb86e53738d443b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15edf3083cb4868" /><Relationship Type="http://schemas.openxmlformats.org/officeDocument/2006/relationships/notesSlide" Target="/ppt/notesSlides/notesSlide13.xml" Id="Re5ccac990f81490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62d1479677c4142" /><Relationship Type="http://schemas.openxmlformats.org/officeDocument/2006/relationships/notesSlide" Target="/ppt/notesSlides/notesSlide14.xml" Id="Ra13b136cdee0476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e06590975094047" /><Relationship Type="http://schemas.openxmlformats.org/officeDocument/2006/relationships/notesSlide" Target="/ppt/notesSlides/notesSlide15.xml" Id="R618eae0de14a477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06a5e8f60ec42f2" /><Relationship Type="http://schemas.openxmlformats.org/officeDocument/2006/relationships/notesSlide" Target="/ppt/notesSlides/notesSlide16.xml" Id="Rf366ba80631c4b8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86947877a284860" /><Relationship Type="http://schemas.openxmlformats.org/officeDocument/2006/relationships/notesSlide" Target="/ppt/notesSlides/notesSlide17.xml" Id="Rba9327973bcd4a0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9737c46ad5c4fa5" /><Relationship Type="http://schemas.openxmlformats.org/officeDocument/2006/relationships/notesSlide" Target="/ppt/notesSlides/notesSlide18.xml" Id="R6cc8e6c9075a4ff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6f5849030544f69" /><Relationship Type="http://schemas.openxmlformats.org/officeDocument/2006/relationships/notesSlide" Target="/ppt/notesSlides/notesSlide19.xml" Id="Rdc5e8bc64ad34cb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fb9556ffe724fbb" /><Relationship Type="http://schemas.openxmlformats.org/officeDocument/2006/relationships/notesSlide" Target="/ppt/notesSlides/notesSlide20.xml" Id="R1cea830b710e485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59a1ddebee44702" /><Relationship Type="http://schemas.openxmlformats.org/officeDocument/2006/relationships/notesSlide" Target="/ppt/notesSlides/notesSlide21.xml" Id="Rad93ded0603d4c9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90b5a5337c94d43" /><Relationship Type="http://schemas.openxmlformats.org/officeDocument/2006/relationships/notesSlide" Target="/ppt/notesSlides/notesSlide22.xml" Id="Rc40be1b445c7445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97093e35e4a4a24" /><Relationship Type="http://schemas.openxmlformats.org/officeDocument/2006/relationships/notesSlide" Target="/ppt/notesSlides/notesSlide23.xml" Id="Rb23f4ba9433944a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c8a2d7c13554d5d" /><Relationship Type="http://schemas.openxmlformats.org/officeDocument/2006/relationships/notesSlide" Target="/ppt/notesSlides/notesSlide24.xml" Id="Rb39070efc07443d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a71f84e5a0f249f8" /><Relationship Type="http://schemas.openxmlformats.org/officeDocument/2006/relationships/notesSlide" Target="/ppt/notesSlides/notesSlide25.xml" Id="R2acca63196d54a6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f56a26abdad44cc" /><Relationship Type="http://schemas.openxmlformats.org/officeDocument/2006/relationships/notesSlide" Target="/ppt/notesSlides/notesSlide26.xml" Id="R1cee789012a2446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19ab0419359401b" /><Relationship Type="http://schemas.openxmlformats.org/officeDocument/2006/relationships/notesSlide" Target="/ppt/notesSlides/notesSlide27.xml" Id="Rdde912e807bb419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c55e29d55ad408f" /><Relationship Type="http://schemas.openxmlformats.org/officeDocument/2006/relationships/notesSlide" Target="/ppt/notesSlides/notesSlide28.xml" Id="R5783ba4cf7f642a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834c0cb9b86f4987" /><Relationship Type="http://schemas.openxmlformats.org/officeDocument/2006/relationships/notesSlide" Target="/ppt/notesSlides/notesSlide29.xml" Id="R122bd5f29a6a4cb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56068a45a3c8450f" /><Relationship Type="http://schemas.openxmlformats.org/officeDocument/2006/relationships/notesSlide" Target="/ppt/notesSlides/notesSlide30.xml" Id="R4c8df4b983f04f8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fa5e41aaba6f45da" /><Relationship Type="http://schemas.openxmlformats.org/officeDocument/2006/relationships/notesSlide" Target="/ppt/notesSlides/notesSlide31.xml" Id="R5d43db3885204b0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78bc9a20429a473a" /><Relationship Type="http://schemas.openxmlformats.org/officeDocument/2006/relationships/notesSlide" Target="/ppt/notesSlides/notesSlide32.xml" Id="R6575e0cd651a4a9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5abe674df71a4a00" /><Relationship Type="http://schemas.openxmlformats.org/officeDocument/2006/relationships/notesSlide" Target="/ppt/notesSlides/notesSlide33.xml" Id="R2d2ba560123b431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92f21f2ff4f34e81" /><Relationship Type="http://schemas.openxmlformats.org/officeDocument/2006/relationships/notesSlide" Target="/ppt/notesSlides/notesSlide34.xml" Id="R01768c93fe0d471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89e1fb0db0af4a0b" /><Relationship Type="http://schemas.openxmlformats.org/officeDocument/2006/relationships/notesSlide" Target="/ppt/notesSlides/notesSlide35.xml" Id="Rcb4591ab0ff04e00" /></Relationships>
</file>

<file path=ppt/slides/slide1.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28C2E95-0F90-4216-AB40-CEB109E5902E}"/>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SGIS 오픈플랫폼</a:t>
            </a:r>
          </a:p>
        </p:txBody>
      </p:sp>
      <p:sp>
        <p:nvSpPr>
          <p:cNvPr id="2" name="">
            <a:extLst xmlns:a="http://schemas.openxmlformats.org/drawingml/2006/main">
              <a:ext uri="{FF2B5EF4-FFF2-40B4-BE49-F238E27FC236}">
                <a16:creationId xmlns:a16="http://schemas.microsoft.com/office/drawing/2014/main" id="{3610B449-5103-40B4-B7CE-0B877E82D48D}"/>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3" name="">
            <a:extLst xmlns:a="http://schemas.openxmlformats.org/drawingml/2006/main">
              <a:ext uri="{FF2B5EF4-FFF2-40B4-BE49-F238E27FC236}">
                <a16:creationId xmlns:a16="http://schemas.microsoft.com/office/drawing/2014/main" id="{B99FCC7D-FDB8-4B72-AC01-543130F99814}"/>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01</a:t>
            </a:r>
          </a:p>
        </p:txBody>
      </p:sp>
      <p:sp>
        <p:nvSpPr>
          <p:cNvPr id="4" name="">
            <a:extLst xmlns:a="http://schemas.openxmlformats.org/drawingml/2006/main">
              <a:ext uri="{FF2B5EF4-FFF2-40B4-BE49-F238E27FC236}">
                <a16:creationId xmlns:a16="http://schemas.microsoft.com/office/drawing/2014/main" id="{9C72D604-F6F3-40AC-9CE7-E97AAE3C8F4D}"/>
              </a:ext>
            </a:extLst>
          </p:cNvPr>
          <p:cNvSpPr>
            <a:spLocks xmlns:a="http://schemas.openxmlformats.org/drawingml/2006/main" noGrp="1"/>
          </p:cNvSpPr>
          <p:nvPr/>
        </p:nvSpPr>
        <p:spPr>
          <a:xfrm xmlns:a="http://schemas.openxmlformats.org/drawingml/2006/main">
            <a:off x="762000" y="2428875"/>
            <a:ext cx="13716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5025" b="1">
                <a:solidFill>
                  <a:srgbClr val="352E28"/>
                </a:solidFill>
                <a:latin typeface="Malgun Gothic"/>
                <a:ea typeface="Malgun Gothic"/>
                <a:cs typeface="Malgun Gothic"/>
              </a:defRPr>
            </a:defPPr>
          </a:lstStyle>
          <a:p xmlns:a="http://schemas.openxmlformats.org/drawingml/2006/main">
            <a:pPr algn="l">
              <a:defRPr sz="5025" b="1">
                <a:solidFill>
                  <a:srgbClr val="352E28"/>
                </a:solidFill>
                <a:latin typeface="Malgun Gothic"/>
                <a:ea typeface="Malgun Gothic"/>
                <a:cs typeface="Malgun Gothic"/>
              </a:defRPr>
            </a:pPr>
            <a:r>
              <a:rPr sz="5025" b="1">
                <a:solidFill>
                  <a:srgbClr val="352E28"/>
                </a:solidFill>
                <a:latin typeface="Malgun Gothic"/>
                <a:ea typeface="Malgun Gothic"/>
                <a:cs typeface="Malgun Gothic"/>
              </a:rPr>
              <a:t>인프라 전환 및</a:t>
            </a:r>
          </a:p>
          <a:p xmlns:a="http://schemas.openxmlformats.org/drawingml/2006/main">
            <a:pPr algn="l">
              <a:defRPr sz="5025" b="1">
                <a:solidFill>
                  <a:srgbClr val="352E28"/>
                </a:solidFill>
                <a:latin typeface="Malgun Gothic"/>
                <a:ea typeface="Malgun Gothic"/>
                <a:cs typeface="Malgun Gothic"/>
              </a:defRPr>
            </a:pPr>
            <a:r>
              <a:rPr sz="5025" b="1">
                <a:solidFill>
                  <a:srgbClr val="352E28"/>
                </a:solidFill>
                <a:latin typeface="Malgun Gothic"/>
                <a:ea typeface="Malgun Gothic"/>
                <a:cs typeface="Malgun Gothic"/>
              </a:rPr>
              <a:t>MTV 작업계획서</a:t>
            </a:r>
          </a:p>
        </p:txBody>
      </p:sp>
      <p:sp>
        <p:nvSpPr>
          <p:cNvPr id="5" name="">
            <a:extLst xmlns:a="http://schemas.openxmlformats.org/drawingml/2006/main">
              <a:ext uri="{FF2B5EF4-FFF2-40B4-BE49-F238E27FC236}">
                <a16:creationId xmlns:a16="http://schemas.microsoft.com/office/drawing/2014/main" id="{94ADCA7E-7D44-46FF-BFE6-C37746D6C040}"/>
              </a:ext>
            </a:extLst>
          </p:cNvPr>
          <p:cNvSpPr>
            <a:spLocks xmlns:a="http://schemas.openxmlformats.org/drawingml/2006/main" noGrp="1"/>
          </p:cNvSpPr>
          <p:nvPr/>
        </p:nvSpPr>
        <p:spPr>
          <a:xfrm xmlns:a="http://schemas.openxmlformats.org/drawingml/2006/main">
            <a:off x="790575" y="4905375"/>
            <a:ext cx="9525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250" b="0">
                <a:solidFill>
                  <a:srgbClr val="89613E"/>
                </a:solidFill>
                <a:latin typeface="Malgun Gothic"/>
                <a:ea typeface="Malgun Gothic"/>
                <a:cs typeface="Malgun Gothic"/>
              </a:defRPr>
            </a:defPPr>
          </a:lstStyle>
          <a:p xmlns:a="http://schemas.openxmlformats.org/drawingml/2006/main">
            <a:pPr algn="l">
              <a:defRPr sz="2250" b="0">
                <a:solidFill>
                  <a:srgbClr val="89613E"/>
                </a:solidFill>
                <a:latin typeface="Malgun Gothic"/>
                <a:ea typeface="Malgun Gothic"/>
                <a:cs typeface="Malgun Gothic"/>
              </a:defRPr>
            </a:pPr>
            <a:r>
              <a:rPr sz="2250" b="0">
                <a:solidFill>
                  <a:srgbClr val="89613E"/>
                </a:solidFill>
                <a:latin typeface="Malgun Gothic"/>
                <a:ea typeface="Malgun Gothic"/>
                <a:cs typeface="Malgun Gothic"/>
              </a:rPr>
              <a:t>V4  빈티지 보고서</a:t>
            </a:r>
          </a:p>
        </p:txBody>
      </p:sp>
      <p:sp>
        <p:nvSpPr>
          <p:cNvPr id="6" name="">
            <a:extLst xmlns:a="http://schemas.openxmlformats.org/drawingml/2006/main">
              <a:ext uri="{FF2B5EF4-FFF2-40B4-BE49-F238E27FC236}">
                <a16:creationId xmlns:a16="http://schemas.microsoft.com/office/drawing/2014/main" id="{2390F9F5-6AB1-42FC-B3DF-503CD977ECD7}"/>
              </a:ext>
            </a:extLst>
          </p:cNvPr>
          <p:cNvSpPr>
            <a:spLocks xmlns:a="http://schemas.openxmlformats.org/drawingml/2006/main" noGrp="1"/>
          </p:cNvSpPr>
          <p:nvPr/>
        </p:nvSpPr>
        <p:spPr>
          <a:xfrm xmlns:a="http://schemas.openxmlformats.org/drawingml/2006/main">
            <a:off x="790575" y="6096000"/>
            <a:ext cx="11906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75" b="0">
                <a:solidFill>
                  <a:srgbClr val="75685B"/>
                </a:solidFill>
                <a:latin typeface="Malgun Gothic"/>
                <a:ea typeface="Malgun Gothic"/>
                <a:cs typeface="Malgun Gothic"/>
              </a:defRPr>
            </a:defPPr>
          </a:lstStyle>
          <a:p xmlns:a="http://schemas.openxmlformats.org/drawingml/2006/main">
            <a:pPr algn="l">
              <a:defRPr sz="1875" b="0">
                <a:solidFill>
                  <a:srgbClr val="75685B"/>
                </a:solidFill>
                <a:latin typeface="Malgun Gothic"/>
                <a:ea typeface="Malgun Gothic"/>
                <a:cs typeface="Malgun Gothic"/>
              </a:defRPr>
            </a:pPr>
            <a:r>
              <a:rPr sz="1875" b="0">
                <a:solidFill>
                  <a:srgbClr val="75685B"/>
                </a:solidFill>
                <a:latin typeface="Malgun Gothic"/>
                <a:ea typeface="Malgun Gothic"/>
                <a:cs typeface="Malgun Gothic"/>
              </a:rPr>
              <a:t>2026. 10. 12.</a:t>
            </a:r>
          </a:p>
          <a:p xmlns:a="http://schemas.openxmlformats.org/drawingml/2006/main">
            <a:pPr algn="l">
              <a:defRPr sz="1875" b="0">
                <a:solidFill>
                  <a:srgbClr val="75685B"/>
                </a:solidFill>
                <a:latin typeface="Malgun Gothic"/>
                <a:ea typeface="Malgun Gothic"/>
                <a:cs typeface="Malgun Gothic"/>
              </a:defRPr>
            </a:pPr>
            <a:r>
              <a:rPr sz="1875" b="0">
                <a:solidFill>
                  <a:srgbClr val="75685B"/>
                </a:solidFill>
                <a:latin typeface="Malgun Gothic"/>
                <a:ea typeface="Malgun Gothic"/>
                <a:cs typeface="Malgun Gothic"/>
              </a:rPr>
              <a:t>공무원·사업자 검토용 초안</a:t>
            </a:r>
          </a:p>
        </p:txBody>
      </p:sp>
    </p:spTree>
    <p:extLst>
      <p:ext uri="{BB962C8B-B14F-4D97-AF65-F5344CB8AC3E}">
        <p14:creationId xmlns:p14="http://schemas.microsoft.com/office/powerpoint/2010/main" val="1094587958"/>
      </p:ext>
    </p:extLst>
  </p:cSld>
</p:sld>
</file>

<file path=ppt/slides/slide2.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5AED4AB-9C31-468E-AC27-CAA98079F3E3}"/>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사업 범위 및 운영 현황</a:t>
            </a:r>
          </a:p>
        </p:txBody>
      </p:sp>
      <p:sp>
        <p:nvSpPr>
          <p:cNvPr id="2" name="">
            <a:extLst xmlns:a="http://schemas.openxmlformats.org/drawingml/2006/main">
              <a:ext uri="{FF2B5EF4-FFF2-40B4-BE49-F238E27FC236}">
                <a16:creationId xmlns:a16="http://schemas.microsoft.com/office/drawing/2014/main" id="{768E21C3-B719-4DED-ABB3-7FC3724077D3}"/>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3" name="">
            <a:extLst xmlns:a="http://schemas.openxmlformats.org/drawingml/2006/main">
              <a:ext uri="{FF2B5EF4-FFF2-40B4-BE49-F238E27FC236}">
                <a16:creationId xmlns:a16="http://schemas.microsoft.com/office/drawing/2014/main" id="{71BAF325-32C9-4D7D-BB4B-49A1A2CD952E}"/>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02</a:t>
            </a:r>
          </a:p>
        </p:txBody>
      </p:sp>
      <p:graphicFrame>
        <p:nvGraphicFramePr>
          <p:cNvPr id="4" name="">
            <a:extLst xmlns:a="http://schemas.openxmlformats.org/drawingml/2006/main">
              <a:ext uri="{FF2B5EF4-FFF2-40B4-BE49-F238E27FC236}">
                <a16:creationId xmlns:a16="http://schemas.microsoft.com/office/drawing/2014/main" id="{BABA875F-0BFE-49AF-8F14-750CD8554D6C}"/>
              </a:ext>
            </a:extLst>
          </p:cNvPr>
          <p:cNvGraphicFramePr/>
          <p:nvPr/>
        </p:nvGraphicFramePr>
        <p:xfrm>
          <a:off xmlns:a="http://schemas.openxmlformats.org/drawingml/2006/main" x="609600" y="1714500"/>
          <a:ext xmlns:a="http://schemas.openxmlformats.org/drawingml/2006/main" cx="14020800" cy="5572125"/>
        </p:xfrm>
        <a:graphic xmlns:a="http://schemas.openxmlformats.org/drawingml/2006/main">
          <a:graphicData uri="http://schemas.openxmlformats.org/drawingml/2006/table">
            <a:tbl>
              <a:tblPr/>
              <a:tblGrid>
                <a:gridCol w="2762250"/>
                <a:gridCol w="11258550"/>
              </a:tblGrid>
              <a:tr h="552450">
                <a:tc>
                  <a:txBody>
                    <a:bodyPr lIns="114300" tIns="114300" rIns="114300" bIns="114300"/>
                    <a:lstStyle/>
                    <a:p>
                      <a:r>
                        <a:rPr sz="1875" b="1">
                          <a:solidFill>
                            <a:srgbClr val="352E28"/>
                          </a:solidFill>
                          <a:latin typeface="Malgun Gothic"/>
                          <a:ea typeface="Malgun Gothic"/>
                          <a:cs typeface="Malgun Gothic"/>
                        </a:rPr>
                        <a:t>구분</a:t>
                      </a:r>
                    </a:p>
                  </a:txBody>
                  <a:tcPr marL="91440" marR="91440" marT="45720" marB="45720" anchor="ctr">
                    <a:solidFill>
                      <a:srgbClr val="E9DCC5"/>
                    </a:solidFill>
                  </a:tcPr>
                </a:tc>
                <a:tc>
                  <a:txBody>
                    <a:bodyPr lIns="114300" tIns="114300" rIns="114300" bIns="114300"/>
                    <a:lstStyle/>
                    <a:p>
                      <a:r>
                        <a:rPr sz="1875" b="1">
                          <a:solidFill>
                            <a:srgbClr val="352E28"/>
                          </a:solidFill>
                          <a:latin typeface="Malgun Gothic"/>
                          <a:ea typeface="Malgun Gothic"/>
                          <a:cs typeface="Malgun Gothic"/>
                        </a:rPr>
                        <a:t>현재 구성 / 계획</a:t>
                      </a:r>
                    </a:p>
                  </a:txBody>
                  <a:tcPr marL="91440" marR="91440" marT="45720" marB="45720" anchor="ctr">
                    <a:solidFill>
                      <a:srgbClr val="E9DCC5"/>
                    </a:solidFill>
                  </a:tcPr>
                </a:tc>
              </a:tr>
              <a:tr h="1003935">
                <a:tc>
                  <a:txBody>
                    <a:bodyPr lIns="114300" tIns="114300" rIns="114300" bIns="114300"/>
                    <a:lstStyle/>
                    <a:p>
                      <a:r>
                        <a:rPr sz="1875" b="0">
                          <a:solidFill>
                            <a:srgbClr val="352E28"/>
                          </a:solidFill>
                          <a:latin typeface="Malgun Gothic"/>
                          <a:ea typeface="Malgun Gothic"/>
                          <a:cs typeface="Malgun Gothic"/>
                        </a:rPr>
                        <a:t>외부망</a:t>
                      </a:r>
                    </a:p>
                  </a:txBody>
                  <a:tcPr marL="91440" marR="91440" marT="45720" marB="45720" anchor="ctr">
                    <a:solidFill>
                      <a:srgbClr val="FFFAF0"/>
                    </a:solidFill>
                  </a:tcPr>
                </a:tc>
                <a:tc>
                  <a:txBody>
                    <a:bodyPr lIns="114300" tIns="114300" rIns="114300" bIns="114300"/>
                    <a:lstStyle/>
                    <a:p>
                      <a:r>
                        <a:rPr sz="1875" b="0">
                          <a:solidFill>
                            <a:srgbClr val="352E28"/>
                          </a:solidFill>
                          <a:latin typeface="Malgun Gothic"/>
                          <a:ea typeface="Malgun Gothic"/>
                          <a:cs typeface="Malgun Gothic"/>
                        </a:rPr>
                        <a:t>VMware HV 2대 / VM 13식</a:t>
                      </a:r>
                    </a:p>
                  </a:txBody>
                  <a:tcPr marL="91440" marR="91440" marT="45720" marB="45720" anchor="ctr">
                    <a:solidFill>
                      <a:srgbClr val="FFFAF0"/>
                    </a:solidFill>
                  </a:tcPr>
                </a:tc>
              </a:tr>
              <a:tr h="1003935">
                <a:tc>
                  <a:txBody>
                    <a:bodyPr lIns="114300" tIns="114300" rIns="114300" bIns="114300"/>
                    <a:lstStyle/>
                    <a:p>
                      <a:r>
                        <a:rPr sz="1875" b="0">
                          <a:solidFill>
                            <a:srgbClr val="352E28"/>
                          </a:solidFill>
                          <a:latin typeface="Malgun Gothic"/>
                          <a:ea typeface="Malgun Gothic"/>
                          <a:cs typeface="Malgun Gothic"/>
                        </a:rPr>
                        <a:t>내부망</a:t>
                      </a:r>
                    </a:p>
                  </a:txBody>
                  <a:tcPr marL="91440" marR="91440" marT="45720" marB="45720" anchor="ctr">
                    <a:solidFill>
                      <a:srgbClr val="F7F0E4"/>
                    </a:solidFill>
                  </a:tcPr>
                </a:tc>
                <a:tc>
                  <a:txBody>
                    <a:bodyPr lIns="114300" tIns="114300" rIns="114300" bIns="114300"/>
                    <a:lstStyle/>
                    <a:p>
                      <a:r>
                        <a:rPr sz="1875" b="0">
                          <a:solidFill>
                            <a:srgbClr val="352E28"/>
                          </a:solidFill>
                          <a:latin typeface="Malgun Gothic"/>
                          <a:ea typeface="Malgun Gothic"/>
                          <a:cs typeface="Malgun Gothic"/>
                        </a:rPr>
                        <a:t>VMware HV 3대 / VM 26식</a:t>
                      </a:r>
                    </a:p>
                  </a:txBody>
                  <a:tcPr marL="91440" marR="91440" marT="45720" marB="45720" anchor="ctr">
                    <a:solidFill>
                      <a:srgbClr val="F7F0E4"/>
                    </a:solidFill>
                  </a:tcPr>
                </a:tc>
              </a:tr>
              <a:tr h="1003935">
                <a:tc>
                  <a:txBody>
                    <a:bodyPr lIns="114300" tIns="114300" rIns="114300" bIns="114300"/>
                    <a:lstStyle/>
                    <a:p>
                      <a:r>
                        <a:rPr sz="1875" b="0">
                          <a:solidFill>
                            <a:srgbClr val="352E28"/>
                          </a:solidFill>
                          <a:latin typeface="Malgun Gothic"/>
                          <a:ea typeface="Malgun Gothic"/>
                          <a:cs typeface="Malgun Gothic"/>
                        </a:rPr>
                        <a:t>전환 방식</a:t>
                      </a:r>
                    </a:p>
                  </a:txBody>
                  <a:tcPr marL="91440" marR="91440" marT="45720" marB="45720" anchor="ctr">
                    <a:solidFill>
                      <a:srgbClr val="FFFAF0"/>
                    </a:solidFill>
                  </a:tcPr>
                </a:tc>
                <a:tc>
                  <a:txBody>
                    <a:bodyPr lIns="114300" tIns="114300" rIns="114300" bIns="114300"/>
                    <a:lstStyle/>
                    <a:p>
                      <a:r>
                        <a:rPr sz="1875" b="0">
                          <a:solidFill>
                            <a:srgbClr val="352E28"/>
                          </a:solidFill>
                          <a:latin typeface="Malgun Gothic"/>
                          <a:ea typeface="Malgun Gothic"/>
                          <a:cs typeface="Malgun Gothic"/>
                        </a:rPr>
                        <a:t>Worker1을 먼저 구축하고, MTV 이후 HV#01을 Worker2로 전환합니다.</a:t>
                      </a:r>
                    </a:p>
                  </a:txBody>
                  <a:tcPr marL="91440" marR="91440" marT="45720" marB="45720" anchor="ctr">
                    <a:solidFill>
                      <a:srgbClr val="FFFAF0"/>
                    </a:solidFill>
                  </a:tcPr>
                </a:tc>
              </a:tr>
              <a:tr h="1003935">
                <a:tc>
                  <a:txBody>
                    <a:bodyPr lIns="114300" tIns="114300" rIns="114300" bIns="114300"/>
                    <a:lstStyle/>
                    <a:p>
                      <a:r>
                        <a:rPr sz="1875" b="0">
                          <a:solidFill>
                            <a:srgbClr val="352E28"/>
                          </a:solidFill>
                          <a:latin typeface="Malgun Gothic"/>
                          <a:ea typeface="Malgun Gothic"/>
                          <a:cs typeface="Malgun Gothic"/>
                        </a:rPr>
                        <a:t>스토리지</a:t>
                      </a:r>
                    </a:p>
                  </a:txBody>
                  <a:tcPr marL="91440" marR="91440" marT="45720" marB="45720" anchor="ctr">
                    <a:solidFill>
                      <a:srgbClr val="F7F0E4"/>
                    </a:solidFill>
                  </a:tcPr>
                </a:tc>
                <a:tc>
                  <a:txBody>
                    <a:bodyPr lIns="114300" tIns="114300" rIns="114300" bIns="114300"/>
                    <a:lstStyle/>
                    <a:p>
                      <a:r>
                        <a:rPr sz="1875" b="0">
                          <a:solidFill>
                            <a:srgbClr val="352E28"/>
                          </a:solidFill>
                          <a:latin typeface="Malgun Gothic"/>
                          <a:ea typeface="Malgun Gothic"/>
                          <a:cs typeface="Malgun Gothic"/>
                        </a:rPr>
                        <a:t>동일 EMC를 사용합니다. 원본 VMFS와 CSI 대상 볼륨을 함께 확보합니다.</a:t>
                      </a:r>
                    </a:p>
                  </a:txBody>
                  <a:tcPr marL="91440" marR="91440" marT="45720" marB="45720" anchor="ctr">
                    <a:solidFill>
                      <a:srgbClr val="F7F0E4"/>
                    </a:solidFill>
                  </a:tcPr>
                </a:tc>
              </a:tr>
              <a:tr h="1003935">
                <a:tc>
                  <a:txBody>
                    <a:bodyPr lIns="114300" tIns="114300" rIns="114300" bIns="114300"/>
                    <a:lstStyle/>
                    <a:p>
                      <a:r>
                        <a:rPr sz="1875" b="0">
                          <a:solidFill>
                            <a:srgbClr val="352E28"/>
                          </a:solidFill>
                          <a:latin typeface="Malgun Gothic"/>
                          <a:ea typeface="Malgun Gothic"/>
                          <a:cs typeface="Malgun Gothic"/>
                        </a:rPr>
                        <a:t>범위</a:t>
                      </a:r>
                    </a:p>
                  </a:txBody>
                  <a:tcPr marL="91440" marR="91440" marT="45720" marB="45720" anchor="ctr">
                    <a:solidFill>
                      <a:srgbClr val="FFFAF0"/>
                    </a:solidFill>
                  </a:tcPr>
                </a:tc>
                <a:tc>
                  <a:txBody>
                    <a:bodyPr lIns="114300" tIns="114300" rIns="114300" bIns="114300"/>
                    <a:lstStyle/>
                    <a:p>
                      <a:r>
                        <a:rPr sz="1875" b="0">
                          <a:solidFill>
                            <a:srgbClr val="352E28"/>
                          </a:solidFill>
                          <a:latin typeface="Malgun Gothic"/>
                          <a:ea typeface="Malgun Gothic"/>
                          <a:cs typeface="Malgun Gothic"/>
                        </a:rPr>
                        <a:t>DB 레거시 풀은 재구성 대상에서 제외합니다.</a:t>
                      </a:r>
                    </a:p>
                  </a:txBody>
                  <a:tcPr marL="91440" marR="91440" marT="45720" marB="45720" anchor="ctr">
                    <a:solidFill>
                      <a:srgbClr val="FFFAF0"/>
                    </a:solidFill>
                  </a:tcPr>
                </a:tc>
              </a:tr>
            </a:tbl>
          </a:graphicData>
        </a:graphic>
      </p:graphicFrame>
    </p:spTree>
    <p:extLst>
      <p:ext uri="{BB962C8B-B14F-4D97-AF65-F5344CB8AC3E}">
        <p14:creationId xmlns:p14="http://schemas.microsoft.com/office/powerpoint/2010/main" val="731304349"/>
      </p:ext>
    </p:extLst>
  </p:cSld>
</p:sld>
</file>

<file path=ppt/slides/slide3.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80" name="">
            <a:extLst xmlns:a="http://schemas.openxmlformats.org/drawingml/2006/main">
              <a:ext uri="{FF2B5EF4-FFF2-40B4-BE49-F238E27FC236}">
                <a16:creationId xmlns:a16="http://schemas.microsoft.com/office/drawing/2014/main" id="{3780AEF0-17C9-4ABE-9D0E-02E840504AA2}"/>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외부망 AS-IS / TO-BE</a:t>
            </a:r>
          </a:p>
        </p:txBody>
      </p:sp>
      <p:sp>
        <p:nvSpPr>
          <p:cNvPr id="2" name="">
            <a:extLst xmlns:a="http://schemas.openxmlformats.org/drawingml/2006/main">
              <a:ext uri="{FF2B5EF4-FFF2-40B4-BE49-F238E27FC236}">
                <a16:creationId xmlns:a16="http://schemas.microsoft.com/office/drawing/2014/main" id="{D01E05CE-58A5-4D27-BB4D-01586F6BEE0C}"/>
              </a:ext>
            </a:extLst>
          </p:cNvPr>
          <p:cNvSpPr>
            <a:spLocks xmlns:a="http://schemas.openxmlformats.org/drawingml/2006/main" noGrp="1"/>
          </p:cNvSpPr>
          <p:nvPr/>
        </p:nvSpPr>
        <p:spPr>
          <a:xfrm xmlns:a="http://schemas.openxmlformats.org/drawingml/2006/main">
            <a:off x="628650" y="1114425"/>
            <a:ext cx="1398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75685B"/>
                </a:solidFill>
                <a:latin typeface="Malgun Gothic"/>
                <a:ea typeface="Malgun Gothic"/>
                <a:cs typeface="Malgun Gothic"/>
              </a:defRPr>
            </a:defPPr>
          </a:lstStyle>
          <a:p xmlns:a="http://schemas.openxmlformats.org/drawingml/2006/main">
            <a:pPr algn="l">
              <a:defRPr sz="1575" b="0">
                <a:solidFill>
                  <a:srgbClr val="75685B"/>
                </a:solidFill>
                <a:latin typeface="Malgun Gothic"/>
                <a:ea typeface="Malgun Gothic"/>
                <a:cs typeface="Malgun Gothic"/>
              </a:defRPr>
            </a:pPr>
            <a:r>
              <a:rPr sz="1575" b="0">
                <a:solidFill>
                  <a:srgbClr val="75685B"/>
                </a:solidFill>
                <a:latin typeface="Malgun Gothic"/>
                <a:ea typeface="Malgun Gothic"/>
                <a:cs typeface="Malgun Gothic"/>
              </a:rPr>
              <a:t>Worker1은 선구축하며, 강조한 Worker2는 MTV 이후 재구성합니다.</a:t>
            </a:r>
          </a:p>
        </p:txBody>
      </p:sp>
      <p:sp>
        <p:nvSpPr>
          <p:cNvPr id="3" name="">
            <a:extLst xmlns:a="http://schemas.openxmlformats.org/drawingml/2006/main">
              <a:ext uri="{FF2B5EF4-FFF2-40B4-BE49-F238E27FC236}">
                <a16:creationId xmlns:a16="http://schemas.microsoft.com/office/drawing/2014/main" id="{B98EB6A9-372B-41B4-8EE7-1D4BE598617D}"/>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4" name="">
            <a:extLst xmlns:a="http://schemas.openxmlformats.org/drawingml/2006/main">
              <a:ext uri="{FF2B5EF4-FFF2-40B4-BE49-F238E27FC236}">
                <a16:creationId xmlns:a16="http://schemas.microsoft.com/office/drawing/2014/main" id="{FC7FA091-DA3F-425E-B53A-453370111CAE}"/>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03</a:t>
            </a:r>
          </a:p>
        </p:txBody>
      </p:sp>
      <p:sp>
        <p:nvSpPr>
          <p:cNvPr id="5" name="">
            <a:extLst xmlns:a="http://schemas.openxmlformats.org/drawingml/2006/main">
              <a:ext uri="{FF2B5EF4-FFF2-40B4-BE49-F238E27FC236}">
                <a16:creationId xmlns:a16="http://schemas.microsoft.com/office/drawing/2014/main" id="{54880FF5-C406-40E0-B6D8-92C1667A3E5D}"/>
              </a:ext>
            </a:extLst>
          </p:cNvPr>
          <p:cNvSpPr>
            <a:spLocks xmlns:a="http://schemas.openxmlformats.org/drawingml/2006/main" noGrp="1"/>
          </p:cNvSpPr>
          <p:nvPr/>
        </p:nvSpPr>
        <p:spPr>
          <a:xfrm xmlns:a="http://schemas.openxmlformats.org/drawingml/2006/main">
            <a:off x="872490" y="1691640"/>
            <a:ext cx="5414010" cy="6187440"/>
          </a:xfrm>
          <a:prstGeom xmlns:a="http://schemas.openxmlformats.org/drawingml/2006/main" prst="rect">
            <a:avLst/>
          </a:prstGeom>
          <a:solidFill xmlns:a="http://schemas.openxmlformats.org/drawingml/2006/main">
            <a:srgbClr val="FFFAF0"/>
          </a:solidFill>
          <a:ln xmlns:a="http://schemas.openxmlformats.org/drawingml/2006/main" w="9525">
            <a:solidFill>
              <a:srgbClr val="656566"/>
            </a:solidFill>
            <a:prstDash val="solid"/>
          </a:ln>
        </p:spPr>
      </p:sp>
      <p:sp>
        <p:nvSpPr>
          <p:cNvPr id="6" name="">
            <a:extLst xmlns:a="http://schemas.openxmlformats.org/drawingml/2006/main">
              <a:ext uri="{FF2B5EF4-FFF2-40B4-BE49-F238E27FC236}">
                <a16:creationId xmlns:a16="http://schemas.microsoft.com/office/drawing/2014/main" id="{68231A1C-E18E-4BF6-B9D6-41EC480C9406}"/>
              </a:ext>
            </a:extLst>
          </p:cNvPr>
          <p:cNvSpPr>
            <a:spLocks xmlns:a="http://schemas.openxmlformats.org/drawingml/2006/main" noGrp="1"/>
          </p:cNvSpPr>
          <p:nvPr/>
        </p:nvSpPr>
        <p:spPr>
          <a:xfrm xmlns:a="http://schemas.openxmlformats.org/drawingml/2006/main">
            <a:off x="872490" y="1691640"/>
            <a:ext cx="5414010" cy="541401"/>
          </a:xfrm>
          <a:prstGeom xmlns:a="http://schemas.openxmlformats.org/drawingml/2006/main" prst="rect">
            <a:avLst/>
          </a:prstGeom>
          <a:solidFill xmlns:a="http://schemas.openxmlformats.org/drawingml/2006/main">
            <a:srgbClr val="65656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2269FD5-A30F-4683-A94D-0666ED23AE15}"/>
              </a:ext>
            </a:extLst>
          </p:cNvPr>
          <p:cNvSpPr>
            <a:spLocks xmlns:a="http://schemas.openxmlformats.org/drawingml/2006/main" noGrp="1"/>
          </p:cNvSpPr>
          <p:nvPr/>
        </p:nvSpPr>
        <p:spPr>
          <a:xfrm xmlns:a="http://schemas.openxmlformats.org/drawingml/2006/main">
            <a:off x="6617970" y="1691640"/>
            <a:ext cx="7734300" cy="6187440"/>
          </a:xfrm>
          <a:prstGeom xmlns:a="http://schemas.openxmlformats.org/drawingml/2006/main" prst="rect">
            <a:avLst/>
          </a:prstGeom>
          <a:solidFill xmlns:a="http://schemas.openxmlformats.org/drawingml/2006/main">
            <a:srgbClr val="FFFAF0"/>
          </a:solidFill>
          <a:ln xmlns:a="http://schemas.openxmlformats.org/drawingml/2006/main" w="9525">
            <a:solidFill>
              <a:srgbClr val="89613E"/>
            </a:solidFill>
            <a:prstDash val="solid"/>
          </a:ln>
        </p:spPr>
      </p:sp>
      <p:sp>
        <p:nvSpPr>
          <p:cNvPr id="8" name="">
            <a:extLst xmlns:a="http://schemas.openxmlformats.org/drawingml/2006/main">
              <a:ext uri="{FF2B5EF4-FFF2-40B4-BE49-F238E27FC236}">
                <a16:creationId xmlns:a16="http://schemas.microsoft.com/office/drawing/2014/main" id="{44B15064-D030-47DE-AFF3-E5306DA92982}"/>
              </a:ext>
            </a:extLst>
          </p:cNvPr>
          <p:cNvSpPr>
            <a:spLocks xmlns:a="http://schemas.openxmlformats.org/drawingml/2006/main" noGrp="1"/>
          </p:cNvSpPr>
          <p:nvPr/>
        </p:nvSpPr>
        <p:spPr>
          <a:xfrm xmlns:a="http://schemas.openxmlformats.org/drawingml/2006/main">
            <a:off x="6617970" y="1691640"/>
            <a:ext cx="7734300" cy="541401"/>
          </a:xfrm>
          <a:prstGeom xmlns:a="http://schemas.openxmlformats.org/drawingml/2006/main" prst="rect">
            <a:avLst/>
          </a:prstGeom>
          <a:solidFill xmlns:a="http://schemas.openxmlformats.org/drawingml/2006/main">
            <a:srgbClr val="89613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7EC46C5-E373-4747-B286-11C7ABD97A8D}"/>
              </a:ext>
            </a:extLst>
          </p:cNvPr>
          <p:cNvSpPr>
            <a:spLocks xmlns:a="http://schemas.openxmlformats.org/drawingml/2006/main" noGrp="1"/>
          </p:cNvSpPr>
          <p:nvPr/>
        </p:nvSpPr>
        <p:spPr>
          <a:xfrm xmlns:a="http://schemas.openxmlformats.org/drawingml/2006/main">
            <a:off x="1093470" y="1827657"/>
            <a:ext cx="7429500" cy="331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00" b="1">
                <a:solidFill>
                  <a:srgbClr val="FFFAF0"/>
                </a:solidFill>
                <a:latin typeface="Malgun Gothic"/>
                <a:ea typeface="Malgun Gothic"/>
                <a:cs typeface="Malgun Gothic"/>
              </a:defRPr>
            </a:defPPr>
          </a:lstStyle>
          <a:p xmlns:a="http://schemas.openxmlformats.org/drawingml/2006/main">
            <a:pPr algn="l">
              <a:defRPr sz="1800" b="1">
                <a:solidFill>
                  <a:srgbClr val="FFFAF0"/>
                </a:solidFill>
                <a:latin typeface="Malgun Gothic"/>
                <a:ea typeface="Malgun Gothic"/>
                <a:cs typeface="Malgun Gothic"/>
              </a:defRPr>
            </a:pPr>
            <a:r>
              <a:rPr sz="1800" b="1">
                <a:solidFill>
                  <a:srgbClr val="FFFAF0"/>
                </a:solidFill>
                <a:latin typeface="Malgun Gothic"/>
                <a:ea typeface="Malgun Gothic"/>
                <a:cs typeface="Malgun Gothic"/>
              </a:rPr>
              <a:t>AS-IS 현재 · 외부망 VMware HV 2대</a:t>
            </a:r>
          </a:p>
        </p:txBody>
      </p:sp>
      <p:sp>
        <p:nvSpPr>
          <p:cNvPr id="10" name="">
            <a:extLst xmlns:a="http://schemas.openxmlformats.org/drawingml/2006/main">
              <a:ext uri="{FF2B5EF4-FFF2-40B4-BE49-F238E27FC236}">
                <a16:creationId xmlns:a16="http://schemas.microsoft.com/office/drawing/2014/main" id="{D161F48E-0811-4093-BE78-BB15BFAA7DCF}"/>
              </a:ext>
            </a:extLst>
          </p:cNvPr>
          <p:cNvSpPr>
            <a:spLocks xmlns:a="http://schemas.openxmlformats.org/drawingml/2006/main" noGrp="1"/>
          </p:cNvSpPr>
          <p:nvPr/>
        </p:nvSpPr>
        <p:spPr>
          <a:xfrm xmlns:a="http://schemas.openxmlformats.org/drawingml/2006/main">
            <a:off x="6838950" y="1827657"/>
            <a:ext cx="7429500" cy="331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00" b="1">
                <a:solidFill>
                  <a:srgbClr val="FFFAF0"/>
                </a:solidFill>
                <a:latin typeface="Malgun Gothic"/>
                <a:ea typeface="Malgun Gothic"/>
                <a:cs typeface="Malgun Gothic"/>
              </a:defRPr>
            </a:defPPr>
          </a:lstStyle>
          <a:p xmlns:a="http://schemas.openxmlformats.org/drawingml/2006/main">
            <a:pPr algn="l">
              <a:defRPr sz="1800" b="1">
                <a:solidFill>
                  <a:srgbClr val="FFFAF0"/>
                </a:solidFill>
                <a:latin typeface="Malgun Gothic"/>
                <a:ea typeface="Malgun Gothic"/>
                <a:cs typeface="Malgun Gothic"/>
              </a:defRPr>
            </a:pPr>
            <a:r>
              <a:rPr sz="1800" b="1">
                <a:solidFill>
                  <a:srgbClr val="FFFAF0"/>
                </a:solidFill>
                <a:latin typeface="Malgun Gothic"/>
                <a:ea typeface="Malgun Gothic"/>
                <a:cs typeface="Malgun Gothic"/>
              </a:rPr>
              <a:t>TO-BE 목표 · 외부망 OpenShift / MTV 완료 후</a:t>
            </a:r>
          </a:p>
        </p:txBody>
      </p:sp>
      <p:sp>
        <p:nvSpPr>
          <p:cNvPr id="11" name="">
            <a:extLst xmlns:a="http://schemas.openxmlformats.org/drawingml/2006/main">
              <a:ext uri="{FF2B5EF4-FFF2-40B4-BE49-F238E27FC236}">
                <a16:creationId xmlns:a16="http://schemas.microsoft.com/office/drawing/2014/main" id="{E653BE58-11E7-4878-AD2D-F241F326AC5E}"/>
              </a:ext>
            </a:extLst>
          </p:cNvPr>
          <p:cNvSpPr>
            <a:spLocks xmlns:a="http://schemas.openxmlformats.org/drawingml/2006/main" noGrp="1"/>
          </p:cNvSpPr>
          <p:nvPr/>
        </p:nvSpPr>
        <p:spPr>
          <a:xfrm xmlns:a="http://schemas.openxmlformats.org/drawingml/2006/main">
            <a:off x="1148715" y="2774442"/>
            <a:ext cx="2209800" cy="2508123"/>
          </a:xfrm>
          <a:prstGeom xmlns:a="http://schemas.openxmlformats.org/drawingml/2006/main" prst="rect">
            <a:avLst/>
          </a:prstGeom>
          <a:solidFill xmlns:a="http://schemas.openxmlformats.org/drawingml/2006/main">
            <a:srgbClr val="FFFDF6"/>
          </a:solidFill>
          <a:ln xmlns:a="http://schemas.openxmlformats.org/drawingml/2006/main" w="9525">
            <a:solidFill>
              <a:srgbClr val="9D8B74"/>
            </a:solidFill>
            <a:prstDash val="solid"/>
          </a:ln>
        </p:spPr>
      </p:sp>
      <p:sp>
        <p:nvSpPr>
          <p:cNvPr id="12" name="">
            <a:extLst xmlns:a="http://schemas.openxmlformats.org/drawingml/2006/main">
              <a:ext uri="{FF2B5EF4-FFF2-40B4-BE49-F238E27FC236}">
                <a16:creationId xmlns:a16="http://schemas.microsoft.com/office/drawing/2014/main" id="{815488A4-A8AB-4B28-9063-D558BA6CD43B}"/>
              </a:ext>
            </a:extLst>
          </p:cNvPr>
          <p:cNvSpPr>
            <a:spLocks xmlns:a="http://schemas.openxmlformats.org/drawingml/2006/main" noGrp="1"/>
          </p:cNvSpPr>
          <p:nvPr/>
        </p:nvSpPr>
        <p:spPr>
          <a:xfrm xmlns:a="http://schemas.openxmlformats.org/drawingml/2006/main">
            <a:off x="1348740" y="2897886"/>
            <a:ext cx="18097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725" b="1">
                <a:solidFill>
                  <a:srgbClr val="352E28"/>
                </a:solidFill>
                <a:latin typeface="Malgun Gothic"/>
                <a:ea typeface="Malgun Gothic"/>
                <a:cs typeface="Malgun Gothic"/>
              </a:defRPr>
            </a:defPPr>
          </a:lstStyle>
          <a:p xmlns:a="http://schemas.openxmlformats.org/drawingml/2006/main">
            <a:pPr algn="ctr">
              <a:defRPr sz="1725" b="1">
                <a:solidFill>
                  <a:srgbClr val="352E28"/>
                </a:solidFill>
                <a:latin typeface="Malgun Gothic"/>
                <a:ea typeface="Malgun Gothic"/>
                <a:cs typeface="Malgun Gothic"/>
              </a:defRPr>
            </a:pPr>
            <a:r>
              <a:rPr sz="1725" b="1">
                <a:solidFill>
                  <a:srgbClr val="352E28"/>
                </a:solidFill>
                <a:latin typeface="Malgun Gothic"/>
                <a:ea typeface="Malgun Gothic"/>
                <a:cs typeface="Malgun Gothic"/>
              </a:rPr>
              <a:t>HV#01</a:t>
            </a:r>
          </a:p>
        </p:txBody>
      </p:sp>
      <p:sp>
        <p:nvSpPr>
          <p:cNvPr id="13" name="">
            <a:extLst xmlns:a="http://schemas.openxmlformats.org/drawingml/2006/main">
              <a:ext uri="{FF2B5EF4-FFF2-40B4-BE49-F238E27FC236}">
                <a16:creationId xmlns:a16="http://schemas.microsoft.com/office/drawing/2014/main" id="{8C4523DD-21E6-4884-ACF9-BE174E020F67}"/>
              </a:ext>
            </a:extLst>
          </p:cNvPr>
          <p:cNvSpPr>
            <a:spLocks xmlns:a="http://schemas.openxmlformats.org/drawingml/2006/main" noGrp="1"/>
          </p:cNvSpPr>
          <p:nvPr/>
        </p:nvSpPr>
        <p:spPr>
          <a:xfrm xmlns:a="http://schemas.openxmlformats.org/drawingml/2006/main">
            <a:off x="1348740" y="3234309"/>
            <a:ext cx="18097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0">
                <a:solidFill>
                  <a:srgbClr val="352E28"/>
                </a:solidFill>
                <a:latin typeface="Malgun Gothic"/>
                <a:ea typeface="Malgun Gothic"/>
                <a:cs typeface="Malgun Gothic"/>
              </a:defRPr>
            </a:defPPr>
          </a:lstStyle>
          <a:p xmlns:a="http://schemas.openxmlformats.org/drawingml/2006/main">
            <a:pPr algn="ctr">
              <a:defRPr sz="1425" b="0">
                <a:solidFill>
                  <a:srgbClr val="352E28"/>
                </a:solidFill>
                <a:latin typeface="Malgun Gothic"/>
                <a:ea typeface="Malgun Gothic"/>
                <a:cs typeface="Malgun Gothic"/>
              </a:defRPr>
            </a:pPr>
            <a:r>
              <a:rPr sz="1425" b="0">
                <a:solidFill>
                  <a:srgbClr val="352E28"/>
                </a:solidFill>
                <a:latin typeface="Malgun Gothic"/>
                <a:ea typeface="Malgun Gothic"/>
                <a:cs typeface="Malgun Gothic"/>
              </a:rPr>
              <a:t>VMware</a:t>
            </a:r>
          </a:p>
        </p:txBody>
      </p:sp>
      <p:sp>
        <p:nvSpPr>
          <p:cNvPr id="14" name="">
            <a:extLst xmlns:a="http://schemas.openxmlformats.org/drawingml/2006/main">
              <a:ext uri="{FF2B5EF4-FFF2-40B4-BE49-F238E27FC236}">
                <a16:creationId xmlns:a16="http://schemas.microsoft.com/office/drawing/2014/main" id="{04D48CE0-1F62-4926-9743-0B61E8B10E15}"/>
              </a:ext>
            </a:extLst>
          </p:cNvPr>
          <p:cNvSpPr>
            <a:spLocks xmlns:a="http://schemas.openxmlformats.org/drawingml/2006/main" noGrp="1"/>
          </p:cNvSpPr>
          <p:nvPr/>
        </p:nvSpPr>
        <p:spPr>
          <a:xfrm xmlns:a="http://schemas.openxmlformats.org/drawingml/2006/main">
            <a:off x="1281303" y="3702558"/>
            <a:ext cx="1944624" cy="541401"/>
          </a:xfrm>
          <a:prstGeom xmlns:a="http://schemas.openxmlformats.org/drawingml/2006/main" prst="rect">
            <a:avLst/>
          </a:prstGeom>
          <a:solidFill xmlns:a="http://schemas.openxmlformats.org/drawingml/2006/main">
            <a:srgbClr val="E8DFCC"/>
          </a:solidFill>
          <a:ln xmlns:a="http://schemas.openxmlformats.org/drawingml/2006/main" w="9525">
            <a:solidFill>
              <a:srgbClr val="A38B66"/>
            </a:solidFill>
            <a:prstDash val="solid"/>
          </a:ln>
        </p:spPr>
      </p:sp>
      <p:sp>
        <p:nvSpPr>
          <p:cNvPr id="15" name="">
            <a:extLst xmlns:a="http://schemas.openxmlformats.org/drawingml/2006/main">
              <a:ext uri="{FF2B5EF4-FFF2-40B4-BE49-F238E27FC236}">
                <a16:creationId xmlns:a16="http://schemas.microsoft.com/office/drawing/2014/main" id="{8FB110F5-48F9-4E33-A4E3-8936F0196A83}"/>
              </a:ext>
            </a:extLst>
          </p:cNvPr>
          <p:cNvSpPr>
            <a:spLocks xmlns:a="http://schemas.openxmlformats.org/drawingml/2006/main" noGrp="1"/>
          </p:cNvSpPr>
          <p:nvPr/>
        </p:nvSpPr>
        <p:spPr>
          <a:xfrm xmlns:a="http://schemas.openxmlformats.org/drawingml/2006/main">
            <a:off x="1348740" y="3853053"/>
            <a:ext cx="18097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0">
                <a:solidFill>
                  <a:srgbClr val="352E28"/>
                </a:solidFill>
                <a:latin typeface="Malgun Gothic"/>
                <a:ea typeface="Malgun Gothic"/>
                <a:cs typeface="Malgun Gothic"/>
              </a:defRPr>
            </a:defPPr>
          </a:lstStyle>
          <a:p xmlns:a="http://schemas.openxmlformats.org/drawingml/2006/main">
            <a:pPr algn="ctr">
              <a:defRPr sz="1425" b="0">
                <a:solidFill>
                  <a:srgbClr val="352E28"/>
                </a:solidFill>
                <a:latin typeface="Malgun Gothic"/>
                <a:ea typeface="Malgun Gothic"/>
                <a:cs typeface="Malgun Gothic"/>
              </a:defRPr>
            </a:pPr>
            <a:r>
              <a:rPr sz="1425" b="0">
                <a:solidFill>
                  <a:srgbClr val="352E28"/>
                </a:solidFill>
                <a:latin typeface="Malgun Gothic"/>
                <a:ea typeface="Malgun Gothic"/>
                <a:cs typeface="Malgun Gothic"/>
              </a:rPr>
              <a:t>운영 VM</a:t>
            </a:r>
          </a:p>
        </p:txBody>
      </p:sp>
      <p:sp>
        <p:nvSpPr>
          <p:cNvPr id="16" name="">
            <a:extLst xmlns:a="http://schemas.openxmlformats.org/drawingml/2006/main">
              <a:ext uri="{FF2B5EF4-FFF2-40B4-BE49-F238E27FC236}">
                <a16:creationId xmlns:a16="http://schemas.microsoft.com/office/drawing/2014/main" id="{11A9AA05-D61A-4D53-BA30-A3EC2CB074BD}"/>
              </a:ext>
            </a:extLst>
          </p:cNvPr>
          <p:cNvSpPr>
            <a:spLocks xmlns:a="http://schemas.openxmlformats.org/drawingml/2006/main" noGrp="1"/>
          </p:cNvSpPr>
          <p:nvPr/>
        </p:nvSpPr>
        <p:spPr>
          <a:xfrm xmlns:a="http://schemas.openxmlformats.org/drawingml/2006/main">
            <a:off x="1348740" y="4489323"/>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MTV 원본 유지 예정</a:t>
            </a:r>
          </a:p>
        </p:txBody>
      </p:sp>
      <p:sp>
        <p:nvSpPr>
          <p:cNvPr id="17" name="">
            <a:extLst xmlns:a="http://schemas.openxmlformats.org/drawingml/2006/main">
              <a:ext uri="{FF2B5EF4-FFF2-40B4-BE49-F238E27FC236}">
                <a16:creationId xmlns:a16="http://schemas.microsoft.com/office/drawing/2014/main" id="{86E89159-760B-463E-A3A7-F0C57A355842}"/>
              </a:ext>
            </a:extLst>
          </p:cNvPr>
          <p:cNvSpPr>
            <a:spLocks xmlns:a="http://schemas.openxmlformats.org/drawingml/2006/main" noGrp="1"/>
          </p:cNvSpPr>
          <p:nvPr/>
        </p:nvSpPr>
        <p:spPr>
          <a:xfrm xmlns:a="http://schemas.openxmlformats.org/drawingml/2006/main">
            <a:off x="1348740" y="4732401"/>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이관 후 Worker2</a:t>
            </a:r>
          </a:p>
        </p:txBody>
      </p:sp>
      <p:sp>
        <p:nvSpPr>
          <p:cNvPr id="18" name="">
            <a:extLst xmlns:a="http://schemas.openxmlformats.org/drawingml/2006/main">
              <a:ext uri="{FF2B5EF4-FFF2-40B4-BE49-F238E27FC236}">
                <a16:creationId xmlns:a16="http://schemas.microsoft.com/office/drawing/2014/main" id="{6D886583-46F2-4B5F-89EE-FA0176A53B54}"/>
              </a:ext>
            </a:extLst>
          </p:cNvPr>
          <p:cNvSpPr>
            <a:spLocks xmlns:a="http://schemas.openxmlformats.org/drawingml/2006/main" noGrp="1"/>
          </p:cNvSpPr>
          <p:nvPr/>
        </p:nvSpPr>
        <p:spPr>
          <a:xfrm xmlns:a="http://schemas.openxmlformats.org/drawingml/2006/main">
            <a:off x="2010537" y="5282565"/>
            <a:ext cx="19050" cy="596646"/>
          </a:xfrm>
          <a:prstGeom xmlns:a="http://schemas.openxmlformats.org/drawingml/2006/main" prst="rect">
            <a:avLst/>
          </a:prstGeom>
          <a:solidFill xmlns:a="http://schemas.openxmlformats.org/drawingml/2006/main">
            <a:srgbClr val="556C8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AD37A7A-9B2C-4DAA-BBC7-B2709C7B6661}"/>
              </a:ext>
            </a:extLst>
          </p:cNvPr>
          <p:cNvSpPr>
            <a:spLocks xmlns:a="http://schemas.openxmlformats.org/drawingml/2006/main" noGrp="1"/>
          </p:cNvSpPr>
          <p:nvPr/>
        </p:nvSpPr>
        <p:spPr>
          <a:xfrm xmlns:a="http://schemas.openxmlformats.org/drawingml/2006/main">
            <a:off x="2253615" y="5282565"/>
            <a:ext cx="19050" cy="1126998"/>
          </a:xfrm>
          <a:prstGeom xmlns:a="http://schemas.openxmlformats.org/drawingml/2006/main" prst="rect">
            <a:avLst/>
          </a:prstGeom>
          <a:solidFill xmlns:a="http://schemas.openxmlformats.org/drawingml/2006/main">
            <a:srgbClr val="84718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F5E28EA-0FAA-44AF-8E66-C91EFED4BB75}"/>
              </a:ext>
            </a:extLst>
          </p:cNvPr>
          <p:cNvSpPr>
            <a:spLocks xmlns:a="http://schemas.openxmlformats.org/drawingml/2006/main" noGrp="1"/>
          </p:cNvSpPr>
          <p:nvPr/>
        </p:nvSpPr>
        <p:spPr>
          <a:xfrm xmlns:a="http://schemas.openxmlformats.org/drawingml/2006/main">
            <a:off x="2496693" y="5282565"/>
            <a:ext cx="19050" cy="1657350"/>
          </a:xfrm>
          <a:prstGeom xmlns:a="http://schemas.openxmlformats.org/drawingml/2006/main" prst="rect">
            <a:avLst/>
          </a:prstGeom>
          <a:solidFill xmlns:a="http://schemas.openxmlformats.org/drawingml/2006/main">
            <a:srgbClr val="A8743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C174AB1-9598-4818-A4B3-F2EAADEB18C5}"/>
              </a:ext>
            </a:extLst>
          </p:cNvPr>
          <p:cNvSpPr>
            <a:spLocks xmlns:a="http://schemas.openxmlformats.org/drawingml/2006/main" noGrp="1"/>
          </p:cNvSpPr>
          <p:nvPr/>
        </p:nvSpPr>
        <p:spPr>
          <a:xfrm xmlns:a="http://schemas.openxmlformats.org/drawingml/2006/main">
            <a:off x="3667887" y="2774442"/>
            <a:ext cx="2209800" cy="2508123"/>
          </a:xfrm>
          <a:prstGeom xmlns:a="http://schemas.openxmlformats.org/drawingml/2006/main" prst="rect">
            <a:avLst/>
          </a:prstGeom>
          <a:solidFill xmlns:a="http://schemas.openxmlformats.org/drawingml/2006/main">
            <a:srgbClr val="FFFDF6"/>
          </a:solidFill>
          <a:ln xmlns:a="http://schemas.openxmlformats.org/drawingml/2006/main" w="9525">
            <a:solidFill>
              <a:srgbClr val="9D8B74"/>
            </a:solidFill>
            <a:prstDash val="solid"/>
          </a:ln>
        </p:spPr>
      </p:sp>
      <p:sp>
        <p:nvSpPr>
          <p:cNvPr id="22" name="">
            <a:extLst xmlns:a="http://schemas.openxmlformats.org/drawingml/2006/main">
              <a:ext uri="{FF2B5EF4-FFF2-40B4-BE49-F238E27FC236}">
                <a16:creationId xmlns:a16="http://schemas.microsoft.com/office/drawing/2014/main" id="{E13340EE-E291-48EB-B9D8-E485ABBD95E2}"/>
              </a:ext>
            </a:extLst>
          </p:cNvPr>
          <p:cNvSpPr>
            <a:spLocks xmlns:a="http://schemas.openxmlformats.org/drawingml/2006/main" noGrp="1"/>
          </p:cNvSpPr>
          <p:nvPr/>
        </p:nvSpPr>
        <p:spPr>
          <a:xfrm xmlns:a="http://schemas.openxmlformats.org/drawingml/2006/main">
            <a:off x="3867912" y="2897886"/>
            <a:ext cx="18097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725" b="1">
                <a:solidFill>
                  <a:srgbClr val="352E28"/>
                </a:solidFill>
                <a:latin typeface="Malgun Gothic"/>
                <a:ea typeface="Malgun Gothic"/>
                <a:cs typeface="Malgun Gothic"/>
              </a:defRPr>
            </a:defPPr>
          </a:lstStyle>
          <a:p xmlns:a="http://schemas.openxmlformats.org/drawingml/2006/main">
            <a:pPr algn="ctr">
              <a:defRPr sz="1725" b="1">
                <a:solidFill>
                  <a:srgbClr val="352E28"/>
                </a:solidFill>
                <a:latin typeface="Malgun Gothic"/>
                <a:ea typeface="Malgun Gothic"/>
                <a:cs typeface="Malgun Gothic"/>
              </a:defRPr>
            </a:pPr>
            <a:r>
              <a:rPr sz="1725" b="1">
                <a:solidFill>
                  <a:srgbClr val="352E28"/>
                </a:solidFill>
                <a:latin typeface="Malgun Gothic"/>
                <a:ea typeface="Malgun Gothic"/>
                <a:cs typeface="Malgun Gothic"/>
              </a:rPr>
              <a:t>HV#02</a:t>
            </a:r>
          </a:p>
        </p:txBody>
      </p:sp>
      <p:sp>
        <p:nvSpPr>
          <p:cNvPr id="23" name="">
            <a:extLst xmlns:a="http://schemas.openxmlformats.org/drawingml/2006/main">
              <a:ext uri="{FF2B5EF4-FFF2-40B4-BE49-F238E27FC236}">
                <a16:creationId xmlns:a16="http://schemas.microsoft.com/office/drawing/2014/main" id="{F9FE85FB-B3A8-4495-B594-ADBE1BC63C39}"/>
              </a:ext>
            </a:extLst>
          </p:cNvPr>
          <p:cNvSpPr>
            <a:spLocks xmlns:a="http://schemas.openxmlformats.org/drawingml/2006/main" noGrp="1"/>
          </p:cNvSpPr>
          <p:nvPr/>
        </p:nvSpPr>
        <p:spPr>
          <a:xfrm xmlns:a="http://schemas.openxmlformats.org/drawingml/2006/main">
            <a:off x="3867912" y="3234309"/>
            <a:ext cx="18097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0">
                <a:solidFill>
                  <a:srgbClr val="352E28"/>
                </a:solidFill>
                <a:latin typeface="Malgun Gothic"/>
                <a:ea typeface="Malgun Gothic"/>
                <a:cs typeface="Malgun Gothic"/>
              </a:defRPr>
            </a:defPPr>
          </a:lstStyle>
          <a:p xmlns:a="http://schemas.openxmlformats.org/drawingml/2006/main">
            <a:pPr algn="ctr">
              <a:defRPr sz="1425" b="0">
                <a:solidFill>
                  <a:srgbClr val="352E28"/>
                </a:solidFill>
                <a:latin typeface="Malgun Gothic"/>
                <a:ea typeface="Malgun Gothic"/>
                <a:cs typeface="Malgun Gothic"/>
              </a:defRPr>
            </a:pPr>
            <a:r>
              <a:rPr sz="1425" b="0">
                <a:solidFill>
                  <a:srgbClr val="352E28"/>
                </a:solidFill>
                <a:latin typeface="Malgun Gothic"/>
                <a:ea typeface="Malgun Gothic"/>
                <a:cs typeface="Malgun Gothic"/>
              </a:rPr>
              <a:t>VMware</a:t>
            </a:r>
          </a:p>
        </p:txBody>
      </p:sp>
      <p:sp>
        <p:nvSpPr>
          <p:cNvPr id="24" name="">
            <a:extLst xmlns:a="http://schemas.openxmlformats.org/drawingml/2006/main">
              <a:ext uri="{FF2B5EF4-FFF2-40B4-BE49-F238E27FC236}">
                <a16:creationId xmlns:a16="http://schemas.microsoft.com/office/drawing/2014/main" id="{E5193283-83F3-4EAC-9F2E-7A4AA407E6CB}"/>
              </a:ext>
            </a:extLst>
          </p:cNvPr>
          <p:cNvSpPr>
            <a:spLocks xmlns:a="http://schemas.openxmlformats.org/drawingml/2006/main" noGrp="1"/>
          </p:cNvSpPr>
          <p:nvPr/>
        </p:nvSpPr>
        <p:spPr>
          <a:xfrm xmlns:a="http://schemas.openxmlformats.org/drawingml/2006/main">
            <a:off x="3800475" y="3702558"/>
            <a:ext cx="1944624" cy="541401"/>
          </a:xfrm>
          <a:prstGeom xmlns:a="http://schemas.openxmlformats.org/drawingml/2006/main" prst="rect">
            <a:avLst/>
          </a:prstGeom>
          <a:solidFill xmlns:a="http://schemas.openxmlformats.org/drawingml/2006/main">
            <a:srgbClr val="E8DFCC"/>
          </a:solidFill>
          <a:ln xmlns:a="http://schemas.openxmlformats.org/drawingml/2006/main" w="9525">
            <a:solidFill>
              <a:srgbClr val="A38B66"/>
            </a:solidFill>
            <a:prstDash val="solid"/>
          </a:ln>
        </p:spPr>
      </p:sp>
      <p:sp>
        <p:nvSpPr>
          <p:cNvPr id="25" name="">
            <a:extLst xmlns:a="http://schemas.openxmlformats.org/drawingml/2006/main">
              <a:ext uri="{FF2B5EF4-FFF2-40B4-BE49-F238E27FC236}">
                <a16:creationId xmlns:a16="http://schemas.microsoft.com/office/drawing/2014/main" id="{C768DFED-A031-4E9C-9402-A9E6491117FA}"/>
              </a:ext>
            </a:extLst>
          </p:cNvPr>
          <p:cNvSpPr>
            <a:spLocks xmlns:a="http://schemas.openxmlformats.org/drawingml/2006/main" noGrp="1"/>
          </p:cNvSpPr>
          <p:nvPr/>
        </p:nvSpPr>
        <p:spPr>
          <a:xfrm xmlns:a="http://schemas.openxmlformats.org/drawingml/2006/main">
            <a:off x="3867912" y="3853053"/>
            <a:ext cx="18097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0">
                <a:solidFill>
                  <a:srgbClr val="352E28"/>
                </a:solidFill>
                <a:latin typeface="Malgun Gothic"/>
                <a:ea typeface="Malgun Gothic"/>
                <a:cs typeface="Malgun Gothic"/>
              </a:defRPr>
            </a:defPPr>
          </a:lstStyle>
          <a:p xmlns:a="http://schemas.openxmlformats.org/drawingml/2006/main">
            <a:pPr algn="ctr">
              <a:defRPr sz="1425" b="0">
                <a:solidFill>
                  <a:srgbClr val="352E28"/>
                </a:solidFill>
                <a:latin typeface="Malgun Gothic"/>
                <a:ea typeface="Malgun Gothic"/>
                <a:cs typeface="Malgun Gothic"/>
              </a:defRPr>
            </a:pPr>
            <a:r>
              <a:rPr sz="1425" b="0">
                <a:solidFill>
                  <a:srgbClr val="352E28"/>
                </a:solidFill>
                <a:latin typeface="Malgun Gothic"/>
                <a:ea typeface="Malgun Gothic"/>
                <a:cs typeface="Malgun Gothic"/>
              </a:rPr>
              <a:t>운영 VM</a:t>
            </a:r>
          </a:p>
        </p:txBody>
      </p:sp>
      <p:sp>
        <p:nvSpPr>
          <p:cNvPr id="26" name="">
            <a:extLst xmlns:a="http://schemas.openxmlformats.org/drawingml/2006/main">
              <a:ext uri="{FF2B5EF4-FFF2-40B4-BE49-F238E27FC236}">
                <a16:creationId xmlns:a16="http://schemas.microsoft.com/office/drawing/2014/main" id="{17727110-B44F-4D69-89A4-55725E6936F1}"/>
              </a:ext>
            </a:extLst>
          </p:cNvPr>
          <p:cNvSpPr>
            <a:spLocks xmlns:a="http://schemas.openxmlformats.org/drawingml/2006/main" noGrp="1"/>
          </p:cNvSpPr>
          <p:nvPr/>
        </p:nvSpPr>
        <p:spPr>
          <a:xfrm xmlns:a="http://schemas.openxmlformats.org/drawingml/2006/main">
            <a:off x="4529709" y="5282565"/>
            <a:ext cx="19050" cy="596646"/>
          </a:xfrm>
          <a:prstGeom xmlns:a="http://schemas.openxmlformats.org/drawingml/2006/main" prst="rect">
            <a:avLst/>
          </a:prstGeom>
          <a:solidFill xmlns:a="http://schemas.openxmlformats.org/drawingml/2006/main">
            <a:srgbClr val="556C8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B6D866D-3318-407C-98E3-0CFFA3D97E24}"/>
              </a:ext>
            </a:extLst>
          </p:cNvPr>
          <p:cNvSpPr>
            <a:spLocks xmlns:a="http://schemas.openxmlformats.org/drawingml/2006/main" noGrp="1"/>
          </p:cNvSpPr>
          <p:nvPr/>
        </p:nvSpPr>
        <p:spPr>
          <a:xfrm xmlns:a="http://schemas.openxmlformats.org/drawingml/2006/main">
            <a:off x="4772787" y="5282565"/>
            <a:ext cx="19050" cy="1126998"/>
          </a:xfrm>
          <a:prstGeom xmlns:a="http://schemas.openxmlformats.org/drawingml/2006/main" prst="rect">
            <a:avLst/>
          </a:prstGeom>
          <a:solidFill xmlns:a="http://schemas.openxmlformats.org/drawingml/2006/main">
            <a:srgbClr val="84718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0C0D655-B2AE-4EC3-AC60-7C9603FCCB59}"/>
              </a:ext>
            </a:extLst>
          </p:cNvPr>
          <p:cNvSpPr>
            <a:spLocks xmlns:a="http://schemas.openxmlformats.org/drawingml/2006/main" noGrp="1"/>
          </p:cNvSpPr>
          <p:nvPr/>
        </p:nvSpPr>
        <p:spPr>
          <a:xfrm xmlns:a="http://schemas.openxmlformats.org/drawingml/2006/main">
            <a:off x="5015865" y="5282565"/>
            <a:ext cx="19050" cy="1657350"/>
          </a:xfrm>
          <a:prstGeom xmlns:a="http://schemas.openxmlformats.org/drawingml/2006/main" prst="rect">
            <a:avLst/>
          </a:prstGeom>
          <a:solidFill xmlns:a="http://schemas.openxmlformats.org/drawingml/2006/main">
            <a:srgbClr val="A8743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56F3738-5BAB-41E7-8C69-74C74B1EE1A1}"/>
              </a:ext>
            </a:extLst>
          </p:cNvPr>
          <p:cNvSpPr>
            <a:spLocks xmlns:a="http://schemas.openxmlformats.org/drawingml/2006/main" noGrp="1"/>
          </p:cNvSpPr>
          <p:nvPr/>
        </p:nvSpPr>
        <p:spPr>
          <a:xfrm xmlns:a="http://schemas.openxmlformats.org/drawingml/2006/main">
            <a:off x="10208895" y="2299335"/>
            <a:ext cx="3922395" cy="3148965"/>
          </a:xfrm>
          <a:prstGeom xmlns:a="http://schemas.openxmlformats.org/drawingml/2006/main" prst="rect">
            <a:avLst/>
          </a:prstGeom>
          <a:solidFill xmlns:a="http://schemas.openxmlformats.org/drawingml/2006/main">
            <a:srgbClr val="EEE7D9"/>
          </a:solidFill>
          <a:ln xmlns:a="http://schemas.openxmlformats.org/drawingml/2006/main" w="9525">
            <a:solidFill>
              <a:srgbClr val="B19A77"/>
            </a:solidFill>
            <a:prstDash val="solid"/>
          </a:ln>
        </p:spPr>
      </p:sp>
      <p:sp>
        <p:nvSpPr>
          <p:cNvPr id="30" name="">
            <a:extLst xmlns:a="http://schemas.openxmlformats.org/drawingml/2006/main">
              <a:ext uri="{FF2B5EF4-FFF2-40B4-BE49-F238E27FC236}">
                <a16:creationId xmlns:a16="http://schemas.microsoft.com/office/drawing/2014/main" id="{2EB22EEC-CBB3-4C3E-BD7F-60EB4F0D027A}"/>
              </a:ext>
            </a:extLst>
          </p:cNvPr>
          <p:cNvSpPr>
            <a:spLocks xmlns:a="http://schemas.openxmlformats.org/drawingml/2006/main" noGrp="1"/>
          </p:cNvSpPr>
          <p:nvPr/>
        </p:nvSpPr>
        <p:spPr>
          <a:xfrm xmlns:a="http://schemas.openxmlformats.org/drawingml/2006/main">
            <a:off x="10385679" y="2434209"/>
            <a:ext cx="4077081"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352E28"/>
                </a:solidFill>
                <a:latin typeface="Malgun Gothic"/>
                <a:ea typeface="Malgun Gothic"/>
                <a:cs typeface="Malgun Gothic"/>
              </a:defRPr>
            </a:defPPr>
          </a:lstStyle>
          <a:p xmlns:a="http://schemas.openxmlformats.org/drawingml/2006/main">
            <a:pPr algn="l">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VM 풀 · 최종 Worker 2대</a:t>
            </a:r>
          </a:p>
        </p:txBody>
      </p:sp>
      <p:sp>
        <p:nvSpPr>
          <p:cNvPr id="31" name="">
            <a:extLst xmlns:a="http://schemas.openxmlformats.org/drawingml/2006/main">
              <a:ext uri="{FF2B5EF4-FFF2-40B4-BE49-F238E27FC236}">
                <a16:creationId xmlns:a16="http://schemas.microsoft.com/office/drawing/2014/main" id="{C6093A25-D39A-49BF-A5E8-03831441A188}"/>
              </a:ext>
            </a:extLst>
          </p:cNvPr>
          <p:cNvSpPr>
            <a:spLocks xmlns:a="http://schemas.openxmlformats.org/drawingml/2006/main" noGrp="1"/>
          </p:cNvSpPr>
          <p:nvPr/>
        </p:nvSpPr>
        <p:spPr>
          <a:xfrm xmlns:a="http://schemas.openxmlformats.org/drawingml/2006/main">
            <a:off x="6838950" y="2774442"/>
            <a:ext cx="1657350" cy="2508123"/>
          </a:xfrm>
          <a:prstGeom xmlns:a="http://schemas.openxmlformats.org/drawingml/2006/main" prst="rect">
            <a:avLst/>
          </a:prstGeom>
          <a:solidFill xmlns:a="http://schemas.openxmlformats.org/drawingml/2006/main">
            <a:srgbClr val="FFFDF6"/>
          </a:solidFill>
          <a:ln xmlns:a="http://schemas.openxmlformats.org/drawingml/2006/main" w="9525">
            <a:solidFill>
              <a:srgbClr val="9D8B74"/>
            </a:solidFill>
            <a:prstDash val="solid"/>
          </a:ln>
        </p:spPr>
      </p:sp>
      <p:sp>
        <p:nvSpPr>
          <p:cNvPr id="32" name="">
            <a:extLst xmlns:a="http://schemas.openxmlformats.org/drawingml/2006/main">
              <a:ext uri="{FF2B5EF4-FFF2-40B4-BE49-F238E27FC236}">
                <a16:creationId xmlns:a16="http://schemas.microsoft.com/office/drawing/2014/main" id="{75B54110-9A1D-48F0-AA63-30255DF015B1}"/>
              </a:ext>
            </a:extLst>
          </p:cNvPr>
          <p:cNvSpPr>
            <a:spLocks xmlns:a="http://schemas.openxmlformats.org/drawingml/2006/main" noGrp="1"/>
          </p:cNvSpPr>
          <p:nvPr/>
        </p:nvSpPr>
        <p:spPr>
          <a:xfrm xmlns:a="http://schemas.openxmlformats.org/drawingml/2006/main">
            <a:off x="6762750" y="2897886"/>
            <a:ext cx="18097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725" b="1">
                <a:solidFill>
                  <a:srgbClr val="352E28"/>
                </a:solidFill>
                <a:latin typeface="Malgun Gothic"/>
                <a:ea typeface="Malgun Gothic"/>
                <a:cs typeface="Malgun Gothic"/>
              </a:defRPr>
            </a:defPPr>
          </a:lstStyle>
          <a:p xmlns:a="http://schemas.openxmlformats.org/drawingml/2006/main">
            <a:pPr algn="ctr">
              <a:defRPr sz="1725" b="1">
                <a:solidFill>
                  <a:srgbClr val="352E28"/>
                </a:solidFill>
                <a:latin typeface="Malgun Gothic"/>
                <a:ea typeface="Malgun Gothic"/>
                <a:cs typeface="Malgun Gothic"/>
              </a:defRPr>
            </a:pPr>
            <a:r>
              <a:rPr sz="1725" b="1">
                <a:solidFill>
                  <a:srgbClr val="352E28"/>
                </a:solidFill>
                <a:latin typeface="Malgun Gothic"/>
                <a:ea typeface="Malgun Gothic"/>
                <a:cs typeface="Malgun Gothic"/>
              </a:rPr>
              <a:t>Master</a:t>
            </a:r>
          </a:p>
        </p:txBody>
      </p:sp>
      <p:sp>
        <p:nvSpPr>
          <p:cNvPr id="33" name="">
            <a:extLst xmlns:a="http://schemas.openxmlformats.org/drawingml/2006/main">
              <a:ext uri="{FF2B5EF4-FFF2-40B4-BE49-F238E27FC236}">
                <a16:creationId xmlns:a16="http://schemas.microsoft.com/office/drawing/2014/main" id="{C1292D98-2C5B-4522-A234-18DC16D86053}"/>
              </a:ext>
            </a:extLst>
          </p:cNvPr>
          <p:cNvSpPr>
            <a:spLocks xmlns:a="http://schemas.openxmlformats.org/drawingml/2006/main" noGrp="1"/>
          </p:cNvSpPr>
          <p:nvPr/>
        </p:nvSpPr>
        <p:spPr>
          <a:xfrm xmlns:a="http://schemas.openxmlformats.org/drawingml/2006/main">
            <a:off x="6762750" y="3240786"/>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재활용 서버</a:t>
            </a:r>
          </a:p>
        </p:txBody>
      </p:sp>
      <p:sp>
        <p:nvSpPr>
          <p:cNvPr id="34" name="">
            <a:extLst xmlns:a="http://schemas.openxmlformats.org/drawingml/2006/main">
              <a:ext uri="{FF2B5EF4-FFF2-40B4-BE49-F238E27FC236}">
                <a16:creationId xmlns:a16="http://schemas.microsoft.com/office/drawing/2014/main" id="{42D2ABC5-EB27-443C-87E0-5EAA66B3CD45}"/>
              </a:ext>
            </a:extLst>
          </p:cNvPr>
          <p:cNvSpPr>
            <a:spLocks xmlns:a="http://schemas.openxmlformats.org/drawingml/2006/main" noGrp="1"/>
          </p:cNvSpPr>
          <p:nvPr/>
        </p:nvSpPr>
        <p:spPr>
          <a:xfrm xmlns:a="http://schemas.openxmlformats.org/drawingml/2006/main">
            <a:off x="6762750" y="3494913"/>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신규 IP</a:t>
            </a:r>
          </a:p>
        </p:txBody>
      </p:sp>
      <p:sp>
        <p:nvSpPr>
          <p:cNvPr id="35" name="">
            <a:extLst xmlns:a="http://schemas.openxmlformats.org/drawingml/2006/main">
              <a:ext uri="{FF2B5EF4-FFF2-40B4-BE49-F238E27FC236}">
                <a16:creationId xmlns:a16="http://schemas.microsoft.com/office/drawing/2014/main" id="{8097C986-9F5B-4FF6-AFD5-CF18F4C0E587}"/>
              </a:ext>
            </a:extLst>
          </p:cNvPr>
          <p:cNvSpPr>
            <a:spLocks xmlns:a="http://schemas.openxmlformats.org/drawingml/2006/main" noGrp="1"/>
          </p:cNvSpPr>
          <p:nvPr/>
        </p:nvSpPr>
        <p:spPr>
          <a:xfrm xmlns:a="http://schemas.openxmlformats.org/drawingml/2006/main">
            <a:off x="6762750" y="4345686"/>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연결망·포트</a:t>
            </a:r>
          </a:p>
        </p:txBody>
      </p:sp>
      <p:sp>
        <p:nvSpPr>
          <p:cNvPr id="36" name="">
            <a:extLst xmlns:a="http://schemas.openxmlformats.org/drawingml/2006/main">
              <a:ext uri="{FF2B5EF4-FFF2-40B4-BE49-F238E27FC236}">
                <a16:creationId xmlns:a16="http://schemas.microsoft.com/office/drawing/2014/main" id="{B015A7B4-6C59-4369-8D39-59940E3F170C}"/>
              </a:ext>
            </a:extLst>
          </p:cNvPr>
          <p:cNvSpPr>
            <a:spLocks xmlns:a="http://schemas.openxmlformats.org/drawingml/2006/main" noGrp="1"/>
          </p:cNvSpPr>
          <p:nvPr/>
        </p:nvSpPr>
        <p:spPr>
          <a:xfrm xmlns:a="http://schemas.openxmlformats.org/drawingml/2006/main">
            <a:off x="6762750" y="4588764"/>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설계 확인 필요</a:t>
            </a:r>
          </a:p>
        </p:txBody>
      </p:sp>
      <p:sp>
        <p:nvSpPr>
          <p:cNvPr id="37" name="">
            <a:extLst xmlns:a="http://schemas.openxmlformats.org/drawingml/2006/main">
              <a:ext uri="{FF2B5EF4-FFF2-40B4-BE49-F238E27FC236}">
                <a16:creationId xmlns:a16="http://schemas.microsoft.com/office/drawing/2014/main" id="{CDCD4C72-1659-42CD-A0B1-AA2FA29E9A5F}"/>
              </a:ext>
            </a:extLst>
          </p:cNvPr>
          <p:cNvSpPr>
            <a:spLocks xmlns:a="http://schemas.openxmlformats.org/drawingml/2006/main" noGrp="1"/>
          </p:cNvSpPr>
          <p:nvPr/>
        </p:nvSpPr>
        <p:spPr>
          <a:xfrm xmlns:a="http://schemas.openxmlformats.org/drawingml/2006/main">
            <a:off x="8662035" y="2774442"/>
            <a:ext cx="1657350" cy="2508123"/>
          </a:xfrm>
          <a:prstGeom xmlns:a="http://schemas.openxmlformats.org/drawingml/2006/main" prst="rect">
            <a:avLst/>
          </a:prstGeom>
          <a:solidFill xmlns:a="http://schemas.openxmlformats.org/drawingml/2006/main">
            <a:srgbClr val="FFFDF6"/>
          </a:solidFill>
          <a:ln xmlns:a="http://schemas.openxmlformats.org/drawingml/2006/main" w="9525">
            <a:solidFill>
              <a:srgbClr val="9D8B74"/>
            </a:solidFill>
            <a:prstDash val="solid"/>
          </a:ln>
        </p:spPr>
      </p:sp>
      <p:sp>
        <p:nvSpPr>
          <p:cNvPr id="38" name="">
            <a:extLst xmlns:a="http://schemas.openxmlformats.org/drawingml/2006/main">
              <a:ext uri="{FF2B5EF4-FFF2-40B4-BE49-F238E27FC236}">
                <a16:creationId xmlns:a16="http://schemas.microsoft.com/office/drawing/2014/main" id="{6A6C5DB7-9BFB-408E-B5F4-911C7DC5D5B1}"/>
              </a:ext>
            </a:extLst>
          </p:cNvPr>
          <p:cNvSpPr>
            <a:spLocks xmlns:a="http://schemas.openxmlformats.org/drawingml/2006/main" noGrp="1"/>
          </p:cNvSpPr>
          <p:nvPr/>
        </p:nvSpPr>
        <p:spPr>
          <a:xfrm xmlns:a="http://schemas.openxmlformats.org/drawingml/2006/main">
            <a:off x="8585835" y="2897886"/>
            <a:ext cx="18097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725" b="1">
                <a:solidFill>
                  <a:srgbClr val="352E28"/>
                </a:solidFill>
                <a:latin typeface="Malgun Gothic"/>
                <a:ea typeface="Malgun Gothic"/>
                <a:cs typeface="Malgun Gothic"/>
              </a:defRPr>
            </a:defPPr>
          </a:lstStyle>
          <a:p xmlns:a="http://schemas.openxmlformats.org/drawingml/2006/main">
            <a:pPr algn="ctr">
              <a:defRPr sz="1725" b="1">
                <a:solidFill>
                  <a:srgbClr val="352E28"/>
                </a:solidFill>
                <a:latin typeface="Malgun Gothic"/>
                <a:ea typeface="Malgun Gothic"/>
                <a:cs typeface="Malgun Gothic"/>
              </a:defRPr>
            </a:pPr>
            <a:r>
              <a:rPr sz="1725" b="1">
                <a:solidFill>
                  <a:srgbClr val="352E28"/>
                </a:solidFill>
                <a:latin typeface="Malgun Gothic"/>
                <a:ea typeface="Malgun Gothic"/>
                <a:cs typeface="Malgun Gothic"/>
              </a:rPr>
              <a:t>Bastion</a:t>
            </a:r>
          </a:p>
        </p:txBody>
      </p:sp>
      <p:sp>
        <p:nvSpPr>
          <p:cNvPr id="39" name="">
            <a:extLst xmlns:a="http://schemas.openxmlformats.org/drawingml/2006/main">
              <a:ext uri="{FF2B5EF4-FFF2-40B4-BE49-F238E27FC236}">
                <a16:creationId xmlns:a16="http://schemas.microsoft.com/office/drawing/2014/main" id="{7131C79C-95A3-4A17-BED4-9EC5F99D4189}"/>
              </a:ext>
            </a:extLst>
          </p:cNvPr>
          <p:cNvSpPr>
            <a:spLocks xmlns:a="http://schemas.openxmlformats.org/drawingml/2006/main" noGrp="1"/>
          </p:cNvSpPr>
          <p:nvPr/>
        </p:nvSpPr>
        <p:spPr>
          <a:xfrm xmlns:a="http://schemas.openxmlformats.org/drawingml/2006/main">
            <a:off x="8585835" y="3240786"/>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기존 장비 재구성</a:t>
            </a:r>
          </a:p>
        </p:txBody>
      </p:sp>
      <p:sp>
        <p:nvSpPr>
          <p:cNvPr id="40" name="">
            <a:extLst xmlns:a="http://schemas.openxmlformats.org/drawingml/2006/main">
              <a:ext uri="{FF2B5EF4-FFF2-40B4-BE49-F238E27FC236}">
                <a16:creationId xmlns:a16="http://schemas.microsoft.com/office/drawing/2014/main" id="{7096AD10-9086-4539-BCAE-4D9F4D8685AF}"/>
              </a:ext>
            </a:extLst>
          </p:cNvPr>
          <p:cNvSpPr>
            <a:spLocks xmlns:a="http://schemas.openxmlformats.org/drawingml/2006/main" noGrp="1"/>
          </p:cNvSpPr>
          <p:nvPr/>
        </p:nvSpPr>
        <p:spPr>
          <a:xfrm xmlns:a="http://schemas.openxmlformats.org/drawingml/2006/main">
            <a:off x="8585835" y="3494913"/>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기존 IP 재사용</a:t>
            </a:r>
          </a:p>
        </p:txBody>
      </p:sp>
      <p:sp>
        <p:nvSpPr>
          <p:cNvPr id="41" name="">
            <a:extLst xmlns:a="http://schemas.openxmlformats.org/drawingml/2006/main">
              <a:ext uri="{FF2B5EF4-FFF2-40B4-BE49-F238E27FC236}">
                <a16:creationId xmlns:a16="http://schemas.microsoft.com/office/drawing/2014/main" id="{3B24FD62-402B-4355-AA88-EA5DC6E37382}"/>
              </a:ext>
            </a:extLst>
          </p:cNvPr>
          <p:cNvSpPr>
            <a:spLocks xmlns:a="http://schemas.openxmlformats.org/drawingml/2006/main" noGrp="1"/>
          </p:cNvSpPr>
          <p:nvPr/>
        </p:nvSpPr>
        <p:spPr>
          <a:xfrm xmlns:a="http://schemas.openxmlformats.org/drawingml/2006/main">
            <a:off x="8585835" y="4345686"/>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연결망·포트</a:t>
            </a:r>
          </a:p>
        </p:txBody>
      </p:sp>
      <p:sp>
        <p:nvSpPr>
          <p:cNvPr id="42" name="">
            <a:extLst xmlns:a="http://schemas.openxmlformats.org/drawingml/2006/main">
              <a:ext uri="{FF2B5EF4-FFF2-40B4-BE49-F238E27FC236}">
                <a16:creationId xmlns:a16="http://schemas.microsoft.com/office/drawing/2014/main" id="{E6CF618F-B1B4-4D04-BE22-95F108287272}"/>
              </a:ext>
            </a:extLst>
          </p:cNvPr>
          <p:cNvSpPr>
            <a:spLocks xmlns:a="http://schemas.openxmlformats.org/drawingml/2006/main" noGrp="1"/>
          </p:cNvSpPr>
          <p:nvPr/>
        </p:nvSpPr>
        <p:spPr>
          <a:xfrm xmlns:a="http://schemas.openxmlformats.org/drawingml/2006/main">
            <a:off x="8585835" y="4588764"/>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설계 확인 필요</a:t>
            </a:r>
          </a:p>
        </p:txBody>
      </p:sp>
      <p:sp>
        <p:nvSpPr>
          <p:cNvPr id="43" name="">
            <a:extLst xmlns:a="http://schemas.openxmlformats.org/drawingml/2006/main">
              <a:ext uri="{FF2B5EF4-FFF2-40B4-BE49-F238E27FC236}">
                <a16:creationId xmlns:a16="http://schemas.microsoft.com/office/drawing/2014/main" id="{4431E9DB-01F5-406C-8F2F-CB6D3FBFDF72}"/>
              </a:ext>
            </a:extLst>
          </p:cNvPr>
          <p:cNvSpPr>
            <a:spLocks xmlns:a="http://schemas.openxmlformats.org/drawingml/2006/main" noGrp="1"/>
          </p:cNvSpPr>
          <p:nvPr/>
        </p:nvSpPr>
        <p:spPr>
          <a:xfrm xmlns:a="http://schemas.openxmlformats.org/drawingml/2006/main">
            <a:off x="10485120" y="2774442"/>
            <a:ext cx="1657350" cy="2508123"/>
          </a:xfrm>
          <a:prstGeom xmlns:a="http://schemas.openxmlformats.org/drawingml/2006/main" prst="rect">
            <a:avLst/>
          </a:prstGeom>
          <a:solidFill xmlns:a="http://schemas.openxmlformats.org/drawingml/2006/main">
            <a:srgbClr val="FFFDF6"/>
          </a:solidFill>
          <a:ln xmlns:a="http://schemas.openxmlformats.org/drawingml/2006/main" w="9525">
            <a:solidFill>
              <a:srgbClr val="9D8B74"/>
            </a:solidFill>
            <a:prstDash val="solid"/>
          </a:ln>
        </p:spPr>
      </p:sp>
      <p:sp>
        <p:nvSpPr>
          <p:cNvPr id="44" name="">
            <a:extLst xmlns:a="http://schemas.openxmlformats.org/drawingml/2006/main">
              <a:ext uri="{FF2B5EF4-FFF2-40B4-BE49-F238E27FC236}">
                <a16:creationId xmlns:a16="http://schemas.microsoft.com/office/drawing/2014/main" id="{C8EDAD13-8A99-4061-80FE-97AE4ADF3B04}"/>
              </a:ext>
            </a:extLst>
          </p:cNvPr>
          <p:cNvSpPr>
            <a:spLocks xmlns:a="http://schemas.openxmlformats.org/drawingml/2006/main" noGrp="1"/>
          </p:cNvSpPr>
          <p:nvPr/>
        </p:nvSpPr>
        <p:spPr>
          <a:xfrm xmlns:a="http://schemas.openxmlformats.org/drawingml/2006/main">
            <a:off x="10408920" y="2897886"/>
            <a:ext cx="18097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725" b="1">
                <a:solidFill>
                  <a:srgbClr val="352E28"/>
                </a:solidFill>
                <a:latin typeface="Malgun Gothic"/>
                <a:ea typeface="Malgun Gothic"/>
                <a:cs typeface="Malgun Gothic"/>
              </a:defRPr>
            </a:defPPr>
          </a:lstStyle>
          <a:p xmlns:a="http://schemas.openxmlformats.org/drawingml/2006/main">
            <a:pPr algn="ctr">
              <a:defRPr sz="1725" b="1">
                <a:solidFill>
                  <a:srgbClr val="352E28"/>
                </a:solidFill>
                <a:latin typeface="Malgun Gothic"/>
                <a:ea typeface="Malgun Gothic"/>
                <a:cs typeface="Malgun Gothic"/>
              </a:defRPr>
            </a:pPr>
            <a:r>
              <a:rPr sz="1725" b="1">
                <a:solidFill>
                  <a:srgbClr val="352E28"/>
                </a:solidFill>
                <a:latin typeface="Malgun Gothic"/>
                <a:ea typeface="Malgun Gothic"/>
                <a:cs typeface="Malgun Gothic"/>
              </a:rPr>
              <a:t>Worker1</a:t>
            </a:r>
          </a:p>
        </p:txBody>
      </p:sp>
      <p:sp>
        <p:nvSpPr>
          <p:cNvPr id="45" name="">
            <a:extLst xmlns:a="http://schemas.openxmlformats.org/drawingml/2006/main">
              <a:ext uri="{FF2B5EF4-FFF2-40B4-BE49-F238E27FC236}">
                <a16:creationId xmlns:a16="http://schemas.microsoft.com/office/drawing/2014/main" id="{9781D815-2F91-4CC7-A5AD-662FBE9A7B5A}"/>
              </a:ext>
            </a:extLst>
          </p:cNvPr>
          <p:cNvSpPr>
            <a:spLocks xmlns:a="http://schemas.openxmlformats.org/drawingml/2006/main" noGrp="1"/>
          </p:cNvSpPr>
          <p:nvPr/>
        </p:nvSpPr>
        <p:spPr>
          <a:xfrm xmlns:a="http://schemas.openxmlformats.org/drawingml/2006/main">
            <a:off x="10408920" y="3240786"/>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기존 장비 재구성</a:t>
            </a:r>
          </a:p>
        </p:txBody>
      </p:sp>
      <p:sp>
        <p:nvSpPr>
          <p:cNvPr id="46" name="">
            <a:extLst xmlns:a="http://schemas.openxmlformats.org/drawingml/2006/main">
              <a:ext uri="{FF2B5EF4-FFF2-40B4-BE49-F238E27FC236}">
                <a16:creationId xmlns:a16="http://schemas.microsoft.com/office/drawing/2014/main" id="{A54D88D5-8AFD-4712-81B7-E4C127BBFBA0}"/>
              </a:ext>
            </a:extLst>
          </p:cNvPr>
          <p:cNvSpPr>
            <a:spLocks xmlns:a="http://schemas.openxmlformats.org/drawingml/2006/main" noGrp="1"/>
          </p:cNvSpPr>
          <p:nvPr/>
        </p:nvSpPr>
        <p:spPr>
          <a:xfrm xmlns:a="http://schemas.openxmlformats.org/drawingml/2006/main">
            <a:off x="10408920" y="3528060"/>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MTV 이전 선구축</a:t>
            </a:r>
          </a:p>
        </p:txBody>
      </p:sp>
      <p:sp>
        <p:nvSpPr>
          <p:cNvPr id="47" name="">
            <a:extLst xmlns:a="http://schemas.openxmlformats.org/drawingml/2006/main">
              <a:ext uri="{FF2B5EF4-FFF2-40B4-BE49-F238E27FC236}">
                <a16:creationId xmlns:a16="http://schemas.microsoft.com/office/drawing/2014/main" id="{47164D0E-72F6-4EA8-A1DD-CBDB6C6AFC55}"/>
              </a:ext>
            </a:extLst>
          </p:cNvPr>
          <p:cNvSpPr>
            <a:spLocks xmlns:a="http://schemas.openxmlformats.org/drawingml/2006/main" noGrp="1"/>
          </p:cNvSpPr>
          <p:nvPr/>
        </p:nvSpPr>
        <p:spPr>
          <a:xfrm xmlns:a="http://schemas.openxmlformats.org/drawingml/2006/main">
            <a:off x="10617708" y="3934587"/>
            <a:ext cx="1392174" cy="430911"/>
          </a:xfrm>
          <a:prstGeom xmlns:a="http://schemas.openxmlformats.org/drawingml/2006/main" prst="rect">
            <a:avLst/>
          </a:prstGeom>
          <a:solidFill xmlns:a="http://schemas.openxmlformats.org/drawingml/2006/main">
            <a:srgbClr val="E8DFCC"/>
          </a:solidFill>
          <a:ln xmlns:a="http://schemas.openxmlformats.org/drawingml/2006/main" w="9525">
            <a:solidFill>
              <a:srgbClr val="A38B66"/>
            </a:solidFill>
            <a:prstDash val="solid"/>
          </a:ln>
        </p:spPr>
      </p:sp>
      <p:sp>
        <p:nvSpPr>
          <p:cNvPr id="48" name="">
            <a:extLst xmlns:a="http://schemas.openxmlformats.org/drawingml/2006/main">
              <a:ext uri="{FF2B5EF4-FFF2-40B4-BE49-F238E27FC236}">
                <a16:creationId xmlns:a16="http://schemas.microsoft.com/office/drawing/2014/main" id="{32D34094-60DD-4CEB-A08A-97C4DCFDF356}"/>
              </a:ext>
            </a:extLst>
          </p:cNvPr>
          <p:cNvSpPr>
            <a:spLocks xmlns:a="http://schemas.openxmlformats.org/drawingml/2006/main" noGrp="1"/>
          </p:cNvSpPr>
          <p:nvPr/>
        </p:nvSpPr>
        <p:spPr>
          <a:xfrm xmlns:a="http://schemas.openxmlformats.org/drawingml/2006/main">
            <a:off x="10408920" y="4040886"/>
            <a:ext cx="18097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0">
                <a:solidFill>
                  <a:srgbClr val="352E28"/>
                </a:solidFill>
                <a:latin typeface="Malgun Gothic"/>
                <a:ea typeface="Malgun Gothic"/>
                <a:cs typeface="Malgun Gothic"/>
              </a:defRPr>
            </a:defPPr>
          </a:lstStyle>
          <a:p xmlns:a="http://schemas.openxmlformats.org/drawingml/2006/main">
            <a:pPr algn="ctr">
              <a:defRPr sz="1425" b="0">
                <a:solidFill>
                  <a:srgbClr val="352E28"/>
                </a:solidFill>
                <a:latin typeface="Malgun Gothic"/>
                <a:ea typeface="Malgun Gothic"/>
                <a:cs typeface="Malgun Gothic"/>
              </a:defRPr>
            </a:pPr>
            <a:r>
              <a:rPr sz="1425" b="0">
                <a:solidFill>
                  <a:srgbClr val="352E28"/>
                </a:solidFill>
                <a:latin typeface="Malgun Gothic"/>
                <a:ea typeface="Malgun Gothic"/>
                <a:cs typeface="Malgun Gothic"/>
              </a:rPr>
              <a:t>VM</a:t>
            </a:r>
          </a:p>
        </p:txBody>
      </p:sp>
      <p:sp>
        <p:nvSpPr>
          <p:cNvPr id="49" name="">
            <a:extLst xmlns:a="http://schemas.openxmlformats.org/drawingml/2006/main">
              <a:ext uri="{FF2B5EF4-FFF2-40B4-BE49-F238E27FC236}">
                <a16:creationId xmlns:a16="http://schemas.microsoft.com/office/drawing/2014/main" id="{4303C15B-1DBF-4192-AF46-6D0B783830C8}"/>
              </a:ext>
            </a:extLst>
          </p:cNvPr>
          <p:cNvSpPr>
            <a:spLocks xmlns:a="http://schemas.openxmlformats.org/drawingml/2006/main" noGrp="1"/>
          </p:cNvSpPr>
          <p:nvPr/>
        </p:nvSpPr>
        <p:spPr>
          <a:xfrm xmlns:a="http://schemas.openxmlformats.org/drawingml/2006/main">
            <a:off x="10408920" y="4511421"/>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VM 망 연결 상세</a:t>
            </a:r>
          </a:p>
        </p:txBody>
      </p:sp>
      <p:sp>
        <p:nvSpPr>
          <p:cNvPr id="50" name="">
            <a:extLst xmlns:a="http://schemas.openxmlformats.org/drawingml/2006/main">
              <a:ext uri="{FF2B5EF4-FFF2-40B4-BE49-F238E27FC236}">
                <a16:creationId xmlns:a16="http://schemas.microsoft.com/office/drawing/2014/main" id="{1C5859E4-B176-489C-826A-455749B966A7}"/>
              </a:ext>
            </a:extLst>
          </p:cNvPr>
          <p:cNvSpPr>
            <a:spLocks xmlns:a="http://schemas.openxmlformats.org/drawingml/2006/main" noGrp="1"/>
          </p:cNvSpPr>
          <p:nvPr/>
        </p:nvSpPr>
        <p:spPr>
          <a:xfrm xmlns:a="http://schemas.openxmlformats.org/drawingml/2006/main">
            <a:off x="10408920" y="4765548"/>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NIC / 브리지 확인 필요</a:t>
            </a:r>
          </a:p>
        </p:txBody>
      </p:sp>
      <p:sp>
        <p:nvSpPr>
          <p:cNvPr id="51" name="">
            <a:extLst xmlns:a="http://schemas.openxmlformats.org/drawingml/2006/main">
              <a:ext uri="{FF2B5EF4-FFF2-40B4-BE49-F238E27FC236}">
                <a16:creationId xmlns:a16="http://schemas.microsoft.com/office/drawing/2014/main" id="{E51D9B56-F807-441C-928E-9F1447B90F3D}"/>
              </a:ext>
            </a:extLst>
          </p:cNvPr>
          <p:cNvSpPr>
            <a:spLocks xmlns:a="http://schemas.openxmlformats.org/drawingml/2006/main" noGrp="1"/>
          </p:cNvSpPr>
          <p:nvPr/>
        </p:nvSpPr>
        <p:spPr>
          <a:xfrm xmlns:a="http://schemas.openxmlformats.org/drawingml/2006/main">
            <a:off x="11070717" y="5282565"/>
            <a:ext cx="19050" cy="596646"/>
          </a:xfrm>
          <a:prstGeom xmlns:a="http://schemas.openxmlformats.org/drawingml/2006/main" prst="rect">
            <a:avLst/>
          </a:prstGeom>
          <a:solidFill xmlns:a="http://schemas.openxmlformats.org/drawingml/2006/main">
            <a:srgbClr val="556C8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D22E5C66-10DB-4741-9D60-231E0A56FB8F}"/>
              </a:ext>
            </a:extLst>
          </p:cNvPr>
          <p:cNvSpPr>
            <a:spLocks xmlns:a="http://schemas.openxmlformats.org/drawingml/2006/main" noGrp="1"/>
          </p:cNvSpPr>
          <p:nvPr/>
        </p:nvSpPr>
        <p:spPr>
          <a:xfrm xmlns:a="http://schemas.openxmlformats.org/drawingml/2006/main">
            <a:off x="11313795" y="5282565"/>
            <a:ext cx="19050" cy="1126998"/>
          </a:xfrm>
          <a:prstGeom xmlns:a="http://schemas.openxmlformats.org/drawingml/2006/main" prst="rect">
            <a:avLst/>
          </a:prstGeom>
          <a:solidFill xmlns:a="http://schemas.openxmlformats.org/drawingml/2006/main">
            <a:srgbClr val="84718E"/>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F4A2F3B6-FD29-4920-A657-8688FE019662}"/>
              </a:ext>
            </a:extLst>
          </p:cNvPr>
          <p:cNvSpPr>
            <a:spLocks xmlns:a="http://schemas.openxmlformats.org/drawingml/2006/main" noGrp="1"/>
          </p:cNvSpPr>
          <p:nvPr/>
        </p:nvSpPr>
        <p:spPr>
          <a:xfrm xmlns:a="http://schemas.openxmlformats.org/drawingml/2006/main">
            <a:off x="11556873" y="5282565"/>
            <a:ext cx="19050" cy="1657350"/>
          </a:xfrm>
          <a:prstGeom xmlns:a="http://schemas.openxmlformats.org/drawingml/2006/main" prst="rect">
            <a:avLst/>
          </a:prstGeom>
          <a:solidFill xmlns:a="http://schemas.openxmlformats.org/drawingml/2006/main">
            <a:srgbClr val="A87438"/>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030B82DC-6335-44BC-BE75-EF79317191CB}"/>
              </a:ext>
            </a:extLst>
          </p:cNvPr>
          <p:cNvSpPr>
            <a:spLocks xmlns:a="http://schemas.openxmlformats.org/drawingml/2006/main" noGrp="1"/>
          </p:cNvSpPr>
          <p:nvPr/>
        </p:nvSpPr>
        <p:spPr>
          <a:xfrm xmlns:a="http://schemas.openxmlformats.org/drawingml/2006/main">
            <a:off x="12308205" y="2774442"/>
            <a:ext cx="1657350" cy="2508123"/>
          </a:xfrm>
          <a:prstGeom xmlns:a="http://schemas.openxmlformats.org/drawingml/2006/main" prst="rect">
            <a:avLst/>
          </a:prstGeom>
          <a:solidFill xmlns:a="http://schemas.openxmlformats.org/drawingml/2006/main">
            <a:srgbClr val="FBE3BD"/>
          </a:solidFill>
          <a:ln xmlns:a="http://schemas.openxmlformats.org/drawingml/2006/main" w="28575">
            <a:solidFill>
              <a:srgbClr val="A14827"/>
            </a:solidFill>
            <a:prstDash val="solid"/>
          </a:ln>
        </p:spPr>
      </p:sp>
      <p:sp>
        <p:nvSpPr>
          <p:cNvPr id="55" name="">
            <a:extLst xmlns:a="http://schemas.openxmlformats.org/drawingml/2006/main">
              <a:ext uri="{FF2B5EF4-FFF2-40B4-BE49-F238E27FC236}">
                <a16:creationId xmlns:a16="http://schemas.microsoft.com/office/drawing/2014/main" id="{321F3B5A-C905-4C7A-AA33-CB3ABF3547BC}"/>
              </a:ext>
            </a:extLst>
          </p:cNvPr>
          <p:cNvSpPr>
            <a:spLocks xmlns:a="http://schemas.openxmlformats.org/drawingml/2006/main" noGrp="1"/>
          </p:cNvSpPr>
          <p:nvPr/>
        </p:nvSpPr>
        <p:spPr>
          <a:xfrm xmlns:a="http://schemas.openxmlformats.org/drawingml/2006/main">
            <a:off x="12232005" y="2897886"/>
            <a:ext cx="18097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725" b="1">
                <a:solidFill>
                  <a:srgbClr val="352E28"/>
                </a:solidFill>
                <a:latin typeface="Malgun Gothic"/>
                <a:ea typeface="Malgun Gothic"/>
                <a:cs typeface="Malgun Gothic"/>
              </a:defRPr>
            </a:defPPr>
          </a:lstStyle>
          <a:p xmlns:a="http://schemas.openxmlformats.org/drawingml/2006/main">
            <a:pPr algn="ctr">
              <a:defRPr sz="1725" b="1">
                <a:solidFill>
                  <a:srgbClr val="352E28"/>
                </a:solidFill>
                <a:latin typeface="Malgun Gothic"/>
                <a:ea typeface="Malgun Gothic"/>
                <a:cs typeface="Malgun Gothic"/>
              </a:defRPr>
            </a:pPr>
            <a:r>
              <a:rPr sz="1725" b="1">
                <a:solidFill>
                  <a:srgbClr val="352E28"/>
                </a:solidFill>
                <a:latin typeface="Malgun Gothic"/>
                <a:ea typeface="Malgun Gothic"/>
                <a:cs typeface="Malgun Gothic"/>
              </a:rPr>
              <a:t>Worker2</a:t>
            </a:r>
          </a:p>
        </p:txBody>
      </p:sp>
      <p:sp>
        <p:nvSpPr>
          <p:cNvPr id="56" name="">
            <a:extLst xmlns:a="http://schemas.openxmlformats.org/drawingml/2006/main">
              <a:ext uri="{FF2B5EF4-FFF2-40B4-BE49-F238E27FC236}">
                <a16:creationId xmlns:a16="http://schemas.microsoft.com/office/drawing/2014/main" id="{FCEEF73C-B60E-4F87-9C47-647CEA60A427}"/>
              </a:ext>
            </a:extLst>
          </p:cNvPr>
          <p:cNvSpPr>
            <a:spLocks xmlns:a="http://schemas.openxmlformats.org/drawingml/2006/main" noGrp="1"/>
          </p:cNvSpPr>
          <p:nvPr/>
        </p:nvSpPr>
        <p:spPr>
          <a:xfrm xmlns:a="http://schemas.openxmlformats.org/drawingml/2006/main">
            <a:off x="12232005" y="3240786"/>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기존 HV#01</a:t>
            </a:r>
          </a:p>
        </p:txBody>
      </p:sp>
      <p:sp>
        <p:nvSpPr>
          <p:cNvPr id="57" name="">
            <a:extLst xmlns:a="http://schemas.openxmlformats.org/drawingml/2006/main">
              <a:ext uri="{FF2B5EF4-FFF2-40B4-BE49-F238E27FC236}">
                <a16:creationId xmlns:a16="http://schemas.microsoft.com/office/drawing/2014/main" id="{4435C7BC-60EC-42B9-B3D0-13212628513D}"/>
              </a:ext>
            </a:extLst>
          </p:cNvPr>
          <p:cNvSpPr>
            <a:spLocks xmlns:a="http://schemas.openxmlformats.org/drawingml/2006/main" noGrp="1"/>
          </p:cNvSpPr>
          <p:nvPr/>
        </p:nvSpPr>
        <p:spPr>
          <a:xfrm xmlns:a="http://schemas.openxmlformats.org/drawingml/2006/main">
            <a:off x="12374499" y="3514725"/>
            <a:ext cx="1524762" cy="287274"/>
          </a:xfrm>
          <a:prstGeom xmlns:a="http://schemas.openxmlformats.org/drawingml/2006/main" prst="rect">
            <a:avLst/>
          </a:prstGeom>
          <a:solidFill xmlns:a="http://schemas.openxmlformats.org/drawingml/2006/main">
            <a:srgbClr val="953E24"/>
          </a:solidFill>
          <a:ln xmlns:a="http://schemas.openxmlformats.org/drawingml/2006/main" w="9525">
            <a:noFill/>
            <a:prstDash val="solid"/>
          </a:ln>
        </p:spPr>
      </p:sp>
      <p:sp>
        <p:nvSpPr>
          <p:cNvPr id="58" name="">
            <a:extLst xmlns:a="http://schemas.openxmlformats.org/drawingml/2006/main">
              <a:ext uri="{FF2B5EF4-FFF2-40B4-BE49-F238E27FC236}">
                <a16:creationId xmlns:a16="http://schemas.microsoft.com/office/drawing/2014/main" id="{C8FDD75B-9158-44AB-8919-6490BFF1C1C3}"/>
              </a:ext>
            </a:extLst>
          </p:cNvPr>
          <p:cNvSpPr>
            <a:spLocks xmlns:a="http://schemas.openxmlformats.org/drawingml/2006/main" noGrp="1"/>
          </p:cNvSpPr>
          <p:nvPr/>
        </p:nvSpPr>
        <p:spPr>
          <a:xfrm xmlns:a="http://schemas.openxmlformats.org/drawingml/2006/main">
            <a:off x="12232005" y="3532632"/>
            <a:ext cx="18097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1">
                <a:solidFill>
                  <a:srgbClr val="FFFAF0"/>
                </a:solidFill>
                <a:latin typeface="Malgun Gothic"/>
                <a:ea typeface="Malgun Gothic"/>
                <a:cs typeface="Malgun Gothic"/>
              </a:defRPr>
            </a:defPPr>
          </a:lstStyle>
          <a:p xmlns:a="http://schemas.openxmlformats.org/drawingml/2006/main">
            <a:pPr algn="ctr">
              <a:defRPr sz="1425" b="1">
                <a:solidFill>
                  <a:srgbClr val="FFFAF0"/>
                </a:solidFill>
                <a:latin typeface="Malgun Gothic"/>
                <a:ea typeface="Malgun Gothic"/>
                <a:cs typeface="Malgun Gothic"/>
              </a:defRPr>
            </a:pPr>
            <a:r>
              <a:rPr sz="1425" b="1">
                <a:solidFill>
                  <a:srgbClr val="FFFAF0"/>
                </a:solidFill>
                <a:latin typeface="Malgun Gothic"/>
                <a:ea typeface="Malgun Gothic"/>
                <a:cs typeface="Malgun Gothic"/>
              </a:rPr>
              <a:t>MTV 이후 재구성</a:t>
            </a:r>
          </a:p>
        </p:txBody>
      </p:sp>
      <p:sp>
        <p:nvSpPr>
          <p:cNvPr id="59" name="">
            <a:extLst xmlns:a="http://schemas.openxmlformats.org/drawingml/2006/main">
              <a:ext uri="{FF2B5EF4-FFF2-40B4-BE49-F238E27FC236}">
                <a16:creationId xmlns:a16="http://schemas.microsoft.com/office/drawing/2014/main" id="{DD017A66-BBEF-4CA4-AA48-FD47A34585D4}"/>
              </a:ext>
            </a:extLst>
          </p:cNvPr>
          <p:cNvSpPr>
            <a:spLocks xmlns:a="http://schemas.openxmlformats.org/drawingml/2006/main" noGrp="1"/>
          </p:cNvSpPr>
          <p:nvPr/>
        </p:nvSpPr>
        <p:spPr>
          <a:xfrm xmlns:a="http://schemas.openxmlformats.org/drawingml/2006/main">
            <a:off x="12440793" y="3934587"/>
            <a:ext cx="1392174" cy="430911"/>
          </a:xfrm>
          <a:prstGeom xmlns:a="http://schemas.openxmlformats.org/drawingml/2006/main" prst="rect">
            <a:avLst/>
          </a:prstGeom>
          <a:solidFill xmlns:a="http://schemas.openxmlformats.org/drawingml/2006/main">
            <a:srgbClr val="E8DFCC"/>
          </a:solidFill>
          <a:ln xmlns:a="http://schemas.openxmlformats.org/drawingml/2006/main" w="9525">
            <a:solidFill>
              <a:srgbClr val="A38B66"/>
            </a:solidFill>
            <a:prstDash val="solid"/>
          </a:ln>
        </p:spPr>
      </p:sp>
      <p:sp>
        <p:nvSpPr>
          <p:cNvPr id="60" name="">
            <a:extLst xmlns:a="http://schemas.openxmlformats.org/drawingml/2006/main">
              <a:ext uri="{FF2B5EF4-FFF2-40B4-BE49-F238E27FC236}">
                <a16:creationId xmlns:a16="http://schemas.microsoft.com/office/drawing/2014/main" id="{48ED4C9A-205B-4A62-B9B6-0803C177C2A2}"/>
              </a:ext>
            </a:extLst>
          </p:cNvPr>
          <p:cNvSpPr>
            <a:spLocks xmlns:a="http://schemas.openxmlformats.org/drawingml/2006/main" noGrp="1"/>
          </p:cNvSpPr>
          <p:nvPr/>
        </p:nvSpPr>
        <p:spPr>
          <a:xfrm xmlns:a="http://schemas.openxmlformats.org/drawingml/2006/main">
            <a:off x="12232005" y="4040886"/>
            <a:ext cx="18097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0">
                <a:solidFill>
                  <a:srgbClr val="352E28"/>
                </a:solidFill>
                <a:latin typeface="Malgun Gothic"/>
                <a:ea typeface="Malgun Gothic"/>
                <a:cs typeface="Malgun Gothic"/>
              </a:defRPr>
            </a:defPPr>
          </a:lstStyle>
          <a:p xmlns:a="http://schemas.openxmlformats.org/drawingml/2006/main">
            <a:pPr algn="ctr">
              <a:defRPr sz="1425" b="0">
                <a:solidFill>
                  <a:srgbClr val="352E28"/>
                </a:solidFill>
                <a:latin typeface="Malgun Gothic"/>
                <a:ea typeface="Malgun Gothic"/>
                <a:cs typeface="Malgun Gothic"/>
              </a:defRPr>
            </a:pPr>
            <a:r>
              <a:rPr sz="1425" b="0">
                <a:solidFill>
                  <a:srgbClr val="352E28"/>
                </a:solidFill>
                <a:latin typeface="Malgun Gothic"/>
                <a:ea typeface="Malgun Gothic"/>
                <a:cs typeface="Malgun Gothic"/>
              </a:rPr>
              <a:t>VM</a:t>
            </a:r>
          </a:p>
        </p:txBody>
      </p:sp>
      <p:sp>
        <p:nvSpPr>
          <p:cNvPr id="61" name="">
            <a:extLst xmlns:a="http://schemas.openxmlformats.org/drawingml/2006/main">
              <a:ext uri="{FF2B5EF4-FFF2-40B4-BE49-F238E27FC236}">
                <a16:creationId xmlns:a16="http://schemas.microsoft.com/office/drawing/2014/main" id="{B485171B-7DE9-4843-BA04-D2B1ADFB50AB}"/>
              </a:ext>
            </a:extLst>
          </p:cNvPr>
          <p:cNvSpPr>
            <a:spLocks xmlns:a="http://schemas.openxmlformats.org/drawingml/2006/main" noGrp="1"/>
          </p:cNvSpPr>
          <p:nvPr/>
        </p:nvSpPr>
        <p:spPr>
          <a:xfrm xmlns:a="http://schemas.openxmlformats.org/drawingml/2006/main">
            <a:off x="12232005" y="4511421"/>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원본 VMware 유지 후</a:t>
            </a:r>
          </a:p>
        </p:txBody>
      </p:sp>
      <p:sp>
        <p:nvSpPr>
          <p:cNvPr id="62" name="">
            <a:extLst xmlns:a="http://schemas.openxmlformats.org/drawingml/2006/main">
              <a:ext uri="{FF2B5EF4-FFF2-40B4-BE49-F238E27FC236}">
                <a16:creationId xmlns:a16="http://schemas.microsoft.com/office/drawing/2014/main" id="{201F1D34-20B3-44D6-BC40-7CA91CA8FBC5}"/>
              </a:ext>
            </a:extLst>
          </p:cNvPr>
          <p:cNvSpPr>
            <a:spLocks xmlns:a="http://schemas.openxmlformats.org/drawingml/2006/main" noGrp="1"/>
          </p:cNvSpPr>
          <p:nvPr/>
        </p:nvSpPr>
        <p:spPr>
          <a:xfrm xmlns:a="http://schemas.openxmlformats.org/drawingml/2006/main">
            <a:off x="12232005" y="4765548"/>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이관 완료 시 노드 전환</a:t>
            </a:r>
          </a:p>
        </p:txBody>
      </p:sp>
      <p:sp>
        <p:nvSpPr>
          <p:cNvPr id="63" name="">
            <a:extLst xmlns:a="http://schemas.openxmlformats.org/drawingml/2006/main">
              <a:ext uri="{FF2B5EF4-FFF2-40B4-BE49-F238E27FC236}">
                <a16:creationId xmlns:a16="http://schemas.microsoft.com/office/drawing/2014/main" id="{83F3FE2C-8D73-464B-996B-9638DDB26F93}"/>
              </a:ext>
            </a:extLst>
          </p:cNvPr>
          <p:cNvSpPr>
            <a:spLocks xmlns:a="http://schemas.openxmlformats.org/drawingml/2006/main" noGrp="1"/>
          </p:cNvSpPr>
          <p:nvPr/>
        </p:nvSpPr>
        <p:spPr>
          <a:xfrm xmlns:a="http://schemas.openxmlformats.org/drawingml/2006/main">
            <a:off x="12893802" y="5282565"/>
            <a:ext cx="19050" cy="596646"/>
          </a:xfrm>
          <a:prstGeom xmlns:a="http://schemas.openxmlformats.org/drawingml/2006/main" prst="rect">
            <a:avLst/>
          </a:prstGeom>
          <a:solidFill xmlns:a="http://schemas.openxmlformats.org/drawingml/2006/main">
            <a:srgbClr val="556C85"/>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A211E552-E4A2-48A9-81F6-A222B5F9DBEC}"/>
              </a:ext>
            </a:extLst>
          </p:cNvPr>
          <p:cNvSpPr>
            <a:spLocks xmlns:a="http://schemas.openxmlformats.org/drawingml/2006/main" noGrp="1"/>
          </p:cNvSpPr>
          <p:nvPr/>
        </p:nvSpPr>
        <p:spPr>
          <a:xfrm xmlns:a="http://schemas.openxmlformats.org/drawingml/2006/main">
            <a:off x="13136880" y="5282565"/>
            <a:ext cx="19050" cy="1126998"/>
          </a:xfrm>
          <a:prstGeom xmlns:a="http://schemas.openxmlformats.org/drawingml/2006/main" prst="rect">
            <a:avLst/>
          </a:prstGeom>
          <a:solidFill xmlns:a="http://schemas.openxmlformats.org/drawingml/2006/main">
            <a:srgbClr val="84718E"/>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DE2A1BA8-E016-4D2E-961E-2BACACDFF408}"/>
              </a:ext>
            </a:extLst>
          </p:cNvPr>
          <p:cNvSpPr>
            <a:spLocks xmlns:a="http://schemas.openxmlformats.org/drawingml/2006/main" noGrp="1"/>
          </p:cNvSpPr>
          <p:nvPr/>
        </p:nvSpPr>
        <p:spPr>
          <a:xfrm xmlns:a="http://schemas.openxmlformats.org/drawingml/2006/main">
            <a:off x="13379958" y="5282565"/>
            <a:ext cx="19050" cy="1657350"/>
          </a:xfrm>
          <a:prstGeom xmlns:a="http://schemas.openxmlformats.org/drawingml/2006/main" prst="rect">
            <a:avLst/>
          </a:prstGeom>
          <a:solidFill xmlns:a="http://schemas.openxmlformats.org/drawingml/2006/main">
            <a:srgbClr val="A87438"/>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7F918C76-C2DC-4FEF-847E-C688F9BC13E9}"/>
              </a:ext>
            </a:extLst>
          </p:cNvPr>
          <p:cNvSpPr>
            <a:spLocks xmlns:a="http://schemas.openxmlformats.org/drawingml/2006/main" noGrp="1"/>
          </p:cNvSpPr>
          <p:nvPr/>
        </p:nvSpPr>
        <p:spPr>
          <a:xfrm xmlns:a="http://schemas.openxmlformats.org/drawingml/2006/main">
            <a:off x="1093470" y="5879211"/>
            <a:ext cx="4961001" cy="19050"/>
          </a:xfrm>
          <a:prstGeom xmlns:a="http://schemas.openxmlformats.org/drawingml/2006/main" prst="rect">
            <a:avLst/>
          </a:prstGeom>
          <a:solidFill xmlns:a="http://schemas.openxmlformats.org/drawingml/2006/main">
            <a:srgbClr val="556C85"/>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7A39661D-9353-4760-B621-A28ED9B9858F}"/>
              </a:ext>
            </a:extLst>
          </p:cNvPr>
          <p:cNvSpPr>
            <a:spLocks xmlns:a="http://schemas.openxmlformats.org/drawingml/2006/main" noGrp="1"/>
          </p:cNvSpPr>
          <p:nvPr/>
        </p:nvSpPr>
        <p:spPr>
          <a:xfrm xmlns:a="http://schemas.openxmlformats.org/drawingml/2006/main">
            <a:off x="1093470" y="5616321"/>
            <a:ext cx="7429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352E28"/>
                </a:solidFill>
                <a:latin typeface="Malgun Gothic"/>
                <a:ea typeface="Malgun Gothic"/>
                <a:cs typeface="Malgun Gothic"/>
              </a:defRPr>
            </a:defPPr>
          </a:lstStyle>
          <a:p xmlns:a="http://schemas.openxmlformats.org/drawingml/2006/main">
            <a:pPr algn="l">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서비스망</a:t>
            </a:r>
          </a:p>
        </p:txBody>
      </p:sp>
      <p:sp>
        <p:nvSpPr>
          <p:cNvPr id="68" name="">
            <a:extLst xmlns:a="http://schemas.openxmlformats.org/drawingml/2006/main">
              <a:ext uri="{FF2B5EF4-FFF2-40B4-BE49-F238E27FC236}">
                <a16:creationId xmlns:a16="http://schemas.microsoft.com/office/drawing/2014/main" id="{17EEBF5D-B533-4C3F-B550-85CE9C81BDF1}"/>
              </a:ext>
            </a:extLst>
          </p:cNvPr>
          <p:cNvSpPr>
            <a:spLocks xmlns:a="http://schemas.openxmlformats.org/drawingml/2006/main" noGrp="1"/>
          </p:cNvSpPr>
          <p:nvPr/>
        </p:nvSpPr>
        <p:spPr>
          <a:xfrm xmlns:a="http://schemas.openxmlformats.org/drawingml/2006/main">
            <a:off x="1093470" y="6409563"/>
            <a:ext cx="4961001" cy="19050"/>
          </a:xfrm>
          <a:prstGeom xmlns:a="http://schemas.openxmlformats.org/drawingml/2006/main" prst="rect">
            <a:avLst/>
          </a:prstGeom>
          <a:solidFill xmlns:a="http://schemas.openxmlformats.org/drawingml/2006/main">
            <a:srgbClr val="84718E"/>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CA5B74DA-1D48-4150-A3C1-837B58587ACA}"/>
              </a:ext>
            </a:extLst>
          </p:cNvPr>
          <p:cNvSpPr>
            <a:spLocks xmlns:a="http://schemas.openxmlformats.org/drawingml/2006/main" noGrp="1"/>
          </p:cNvSpPr>
          <p:nvPr/>
        </p:nvSpPr>
        <p:spPr>
          <a:xfrm xmlns:a="http://schemas.openxmlformats.org/drawingml/2006/main">
            <a:off x="1093470" y="6146673"/>
            <a:ext cx="7429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352E28"/>
                </a:solidFill>
                <a:latin typeface="Malgun Gothic"/>
                <a:ea typeface="Malgun Gothic"/>
                <a:cs typeface="Malgun Gothic"/>
              </a:defRPr>
            </a:defPPr>
          </a:lstStyle>
          <a:p xmlns:a="http://schemas.openxmlformats.org/drawingml/2006/main">
            <a:pPr algn="l">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관리망</a:t>
            </a:r>
          </a:p>
        </p:txBody>
      </p:sp>
      <p:sp>
        <p:nvSpPr>
          <p:cNvPr id="70" name="">
            <a:extLst xmlns:a="http://schemas.openxmlformats.org/drawingml/2006/main">
              <a:ext uri="{FF2B5EF4-FFF2-40B4-BE49-F238E27FC236}">
                <a16:creationId xmlns:a16="http://schemas.microsoft.com/office/drawing/2014/main" id="{04D1A398-6922-432F-B0F9-57B28670D2A2}"/>
              </a:ext>
            </a:extLst>
          </p:cNvPr>
          <p:cNvSpPr>
            <a:spLocks xmlns:a="http://schemas.openxmlformats.org/drawingml/2006/main" noGrp="1"/>
          </p:cNvSpPr>
          <p:nvPr/>
        </p:nvSpPr>
        <p:spPr>
          <a:xfrm xmlns:a="http://schemas.openxmlformats.org/drawingml/2006/main">
            <a:off x="1093470" y="6939915"/>
            <a:ext cx="4961001" cy="19050"/>
          </a:xfrm>
          <a:prstGeom xmlns:a="http://schemas.openxmlformats.org/drawingml/2006/main" prst="rect">
            <a:avLst/>
          </a:prstGeom>
          <a:solidFill xmlns:a="http://schemas.openxmlformats.org/drawingml/2006/main">
            <a:srgbClr val="A87438"/>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144F8894-6C40-4668-AACD-A743D8A5288F}"/>
              </a:ext>
            </a:extLst>
          </p:cNvPr>
          <p:cNvSpPr>
            <a:spLocks xmlns:a="http://schemas.openxmlformats.org/drawingml/2006/main" noGrp="1"/>
          </p:cNvSpPr>
          <p:nvPr/>
        </p:nvSpPr>
        <p:spPr>
          <a:xfrm xmlns:a="http://schemas.openxmlformats.org/drawingml/2006/main">
            <a:off x="1093470" y="6677025"/>
            <a:ext cx="7429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352E28"/>
                </a:solidFill>
                <a:latin typeface="Malgun Gothic"/>
                <a:ea typeface="Malgun Gothic"/>
                <a:cs typeface="Malgun Gothic"/>
              </a:defRPr>
            </a:defPPr>
          </a:lstStyle>
          <a:p xmlns:a="http://schemas.openxmlformats.org/drawingml/2006/main">
            <a:pPr algn="l">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NAS / BK망</a:t>
            </a:r>
          </a:p>
        </p:txBody>
      </p:sp>
      <p:sp>
        <p:nvSpPr>
          <p:cNvPr id="72" name="">
            <a:extLst xmlns:a="http://schemas.openxmlformats.org/drawingml/2006/main">
              <a:ext uri="{FF2B5EF4-FFF2-40B4-BE49-F238E27FC236}">
                <a16:creationId xmlns:a16="http://schemas.microsoft.com/office/drawing/2014/main" id="{2BB80D6F-3E9D-44B2-98B3-0EB98605E1BB}"/>
              </a:ext>
            </a:extLst>
          </p:cNvPr>
          <p:cNvSpPr>
            <a:spLocks xmlns:a="http://schemas.openxmlformats.org/drawingml/2006/main" noGrp="1"/>
          </p:cNvSpPr>
          <p:nvPr/>
        </p:nvSpPr>
        <p:spPr>
          <a:xfrm xmlns:a="http://schemas.openxmlformats.org/drawingml/2006/main">
            <a:off x="6838950" y="5879211"/>
            <a:ext cx="7270242" cy="19050"/>
          </a:xfrm>
          <a:prstGeom xmlns:a="http://schemas.openxmlformats.org/drawingml/2006/main" prst="rect">
            <a:avLst/>
          </a:prstGeom>
          <a:solidFill xmlns:a="http://schemas.openxmlformats.org/drawingml/2006/main">
            <a:srgbClr val="556C85"/>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D035456B-4086-4B20-AE0C-E4F1822CE4A8}"/>
              </a:ext>
            </a:extLst>
          </p:cNvPr>
          <p:cNvSpPr>
            <a:spLocks xmlns:a="http://schemas.openxmlformats.org/drawingml/2006/main" noGrp="1"/>
          </p:cNvSpPr>
          <p:nvPr/>
        </p:nvSpPr>
        <p:spPr>
          <a:xfrm xmlns:a="http://schemas.openxmlformats.org/drawingml/2006/main">
            <a:off x="6838950" y="5616321"/>
            <a:ext cx="7429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352E28"/>
                </a:solidFill>
                <a:latin typeface="Malgun Gothic"/>
                <a:ea typeface="Malgun Gothic"/>
                <a:cs typeface="Malgun Gothic"/>
              </a:defRPr>
            </a:defPPr>
          </a:lstStyle>
          <a:p xmlns:a="http://schemas.openxmlformats.org/drawingml/2006/main">
            <a:pPr algn="l">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서비스망</a:t>
            </a:r>
          </a:p>
        </p:txBody>
      </p:sp>
      <p:sp>
        <p:nvSpPr>
          <p:cNvPr id="74" name="">
            <a:extLst xmlns:a="http://schemas.openxmlformats.org/drawingml/2006/main">
              <a:ext uri="{FF2B5EF4-FFF2-40B4-BE49-F238E27FC236}">
                <a16:creationId xmlns:a16="http://schemas.microsoft.com/office/drawing/2014/main" id="{FF0561CC-0699-4C4E-A8E6-DA395D25B2CF}"/>
              </a:ext>
            </a:extLst>
          </p:cNvPr>
          <p:cNvSpPr>
            <a:spLocks xmlns:a="http://schemas.openxmlformats.org/drawingml/2006/main" noGrp="1"/>
          </p:cNvSpPr>
          <p:nvPr/>
        </p:nvSpPr>
        <p:spPr>
          <a:xfrm xmlns:a="http://schemas.openxmlformats.org/drawingml/2006/main">
            <a:off x="6838950" y="6409563"/>
            <a:ext cx="7270242" cy="19050"/>
          </a:xfrm>
          <a:prstGeom xmlns:a="http://schemas.openxmlformats.org/drawingml/2006/main" prst="rect">
            <a:avLst/>
          </a:prstGeom>
          <a:solidFill xmlns:a="http://schemas.openxmlformats.org/drawingml/2006/main">
            <a:srgbClr val="84718E"/>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1448851F-F9DA-466F-9C79-9CD3308D5BB4}"/>
              </a:ext>
            </a:extLst>
          </p:cNvPr>
          <p:cNvSpPr>
            <a:spLocks xmlns:a="http://schemas.openxmlformats.org/drawingml/2006/main" noGrp="1"/>
          </p:cNvSpPr>
          <p:nvPr/>
        </p:nvSpPr>
        <p:spPr>
          <a:xfrm xmlns:a="http://schemas.openxmlformats.org/drawingml/2006/main">
            <a:off x="6838950" y="6146673"/>
            <a:ext cx="7429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352E28"/>
                </a:solidFill>
                <a:latin typeface="Malgun Gothic"/>
                <a:ea typeface="Malgun Gothic"/>
                <a:cs typeface="Malgun Gothic"/>
              </a:defRPr>
            </a:defPPr>
          </a:lstStyle>
          <a:p xmlns:a="http://schemas.openxmlformats.org/drawingml/2006/main">
            <a:pPr algn="l">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관리망</a:t>
            </a:r>
          </a:p>
        </p:txBody>
      </p:sp>
      <p:sp>
        <p:nvSpPr>
          <p:cNvPr id="76" name="">
            <a:extLst xmlns:a="http://schemas.openxmlformats.org/drawingml/2006/main">
              <a:ext uri="{FF2B5EF4-FFF2-40B4-BE49-F238E27FC236}">
                <a16:creationId xmlns:a16="http://schemas.microsoft.com/office/drawing/2014/main" id="{4ECD66E0-A9A3-4BEB-883C-04A01DF84D48}"/>
              </a:ext>
            </a:extLst>
          </p:cNvPr>
          <p:cNvSpPr>
            <a:spLocks xmlns:a="http://schemas.openxmlformats.org/drawingml/2006/main" noGrp="1"/>
          </p:cNvSpPr>
          <p:nvPr/>
        </p:nvSpPr>
        <p:spPr>
          <a:xfrm xmlns:a="http://schemas.openxmlformats.org/drawingml/2006/main">
            <a:off x="6838950" y="6939915"/>
            <a:ext cx="7270242" cy="19050"/>
          </a:xfrm>
          <a:prstGeom xmlns:a="http://schemas.openxmlformats.org/drawingml/2006/main" prst="rect">
            <a:avLst/>
          </a:prstGeom>
          <a:solidFill xmlns:a="http://schemas.openxmlformats.org/drawingml/2006/main">
            <a:srgbClr val="A87438"/>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603FE522-922E-4143-93C5-92DDF54E9105}"/>
              </a:ext>
            </a:extLst>
          </p:cNvPr>
          <p:cNvSpPr>
            <a:spLocks xmlns:a="http://schemas.openxmlformats.org/drawingml/2006/main" noGrp="1"/>
          </p:cNvSpPr>
          <p:nvPr/>
        </p:nvSpPr>
        <p:spPr>
          <a:xfrm xmlns:a="http://schemas.openxmlformats.org/drawingml/2006/main">
            <a:off x="6838950" y="6677025"/>
            <a:ext cx="7429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352E28"/>
                </a:solidFill>
                <a:latin typeface="Malgun Gothic"/>
                <a:ea typeface="Malgun Gothic"/>
                <a:cs typeface="Malgun Gothic"/>
              </a:defRPr>
            </a:defPPr>
          </a:lstStyle>
          <a:p xmlns:a="http://schemas.openxmlformats.org/drawingml/2006/main">
            <a:pPr algn="l">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NAS / BK망</a:t>
            </a:r>
          </a:p>
        </p:txBody>
      </p:sp>
      <p:sp>
        <p:nvSpPr>
          <p:cNvPr id="78" name="">
            <a:extLst xmlns:a="http://schemas.openxmlformats.org/drawingml/2006/main">
              <a:ext uri="{FF2B5EF4-FFF2-40B4-BE49-F238E27FC236}">
                <a16:creationId xmlns:a16="http://schemas.microsoft.com/office/drawing/2014/main" id="{6BDF7BD3-EEDB-4CF0-A296-530B204FD2A4}"/>
              </a:ext>
            </a:extLst>
          </p:cNvPr>
          <p:cNvSpPr>
            <a:spLocks xmlns:a="http://schemas.openxmlformats.org/drawingml/2006/main" noGrp="1"/>
          </p:cNvSpPr>
          <p:nvPr/>
        </p:nvSpPr>
        <p:spPr>
          <a:xfrm xmlns:a="http://schemas.openxmlformats.org/drawingml/2006/main">
            <a:off x="1093470" y="7306818"/>
            <a:ext cx="7429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352E28"/>
                </a:solidFill>
                <a:latin typeface="Malgun Gothic"/>
                <a:ea typeface="Malgun Gothic"/>
                <a:cs typeface="Malgun Gothic"/>
              </a:defRPr>
            </a:defPPr>
          </a:lstStyle>
          <a:p xmlns:a="http://schemas.openxmlformats.org/drawingml/2006/main">
            <a:pPr algn="l">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VM 13식 · 데이터스토어: VMFS (FC LUN)</a:t>
            </a:r>
          </a:p>
        </p:txBody>
      </p:sp>
      <p:sp>
        <p:nvSpPr>
          <p:cNvPr id="79" name="">
            <a:extLst xmlns:a="http://schemas.openxmlformats.org/drawingml/2006/main">
              <a:ext uri="{FF2B5EF4-FFF2-40B4-BE49-F238E27FC236}">
                <a16:creationId xmlns:a16="http://schemas.microsoft.com/office/drawing/2014/main" id="{52C51D3F-C6DC-4A0A-91BD-6D3A55A47C9A}"/>
              </a:ext>
            </a:extLst>
          </p:cNvPr>
          <p:cNvSpPr>
            <a:spLocks xmlns:a="http://schemas.openxmlformats.org/drawingml/2006/main" noGrp="1"/>
          </p:cNvSpPr>
          <p:nvPr/>
        </p:nvSpPr>
        <p:spPr>
          <a:xfrm xmlns:a="http://schemas.openxmlformats.org/drawingml/2006/main">
            <a:off x="6838950" y="7306818"/>
            <a:ext cx="7429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352E28"/>
                </a:solidFill>
                <a:latin typeface="Malgun Gothic"/>
                <a:ea typeface="Malgun Gothic"/>
                <a:cs typeface="Malgun Gothic"/>
              </a:defRPr>
            </a:defPPr>
          </a:lstStyle>
          <a:p xmlns:a="http://schemas.openxmlformats.org/drawingml/2006/main">
            <a:pPr algn="l">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EMC CSI 볼륨 할당 예정 · 기존 HV IP 재사용</a:t>
            </a:r>
          </a:p>
        </p:txBody>
      </p:sp>
    </p:spTree>
    <p:extLst>
      <p:ext uri="{BB962C8B-B14F-4D97-AF65-F5344CB8AC3E}">
        <p14:creationId xmlns:p14="http://schemas.microsoft.com/office/powerpoint/2010/main" val="1479154532"/>
      </p:ext>
    </p:extLst>
  </p:cSld>
</p:sld>
</file>

<file path=ppt/slides/slide4.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88" name="">
            <a:extLst xmlns:a="http://schemas.openxmlformats.org/drawingml/2006/main">
              <a:ext uri="{FF2B5EF4-FFF2-40B4-BE49-F238E27FC236}">
                <a16:creationId xmlns:a16="http://schemas.microsoft.com/office/drawing/2014/main" id="{AD8AF577-336D-4CA4-B89B-79BAE8D56B5D}"/>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내부망 AS-IS / TO-BE</a:t>
            </a:r>
          </a:p>
        </p:txBody>
      </p:sp>
      <p:sp>
        <p:nvSpPr>
          <p:cNvPr id="2" name="">
            <a:extLst xmlns:a="http://schemas.openxmlformats.org/drawingml/2006/main">
              <a:ext uri="{FF2B5EF4-FFF2-40B4-BE49-F238E27FC236}">
                <a16:creationId xmlns:a16="http://schemas.microsoft.com/office/drawing/2014/main" id="{0AC3BACD-AB3D-4F82-ADE9-D947A33A2E7A}"/>
              </a:ext>
            </a:extLst>
          </p:cNvPr>
          <p:cNvSpPr>
            <a:spLocks xmlns:a="http://schemas.openxmlformats.org/drawingml/2006/main" noGrp="1"/>
          </p:cNvSpPr>
          <p:nvPr/>
        </p:nvSpPr>
        <p:spPr>
          <a:xfrm xmlns:a="http://schemas.openxmlformats.org/drawingml/2006/main">
            <a:off x="628650" y="1114425"/>
            <a:ext cx="1398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75685B"/>
                </a:solidFill>
                <a:latin typeface="Malgun Gothic"/>
                <a:ea typeface="Malgun Gothic"/>
                <a:cs typeface="Malgun Gothic"/>
              </a:defRPr>
            </a:defPPr>
          </a:lstStyle>
          <a:p xmlns:a="http://schemas.openxmlformats.org/drawingml/2006/main">
            <a:pPr algn="l">
              <a:defRPr sz="1575" b="0">
                <a:solidFill>
                  <a:srgbClr val="75685B"/>
                </a:solidFill>
                <a:latin typeface="Malgun Gothic"/>
                <a:ea typeface="Malgun Gothic"/>
                <a:cs typeface="Malgun Gothic"/>
              </a:defRPr>
            </a:pPr>
            <a:r>
              <a:rPr sz="1575" b="0">
                <a:solidFill>
                  <a:srgbClr val="75685B"/>
                </a:solidFill>
                <a:latin typeface="Malgun Gothic"/>
                <a:ea typeface="Malgun Gothic"/>
                <a:cs typeface="Malgun Gothic"/>
              </a:rPr>
              <a:t>Worker1은 선구축하며, 강조한 Worker2는 MTV 이후 재구성합니다.</a:t>
            </a:r>
          </a:p>
        </p:txBody>
      </p:sp>
      <p:sp>
        <p:nvSpPr>
          <p:cNvPr id="3" name="">
            <a:extLst xmlns:a="http://schemas.openxmlformats.org/drawingml/2006/main">
              <a:ext uri="{FF2B5EF4-FFF2-40B4-BE49-F238E27FC236}">
                <a16:creationId xmlns:a16="http://schemas.microsoft.com/office/drawing/2014/main" id="{8527D5C7-AC28-4E03-8C7E-DA8647ACB857}"/>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4" name="">
            <a:extLst xmlns:a="http://schemas.openxmlformats.org/drawingml/2006/main">
              <a:ext uri="{FF2B5EF4-FFF2-40B4-BE49-F238E27FC236}">
                <a16:creationId xmlns:a16="http://schemas.microsoft.com/office/drawing/2014/main" id="{47B4A804-48D1-4BDE-A338-DC31E32F13EB}"/>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04</a:t>
            </a:r>
          </a:p>
        </p:txBody>
      </p:sp>
      <p:sp>
        <p:nvSpPr>
          <p:cNvPr id="5" name="">
            <a:extLst xmlns:a="http://schemas.openxmlformats.org/drawingml/2006/main">
              <a:ext uri="{FF2B5EF4-FFF2-40B4-BE49-F238E27FC236}">
                <a16:creationId xmlns:a16="http://schemas.microsoft.com/office/drawing/2014/main" id="{3B326DE7-123C-4E16-8C7C-30A300529A72}"/>
              </a:ext>
            </a:extLst>
          </p:cNvPr>
          <p:cNvSpPr>
            <a:spLocks xmlns:a="http://schemas.openxmlformats.org/drawingml/2006/main" noGrp="1"/>
          </p:cNvSpPr>
          <p:nvPr/>
        </p:nvSpPr>
        <p:spPr>
          <a:xfrm xmlns:a="http://schemas.openxmlformats.org/drawingml/2006/main">
            <a:off x="872490" y="1691640"/>
            <a:ext cx="5414010" cy="6187440"/>
          </a:xfrm>
          <a:prstGeom xmlns:a="http://schemas.openxmlformats.org/drawingml/2006/main" prst="rect">
            <a:avLst/>
          </a:prstGeom>
          <a:solidFill xmlns:a="http://schemas.openxmlformats.org/drawingml/2006/main">
            <a:srgbClr val="FFFAF0"/>
          </a:solidFill>
          <a:ln xmlns:a="http://schemas.openxmlformats.org/drawingml/2006/main" w="9525">
            <a:solidFill>
              <a:srgbClr val="656566"/>
            </a:solidFill>
            <a:prstDash val="solid"/>
          </a:ln>
        </p:spPr>
      </p:sp>
      <p:sp>
        <p:nvSpPr>
          <p:cNvPr id="6" name="">
            <a:extLst xmlns:a="http://schemas.openxmlformats.org/drawingml/2006/main">
              <a:ext uri="{FF2B5EF4-FFF2-40B4-BE49-F238E27FC236}">
                <a16:creationId xmlns:a16="http://schemas.microsoft.com/office/drawing/2014/main" id="{DD6E6530-46FB-4BD1-8531-B5E956EFB835}"/>
              </a:ext>
            </a:extLst>
          </p:cNvPr>
          <p:cNvSpPr>
            <a:spLocks xmlns:a="http://schemas.openxmlformats.org/drawingml/2006/main" noGrp="1"/>
          </p:cNvSpPr>
          <p:nvPr/>
        </p:nvSpPr>
        <p:spPr>
          <a:xfrm xmlns:a="http://schemas.openxmlformats.org/drawingml/2006/main">
            <a:off x="872490" y="1691640"/>
            <a:ext cx="5414010" cy="541401"/>
          </a:xfrm>
          <a:prstGeom xmlns:a="http://schemas.openxmlformats.org/drawingml/2006/main" prst="rect">
            <a:avLst/>
          </a:prstGeom>
          <a:solidFill xmlns:a="http://schemas.openxmlformats.org/drawingml/2006/main">
            <a:srgbClr val="65656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4F684EB-AE20-4900-80D1-92D93028155E}"/>
              </a:ext>
            </a:extLst>
          </p:cNvPr>
          <p:cNvSpPr>
            <a:spLocks xmlns:a="http://schemas.openxmlformats.org/drawingml/2006/main" noGrp="1"/>
          </p:cNvSpPr>
          <p:nvPr/>
        </p:nvSpPr>
        <p:spPr>
          <a:xfrm xmlns:a="http://schemas.openxmlformats.org/drawingml/2006/main">
            <a:off x="6617970" y="1691640"/>
            <a:ext cx="7734300" cy="6187440"/>
          </a:xfrm>
          <a:prstGeom xmlns:a="http://schemas.openxmlformats.org/drawingml/2006/main" prst="rect">
            <a:avLst/>
          </a:prstGeom>
          <a:solidFill xmlns:a="http://schemas.openxmlformats.org/drawingml/2006/main">
            <a:srgbClr val="FFFAF0"/>
          </a:solidFill>
          <a:ln xmlns:a="http://schemas.openxmlformats.org/drawingml/2006/main" w="9525">
            <a:solidFill>
              <a:srgbClr val="89613E"/>
            </a:solidFill>
            <a:prstDash val="solid"/>
          </a:ln>
        </p:spPr>
      </p:sp>
      <p:sp>
        <p:nvSpPr>
          <p:cNvPr id="8" name="">
            <a:extLst xmlns:a="http://schemas.openxmlformats.org/drawingml/2006/main">
              <a:ext uri="{FF2B5EF4-FFF2-40B4-BE49-F238E27FC236}">
                <a16:creationId xmlns:a16="http://schemas.microsoft.com/office/drawing/2014/main" id="{659C21DD-403F-4F4D-AF90-ADAEBC27758C}"/>
              </a:ext>
            </a:extLst>
          </p:cNvPr>
          <p:cNvSpPr>
            <a:spLocks xmlns:a="http://schemas.openxmlformats.org/drawingml/2006/main" noGrp="1"/>
          </p:cNvSpPr>
          <p:nvPr/>
        </p:nvSpPr>
        <p:spPr>
          <a:xfrm xmlns:a="http://schemas.openxmlformats.org/drawingml/2006/main">
            <a:off x="6617970" y="1691640"/>
            <a:ext cx="7734300" cy="541401"/>
          </a:xfrm>
          <a:prstGeom xmlns:a="http://schemas.openxmlformats.org/drawingml/2006/main" prst="rect">
            <a:avLst/>
          </a:prstGeom>
          <a:solidFill xmlns:a="http://schemas.openxmlformats.org/drawingml/2006/main">
            <a:srgbClr val="89613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0F3EA9C-11B3-4582-BE64-4D8DC8EE7802}"/>
              </a:ext>
            </a:extLst>
          </p:cNvPr>
          <p:cNvSpPr>
            <a:spLocks xmlns:a="http://schemas.openxmlformats.org/drawingml/2006/main" noGrp="1"/>
          </p:cNvSpPr>
          <p:nvPr/>
        </p:nvSpPr>
        <p:spPr>
          <a:xfrm xmlns:a="http://schemas.openxmlformats.org/drawingml/2006/main">
            <a:off x="1093470" y="1827657"/>
            <a:ext cx="7429500" cy="331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00" b="1">
                <a:solidFill>
                  <a:srgbClr val="FFFAF0"/>
                </a:solidFill>
                <a:latin typeface="Malgun Gothic"/>
                <a:ea typeface="Malgun Gothic"/>
                <a:cs typeface="Malgun Gothic"/>
              </a:defRPr>
            </a:defPPr>
          </a:lstStyle>
          <a:p xmlns:a="http://schemas.openxmlformats.org/drawingml/2006/main">
            <a:pPr algn="l">
              <a:defRPr sz="1800" b="1">
                <a:solidFill>
                  <a:srgbClr val="FFFAF0"/>
                </a:solidFill>
                <a:latin typeface="Malgun Gothic"/>
                <a:ea typeface="Malgun Gothic"/>
                <a:cs typeface="Malgun Gothic"/>
              </a:defRPr>
            </a:pPr>
            <a:r>
              <a:rPr sz="1800" b="1">
                <a:solidFill>
                  <a:srgbClr val="FFFAF0"/>
                </a:solidFill>
                <a:latin typeface="Malgun Gothic"/>
                <a:ea typeface="Malgun Gothic"/>
                <a:cs typeface="Malgun Gothic"/>
              </a:rPr>
              <a:t>AS-IS 현재 · 내부망 VMware HV 3대</a:t>
            </a:r>
          </a:p>
        </p:txBody>
      </p:sp>
      <p:sp>
        <p:nvSpPr>
          <p:cNvPr id="10" name="">
            <a:extLst xmlns:a="http://schemas.openxmlformats.org/drawingml/2006/main">
              <a:ext uri="{FF2B5EF4-FFF2-40B4-BE49-F238E27FC236}">
                <a16:creationId xmlns:a16="http://schemas.microsoft.com/office/drawing/2014/main" id="{E2B80FCA-CAFE-43FF-8B2F-79136D544BA4}"/>
              </a:ext>
            </a:extLst>
          </p:cNvPr>
          <p:cNvSpPr>
            <a:spLocks xmlns:a="http://schemas.openxmlformats.org/drawingml/2006/main" noGrp="1"/>
          </p:cNvSpPr>
          <p:nvPr/>
        </p:nvSpPr>
        <p:spPr>
          <a:xfrm xmlns:a="http://schemas.openxmlformats.org/drawingml/2006/main">
            <a:off x="6838950" y="1827657"/>
            <a:ext cx="7429500" cy="331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00" b="1">
                <a:solidFill>
                  <a:srgbClr val="FFFAF0"/>
                </a:solidFill>
                <a:latin typeface="Malgun Gothic"/>
                <a:ea typeface="Malgun Gothic"/>
                <a:cs typeface="Malgun Gothic"/>
              </a:defRPr>
            </a:defPPr>
          </a:lstStyle>
          <a:p xmlns:a="http://schemas.openxmlformats.org/drawingml/2006/main">
            <a:pPr algn="l">
              <a:defRPr sz="1800" b="1">
                <a:solidFill>
                  <a:srgbClr val="FFFAF0"/>
                </a:solidFill>
                <a:latin typeface="Malgun Gothic"/>
                <a:ea typeface="Malgun Gothic"/>
                <a:cs typeface="Malgun Gothic"/>
              </a:defRPr>
            </a:pPr>
            <a:r>
              <a:rPr sz="1800" b="1">
                <a:solidFill>
                  <a:srgbClr val="FFFAF0"/>
                </a:solidFill>
                <a:latin typeface="Malgun Gothic"/>
                <a:ea typeface="Malgun Gothic"/>
                <a:cs typeface="Malgun Gothic"/>
              </a:rPr>
              <a:t>TO-BE 목표 · 내부망 OpenShift / MTV 완료 후</a:t>
            </a:r>
          </a:p>
        </p:txBody>
      </p:sp>
      <p:sp>
        <p:nvSpPr>
          <p:cNvPr id="11" name="">
            <a:extLst xmlns:a="http://schemas.openxmlformats.org/drawingml/2006/main">
              <a:ext uri="{FF2B5EF4-FFF2-40B4-BE49-F238E27FC236}">
                <a16:creationId xmlns:a16="http://schemas.microsoft.com/office/drawing/2014/main" id="{042C6936-0FB4-4D5C-B791-C03CC7B916DF}"/>
              </a:ext>
            </a:extLst>
          </p:cNvPr>
          <p:cNvSpPr>
            <a:spLocks xmlns:a="http://schemas.openxmlformats.org/drawingml/2006/main" noGrp="1"/>
          </p:cNvSpPr>
          <p:nvPr/>
        </p:nvSpPr>
        <p:spPr>
          <a:xfrm xmlns:a="http://schemas.openxmlformats.org/drawingml/2006/main">
            <a:off x="1148715" y="2774442"/>
            <a:ext cx="1469517" cy="2508123"/>
          </a:xfrm>
          <a:prstGeom xmlns:a="http://schemas.openxmlformats.org/drawingml/2006/main" prst="rect">
            <a:avLst/>
          </a:prstGeom>
          <a:solidFill xmlns:a="http://schemas.openxmlformats.org/drawingml/2006/main">
            <a:srgbClr val="FFFDF6"/>
          </a:solidFill>
          <a:ln xmlns:a="http://schemas.openxmlformats.org/drawingml/2006/main" w="9525">
            <a:solidFill>
              <a:srgbClr val="9D8B74"/>
            </a:solidFill>
            <a:prstDash val="solid"/>
          </a:ln>
        </p:spPr>
      </p:sp>
      <p:sp>
        <p:nvSpPr>
          <p:cNvPr id="12" name="">
            <a:extLst xmlns:a="http://schemas.openxmlformats.org/drawingml/2006/main">
              <a:ext uri="{FF2B5EF4-FFF2-40B4-BE49-F238E27FC236}">
                <a16:creationId xmlns:a16="http://schemas.microsoft.com/office/drawing/2014/main" id="{52D3E4FC-91AC-4660-AEE6-5A647E81B42B}"/>
              </a:ext>
            </a:extLst>
          </p:cNvPr>
          <p:cNvSpPr>
            <a:spLocks xmlns:a="http://schemas.openxmlformats.org/drawingml/2006/main" noGrp="1"/>
          </p:cNvSpPr>
          <p:nvPr/>
        </p:nvSpPr>
        <p:spPr>
          <a:xfrm xmlns:a="http://schemas.openxmlformats.org/drawingml/2006/main">
            <a:off x="978599" y="2897886"/>
            <a:ext cx="18097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725" b="1">
                <a:solidFill>
                  <a:srgbClr val="352E28"/>
                </a:solidFill>
                <a:latin typeface="Malgun Gothic"/>
                <a:ea typeface="Malgun Gothic"/>
                <a:cs typeface="Malgun Gothic"/>
              </a:defRPr>
            </a:defPPr>
          </a:lstStyle>
          <a:p xmlns:a="http://schemas.openxmlformats.org/drawingml/2006/main">
            <a:pPr algn="ctr">
              <a:defRPr sz="1725" b="1">
                <a:solidFill>
                  <a:srgbClr val="352E28"/>
                </a:solidFill>
                <a:latin typeface="Malgun Gothic"/>
                <a:ea typeface="Malgun Gothic"/>
                <a:cs typeface="Malgun Gothic"/>
              </a:defRPr>
            </a:pPr>
            <a:r>
              <a:rPr sz="1725" b="1">
                <a:solidFill>
                  <a:srgbClr val="352E28"/>
                </a:solidFill>
                <a:latin typeface="Malgun Gothic"/>
                <a:ea typeface="Malgun Gothic"/>
                <a:cs typeface="Malgun Gothic"/>
              </a:rPr>
              <a:t>HV#01</a:t>
            </a:r>
          </a:p>
        </p:txBody>
      </p:sp>
      <p:sp>
        <p:nvSpPr>
          <p:cNvPr id="13" name="">
            <a:extLst xmlns:a="http://schemas.openxmlformats.org/drawingml/2006/main">
              <a:ext uri="{FF2B5EF4-FFF2-40B4-BE49-F238E27FC236}">
                <a16:creationId xmlns:a16="http://schemas.microsoft.com/office/drawing/2014/main" id="{1F6460E7-64C5-495C-92AE-EC34A260DF4A}"/>
              </a:ext>
            </a:extLst>
          </p:cNvPr>
          <p:cNvSpPr>
            <a:spLocks xmlns:a="http://schemas.openxmlformats.org/drawingml/2006/main" noGrp="1"/>
          </p:cNvSpPr>
          <p:nvPr/>
        </p:nvSpPr>
        <p:spPr>
          <a:xfrm xmlns:a="http://schemas.openxmlformats.org/drawingml/2006/main">
            <a:off x="978599" y="3234309"/>
            <a:ext cx="18097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0">
                <a:solidFill>
                  <a:srgbClr val="352E28"/>
                </a:solidFill>
                <a:latin typeface="Malgun Gothic"/>
                <a:ea typeface="Malgun Gothic"/>
                <a:cs typeface="Malgun Gothic"/>
              </a:defRPr>
            </a:defPPr>
          </a:lstStyle>
          <a:p xmlns:a="http://schemas.openxmlformats.org/drawingml/2006/main">
            <a:pPr algn="ctr">
              <a:defRPr sz="1425" b="0">
                <a:solidFill>
                  <a:srgbClr val="352E28"/>
                </a:solidFill>
                <a:latin typeface="Malgun Gothic"/>
                <a:ea typeface="Malgun Gothic"/>
                <a:cs typeface="Malgun Gothic"/>
              </a:defRPr>
            </a:pPr>
            <a:r>
              <a:rPr sz="1425" b="0">
                <a:solidFill>
                  <a:srgbClr val="352E28"/>
                </a:solidFill>
                <a:latin typeface="Malgun Gothic"/>
                <a:ea typeface="Malgun Gothic"/>
                <a:cs typeface="Malgun Gothic"/>
              </a:rPr>
              <a:t>VMware</a:t>
            </a:r>
          </a:p>
        </p:txBody>
      </p:sp>
      <p:sp>
        <p:nvSpPr>
          <p:cNvPr id="14" name="">
            <a:extLst xmlns:a="http://schemas.openxmlformats.org/drawingml/2006/main">
              <a:ext uri="{FF2B5EF4-FFF2-40B4-BE49-F238E27FC236}">
                <a16:creationId xmlns:a16="http://schemas.microsoft.com/office/drawing/2014/main" id="{571174BC-DFBE-43CF-ADF3-3F2E9759243C}"/>
              </a:ext>
            </a:extLst>
          </p:cNvPr>
          <p:cNvSpPr>
            <a:spLocks xmlns:a="http://schemas.openxmlformats.org/drawingml/2006/main" noGrp="1"/>
          </p:cNvSpPr>
          <p:nvPr/>
        </p:nvSpPr>
        <p:spPr>
          <a:xfrm xmlns:a="http://schemas.openxmlformats.org/drawingml/2006/main">
            <a:off x="1281303" y="3702558"/>
            <a:ext cx="1204341" cy="541401"/>
          </a:xfrm>
          <a:prstGeom xmlns:a="http://schemas.openxmlformats.org/drawingml/2006/main" prst="rect">
            <a:avLst/>
          </a:prstGeom>
          <a:solidFill xmlns:a="http://schemas.openxmlformats.org/drawingml/2006/main">
            <a:srgbClr val="E8DFCC"/>
          </a:solidFill>
          <a:ln xmlns:a="http://schemas.openxmlformats.org/drawingml/2006/main" w="9525">
            <a:solidFill>
              <a:srgbClr val="A38B66"/>
            </a:solidFill>
            <a:prstDash val="solid"/>
          </a:ln>
        </p:spPr>
      </p:sp>
      <p:sp>
        <p:nvSpPr>
          <p:cNvPr id="15" name="">
            <a:extLst xmlns:a="http://schemas.openxmlformats.org/drawingml/2006/main">
              <a:ext uri="{FF2B5EF4-FFF2-40B4-BE49-F238E27FC236}">
                <a16:creationId xmlns:a16="http://schemas.microsoft.com/office/drawing/2014/main" id="{F0D3F4E0-46BF-482C-876E-3645F86E6747}"/>
              </a:ext>
            </a:extLst>
          </p:cNvPr>
          <p:cNvSpPr>
            <a:spLocks xmlns:a="http://schemas.openxmlformats.org/drawingml/2006/main" noGrp="1"/>
          </p:cNvSpPr>
          <p:nvPr/>
        </p:nvSpPr>
        <p:spPr>
          <a:xfrm xmlns:a="http://schemas.openxmlformats.org/drawingml/2006/main">
            <a:off x="978599" y="3853053"/>
            <a:ext cx="18097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0">
                <a:solidFill>
                  <a:srgbClr val="352E28"/>
                </a:solidFill>
                <a:latin typeface="Malgun Gothic"/>
                <a:ea typeface="Malgun Gothic"/>
                <a:cs typeface="Malgun Gothic"/>
              </a:defRPr>
            </a:defPPr>
          </a:lstStyle>
          <a:p xmlns:a="http://schemas.openxmlformats.org/drawingml/2006/main">
            <a:pPr algn="ctr">
              <a:defRPr sz="1425" b="0">
                <a:solidFill>
                  <a:srgbClr val="352E28"/>
                </a:solidFill>
                <a:latin typeface="Malgun Gothic"/>
                <a:ea typeface="Malgun Gothic"/>
                <a:cs typeface="Malgun Gothic"/>
              </a:defRPr>
            </a:pPr>
            <a:r>
              <a:rPr sz="1425" b="0">
                <a:solidFill>
                  <a:srgbClr val="352E28"/>
                </a:solidFill>
                <a:latin typeface="Malgun Gothic"/>
                <a:ea typeface="Malgun Gothic"/>
                <a:cs typeface="Malgun Gothic"/>
              </a:rPr>
              <a:t>운영 VM</a:t>
            </a:r>
          </a:p>
        </p:txBody>
      </p:sp>
      <p:sp>
        <p:nvSpPr>
          <p:cNvPr id="16" name="">
            <a:extLst xmlns:a="http://schemas.openxmlformats.org/drawingml/2006/main">
              <a:ext uri="{FF2B5EF4-FFF2-40B4-BE49-F238E27FC236}">
                <a16:creationId xmlns:a16="http://schemas.microsoft.com/office/drawing/2014/main" id="{5974570E-F7D5-4FDB-B5A3-D88B960C3E57}"/>
              </a:ext>
            </a:extLst>
          </p:cNvPr>
          <p:cNvSpPr>
            <a:spLocks xmlns:a="http://schemas.openxmlformats.org/drawingml/2006/main" noGrp="1"/>
          </p:cNvSpPr>
          <p:nvPr/>
        </p:nvSpPr>
        <p:spPr>
          <a:xfrm xmlns:a="http://schemas.openxmlformats.org/drawingml/2006/main">
            <a:off x="978599" y="4489323"/>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MTV 원본 유지 예정</a:t>
            </a:r>
          </a:p>
        </p:txBody>
      </p:sp>
      <p:sp>
        <p:nvSpPr>
          <p:cNvPr id="17" name="">
            <a:extLst xmlns:a="http://schemas.openxmlformats.org/drawingml/2006/main">
              <a:ext uri="{FF2B5EF4-FFF2-40B4-BE49-F238E27FC236}">
                <a16:creationId xmlns:a16="http://schemas.microsoft.com/office/drawing/2014/main" id="{6048024A-E984-4140-913D-C7CDEDCB354E}"/>
              </a:ext>
            </a:extLst>
          </p:cNvPr>
          <p:cNvSpPr>
            <a:spLocks xmlns:a="http://schemas.openxmlformats.org/drawingml/2006/main" noGrp="1"/>
          </p:cNvSpPr>
          <p:nvPr/>
        </p:nvSpPr>
        <p:spPr>
          <a:xfrm xmlns:a="http://schemas.openxmlformats.org/drawingml/2006/main">
            <a:off x="978599" y="4732401"/>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이관 후 Worker2</a:t>
            </a:r>
          </a:p>
        </p:txBody>
      </p:sp>
      <p:sp>
        <p:nvSpPr>
          <p:cNvPr id="18" name="">
            <a:extLst xmlns:a="http://schemas.openxmlformats.org/drawingml/2006/main">
              <a:ext uri="{FF2B5EF4-FFF2-40B4-BE49-F238E27FC236}">
                <a16:creationId xmlns:a16="http://schemas.microsoft.com/office/drawing/2014/main" id="{35F2D5E6-C04B-43A1-A72B-50CC66C7D5F4}"/>
              </a:ext>
            </a:extLst>
          </p:cNvPr>
          <p:cNvSpPr>
            <a:spLocks xmlns:a="http://schemas.openxmlformats.org/drawingml/2006/main" noGrp="1"/>
          </p:cNvSpPr>
          <p:nvPr/>
        </p:nvSpPr>
        <p:spPr>
          <a:xfrm xmlns:a="http://schemas.openxmlformats.org/drawingml/2006/main">
            <a:off x="1640396" y="5282565"/>
            <a:ext cx="19050" cy="596646"/>
          </a:xfrm>
          <a:prstGeom xmlns:a="http://schemas.openxmlformats.org/drawingml/2006/main" prst="rect">
            <a:avLst/>
          </a:prstGeom>
          <a:solidFill xmlns:a="http://schemas.openxmlformats.org/drawingml/2006/main">
            <a:srgbClr val="556C8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F44A819-D8CC-4FE5-BD23-3CBC25BC94DA}"/>
              </a:ext>
            </a:extLst>
          </p:cNvPr>
          <p:cNvSpPr>
            <a:spLocks xmlns:a="http://schemas.openxmlformats.org/drawingml/2006/main" noGrp="1"/>
          </p:cNvSpPr>
          <p:nvPr/>
        </p:nvSpPr>
        <p:spPr>
          <a:xfrm xmlns:a="http://schemas.openxmlformats.org/drawingml/2006/main">
            <a:off x="1883474" y="5282565"/>
            <a:ext cx="19050" cy="1126998"/>
          </a:xfrm>
          <a:prstGeom xmlns:a="http://schemas.openxmlformats.org/drawingml/2006/main" prst="rect">
            <a:avLst/>
          </a:prstGeom>
          <a:solidFill xmlns:a="http://schemas.openxmlformats.org/drawingml/2006/main">
            <a:srgbClr val="84718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5250F0E-E4AA-4377-AA69-7B5BB665C570}"/>
              </a:ext>
            </a:extLst>
          </p:cNvPr>
          <p:cNvSpPr>
            <a:spLocks xmlns:a="http://schemas.openxmlformats.org/drawingml/2006/main" noGrp="1"/>
          </p:cNvSpPr>
          <p:nvPr/>
        </p:nvSpPr>
        <p:spPr>
          <a:xfrm xmlns:a="http://schemas.openxmlformats.org/drawingml/2006/main">
            <a:off x="2126552" y="5282565"/>
            <a:ext cx="19050" cy="1657350"/>
          </a:xfrm>
          <a:prstGeom xmlns:a="http://schemas.openxmlformats.org/drawingml/2006/main" prst="rect">
            <a:avLst/>
          </a:prstGeom>
          <a:solidFill xmlns:a="http://schemas.openxmlformats.org/drawingml/2006/main">
            <a:srgbClr val="A8743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7F20F5F-B2FA-45CE-8EC6-65AC19EBFA90}"/>
              </a:ext>
            </a:extLst>
          </p:cNvPr>
          <p:cNvSpPr>
            <a:spLocks xmlns:a="http://schemas.openxmlformats.org/drawingml/2006/main" noGrp="1"/>
          </p:cNvSpPr>
          <p:nvPr/>
        </p:nvSpPr>
        <p:spPr>
          <a:xfrm xmlns:a="http://schemas.openxmlformats.org/drawingml/2006/main">
            <a:off x="2817114" y="2774442"/>
            <a:ext cx="1469517" cy="2508123"/>
          </a:xfrm>
          <a:prstGeom xmlns:a="http://schemas.openxmlformats.org/drawingml/2006/main" prst="rect">
            <a:avLst/>
          </a:prstGeom>
          <a:solidFill xmlns:a="http://schemas.openxmlformats.org/drawingml/2006/main">
            <a:srgbClr val="FFFDF6"/>
          </a:solidFill>
          <a:ln xmlns:a="http://schemas.openxmlformats.org/drawingml/2006/main" w="9525">
            <a:solidFill>
              <a:srgbClr val="9D8B74"/>
            </a:solidFill>
            <a:prstDash val="solid"/>
          </a:ln>
        </p:spPr>
      </p:sp>
      <p:sp>
        <p:nvSpPr>
          <p:cNvPr id="22" name="">
            <a:extLst xmlns:a="http://schemas.openxmlformats.org/drawingml/2006/main">
              <a:ext uri="{FF2B5EF4-FFF2-40B4-BE49-F238E27FC236}">
                <a16:creationId xmlns:a16="http://schemas.microsoft.com/office/drawing/2014/main" id="{C469CD91-DC86-4EEC-AE9C-834D7E974D22}"/>
              </a:ext>
            </a:extLst>
          </p:cNvPr>
          <p:cNvSpPr>
            <a:spLocks xmlns:a="http://schemas.openxmlformats.org/drawingml/2006/main" noGrp="1"/>
          </p:cNvSpPr>
          <p:nvPr/>
        </p:nvSpPr>
        <p:spPr>
          <a:xfrm xmlns:a="http://schemas.openxmlformats.org/drawingml/2006/main">
            <a:off x="2646998" y="2897886"/>
            <a:ext cx="18097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725" b="1">
                <a:solidFill>
                  <a:srgbClr val="352E28"/>
                </a:solidFill>
                <a:latin typeface="Malgun Gothic"/>
                <a:ea typeface="Malgun Gothic"/>
                <a:cs typeface="Malgun Gothic"/>
              </a:defRPr>
            </a:defPPr>
          </a:lstStyle>
          <a:p xmlns:a="http://schemas.openxmlformats.org/drawingml/2006/main">
            <a:pPr algn="ctr">
              <a:defRPr sz="1725" b="1">
                <a:solidFill>
                  <a:srgbClr val="352E28"/>
                </a:solidFill>
                <a:latin typeface="Malgun Gothic"/>
                <a:ea typeface="Malgun Gothic"/>
                <a:cs typeface="Malgun Gothic"/>
              </a:defRPr>
            </a:pPr>
            <a:r>
              <a:rPr sz="1725" b="1">
                <a:solidFill>
                  <a:srgbClr val="352E28"/>
                </a:solidFill>
                <a:latin typeface="Malgun Gothic"/>
                <a:ea typeface="Malgun Gothic"/>
                <a:cs typeface="Malgun Gothic"/>
              </a:rPr>
              <a:t>HV#02</a:t>
            </a:r>
          </a:p>
        </p:txBody>
      </p:sp>
      <p:sp>
        <p:nvSpPr>
          <p:cNvPr id="23" name="">
            <a:extLst xmlns:a="http://schemas.openxmlformats.org/drawingml/2006/main">
              <a:ext uri="{FF2B5EF4-FFF2-40B4-BE49-F238E27FC236}">
                <a16:creationId xmlns:a16="http://schemas.microsoft.com/office/drawing/2014/main" id="{567B6E16-534C-4789-AF49-877323174EC4}"/>
              </a:ext>
            </a:extLst>
          </p:cNvPr>
          <p:cNvSpPr>
            <a:spLocks xmlns:a="http://schemas.openxmlformats.org/drawingml/2006/main" noGrp="1"/>
          </p:cNvSpPr>
          <p:nvPr/>
        </p:nvSpPr>
        <p:spPr>
          <a:xfrm xmlns:a="http://schemas.openxmlformats.org/drawingml/2006/main">
            <a:off x="2646998" y="3234309"/>
            <a:ext cx="18097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0">
                <a:solidFill>
                  <a:srgbClr val="352E28"/>
                </a:solidFill>
                <a:latin typeface="Malgun Gothic"/>
                <a:ea typeface="Malgun Gothic"/>
                <a:cs typeface="Malgun Gothic"/>
              </a:defRPr>
            </a:defPPr>
          </a:lstStyle>
          <a:p xmlns:a="http://schemas.openxmlformats.org/drawingml/2006/main">
            <a:pPr algn="ctr">
              <a:defRPr sz="1425" b="0">
                <a:solidFill>
                  <a:srgbClr val="352E28"/>
                </a:solidFill>
                <a:latin typeface="Malgun Gothic"/>
                <a:ea typeface="Malgun Gothic"/>
                <a:cs typeface="Malgun Gothic"/>
              </a:defRPr>
            </a:pPr>
            <a:r>
              <a:rPr sz="1425" b="0">
                <a:solidFill>
                  <a:srgbClr val="352E28"/>
                </a:solidFill>
                <a:latin typeface="Malgun Gothic"/>
                <a:ea typeface="Malgun Gothic"/>
                <a:cs typeface="Malgun Gothic"/>
              </a:rPr>
              <a:t>VMware</a:t>
            </a:r>
          </a:p>
        </p:txBody>
      </p:sp>
      <p:sp>
        <p:nvSpPr>
          <p:cNvPr id="24" name="">
            <a:extLst xmlns:a="http://schemas.openxmlformats.org/drawingml/2006/main">
              <a:ext uri="{FF2B5EF4-FFF2-40B4-BE49-F238E27FC236}">
                <a16:creationId xmlns:a16="http://schemas.microsoft.com/office/drawing/2014/main" id="{0876B81F-5061-41C4-B9BE-5FEA5875DA2F}"/>
              </a:ext>
            </a:extLst>
          </p:cNvPr>
          <p:cNvSpPr>
            <a:spLocks xmlns:a="http://schemas.openxmlformats.org/drawingml/2006/main" noGrp="1"/>
          </p:cNvSpPr>
          <p:nvPr/>
        </p:nvSpPr>
        <p:spPr>
          <a:xfrm xmlns:a="http://schemas.openxmlformats.org/drawingml/2006/main">
            <a:off x="2949702" y="3702558"/>
            <a:ext cx="1204341" cy="541401"/>
          </a:xfrm>
          <a:prstGeom xmlns:a="http://schemas.openxmlformats.org/drawingml/2006/main" prst="rect">
            <a:avLst/>
          </a:prstGeom>
          <a:solidFill xmlns:a="http://schemas.openxmlformats.org/drawingml/2006/main">
            <a:srgbClr val="E8DFCC"/>
          </a:solidFill>
          <a:ln xmlns:a="http://schemas.openxmlformats.org/drawingml/2006/main" w="9525">
            <a:solidFill>
              <a:srgbClr val="A38B66"/>
            </a:solidFill>
            <a:prstDash val="solid"/>
          </a:ln>
        </p:spPr>
      </p:sp>
      <p:sp>
        <p:nvSpPr>
          <p:cNvPr id="25" name="">
            <a:extLst xmlns:a="http://schemas.openxmlformats.org/drawingml/2006/main">
              <a:ext uri="{FF2B5EF4-FFF2-40B4-BE49-F238E27FC236}">
                <a16:creationId xmlns:a16="http://schemas.microsoft.com/office/drawing/2014/main" id="{25DBE6EA-A474-4D74-A5E5-23DD95D44AF1}"/>
              </a:ext>
            </a:extLst>
          </p:cNvPr>
          <p:cNvSpPr>
            <a:spLocks xmlns:a="http://schemas.openxmlformats.org/drawingml/2006/main" noGrp="1"/>
          </p:cNvSpPr>
          <p:nvPr/>
        </p:nvSpPr>
        <p:spPr>
          <a:xfrm xmlns:a="http://schemas.openxmlformats.org/drawingml/2006/main">
            <a:off x="2646998" y="3853053"/>
            <a:ext cx="18097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0">
                <a:solidFill>
                  <a:srgbClr val="352E28"/>
                </a:solidFill>
                <a:latin typeface="Malgun Gothic"/>
                <a:ea typeface="Malgun Gothic"/>
                <a:cs typeface="Malgun Gothic"/>
              </a:defRPr>
            </a:defPPr>
          </a:lstStyle>
          <a:p xmlns:a="http://schemas.openxmlformats.org/drawingml/2006/main">
            <a:pPr algn="ctr">
              <a:defRPr sz="1425" b="0">
                <a:solidFill>
                  <a:srgbClr val="352E28"/>
                </a:solidFill>
                <a:latin typeface="Malgun Gothic"/>
                <a:ea typeface="Malgun Gothic"/>
                <a:cs typeface="Malgun Gothic"/>
              </a:defRPr>
            </a:pPr>
            <a:r>
              <a:rPr sz="1425" b="0">
                <a:solidFill>
                  <a:srgbClr val="352E28"/>
                </a:solidFill>
                <a:latin typeface="Malgun Gothic"/>
                <a:ea typeface="Malgun Gothic"/>
                <a:cs typeface="Malgun Gothic"/>
              </a:rPr>
              <a:t>운영 VM</a:t>
            </a:r>
          </a:p>
        </p:txBody>
      </p:sp>
      <p:sp>
        <p:nvSpPr>
          <p:cNvPr id="26" name="">
            <a:extLst xmlns:a="http://schemas.openxmlformats.org/drawingml/2006/main">
              <a:ext uri="{FF2B5EF4-FFF2-40B4-BE49-F238E27FC236}">
                <a16:creationId xmlns:a16="http://schemas.microsoft.com/office/drawing/2014/main" id="{10734CCA-6123-4A2B-93BC-4434C3605296}"/>
              </a:ext>
            </a:extLst>
          </p:cNvPr>
          <p:cNvSpPr>
            <a:spLocks xmlns:a="http://schemas.openxmlformats.org/drawingml/2006/main" noGrp="1"/>
          </p:cNvSpPr>
          <p:nvPr/>
        </p:nvSpPr>
        <p:spPr>
          <a:xfrm xmlns:a="http://schemas.openxmlformats.org/drawingml/2006/main">
            <a:off x="3308795" y="5282565"/>
            <a:ext cx="19050" cy="596646"/>
          </a:xfrm>
          <a:prstGeom xmlns:a="http://schemas.openxmlformats.org/drawingml/2006/main" prst="rect">
            <a:avLst/>
          </a:prstGeom>
          <a:solidFill xmlns:a="http://schemas.openxmlformats.org/drawingml/2006/main">
            <a:srgbClr val="556C8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27342DB-73E5-4C2B-973D-77375A5C40E1}"/>
              </a:ext>
            </a:extLst>
          </p:cNvPr>
          <p:cNvSpPr>
            <a:spLocks xmlns:a="http://schemas.openxmlformats.org/drawingml/2006/main" noGrp="1"/>
          </p:cNvSpPr>
          <p:nvPr/>
        </p:nvSpPr>
        <p:spPr>
          <a:xfrm xmlns:a="http://schemas.openxmlformats.org/drawingml/2006/main">
            <a:off x="3551873" y="5282565"/>
            <a:ext cx="19050" cy="1126998"/>
          </a:xfrm>
          <a:prstGeom xmlns:a="http://schemas.openxmlformats.org/drawingml/2006/main" prst="rect">
            <a:avLst/>
          </a:prstGeom>
          <a:solidFill xmlns:a="http://schemas.openxmlformats.org/drawingml/2006/main">
            <a:srgbClr val="84718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CF4824C-1D52-48FB-9FC2-ECB658FC95B1}"/>
              </a:ext>
            </a:extLst>
          </p:cNvPr>
          <p:cNvSpPr>
            <a:spLocks xmlns:a="http://schemas.openxmlformats.org/drawingml/2006/main" noGrp="1"/>
          </p:cNvSpPr>
          <p:nvPr/>
        </p:nvSpPr>
        <p:spPr>
          <a:xfrm xmlns:a="http://schemas.openxmlformats.org/drawingml/2006/main">
            <a:off x="3794950" y="5282565"/>
            <a:ext cx="19050" cy="1657350"/>
          </a:xfrm>
          <a:prstGeom xmlns:a="http://schemas.openxmlformats.org/drawingml/2006/main" prst="rect">
            <a:avLst/>
          </a:prstGeom>
          <a:solidFill xmlns:a="http://schemas.openxmlformats.org/drawingml/2006/main">
            <a:srgbClr val="A8743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078FBA5-3C25-49CD-9C9A-B66E8D4F1BC7}"/>
              </a:ext>
            </a:extLst>
          </p:cNvPr>
          <p:cNvSpPr>
            <a:spLocks xmlns:a="http://schemas.openxmlformats.org/drawingml/2006/main" noGrp="1"/>
          </p:cNvSpPr>
          <p:nvPr/>
        </p:nvSpPr>
        <p:spPr>
          <a:xfrm xmlns:a="http://schemas.openxmlformats.org/drawingml/2006/main">
            <a:off x="4485513" y="2774442"/>
            <a:ext cx="1469517" cy="2508123"/>
          </a:xfrm>
          <a:prstGeom xmlns:a="http://schemas.openxmlformats.org/drawingml/2006/main" prst="rect">
            <a:avLst/>
          </a:prstGeom>
          <a:solidFill xmlns:a="http://schemas.openxmlformats.org/drawingml/2006/main">
            <a:srgbClr val="FFFDF6"/>
          </a:solidFill>
          <a:ln xmlns:a="http://schemas.openxmlformats.org/drawingml/2006/main" w="9525">
            <a:solidFill>
              <a:srgbClr val="9D8B74"/>
            </a:solidFill>
            <a:prstDash val="solid"/>
          </a:ln>
        </p:spPr>
      </p:sp>
      <p:sp>
        <p:nvSpPr>
          <p:cNvPr id="30" name="">
            <a:extLst xmlns:a="http://schemas.openxmlformats.org/drawingml/2006/main">
              <a:ext uri="{FF2B5EF4-FFF2-40B4-BE49-F238E27FC236}">
                <a16:creationId xmlns:a16="http://schemas.microsoft.com/office/drawing/2014/main" id="{849453CB-CF76-4DC9-95AC-8F41728B5D63}"/>
              </a:ext>
            </a:extLst>
          </p:cNvPr>
          <p:cNvSpPr>
            <a:spLocks xmlns:a="http://schemas.openxmlformats.org/drawingml/2006/main" noGrp="1"/>
          </p:cNvSpPr>
          <p:nvPr/>
        </p:nvSpPr>
        <p:spPr>
          <a:xfrm xmlns:a="http://schemas.openxmlformats.org/drawingml/2006/main">
            <a:off x="4315396" y="2897886"/>
            <a:ext cx="18097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725" b="1">
                <a:solidFill>
                  <a:srgbClr val="352E28"/>
                </a:solidFill>
                <a:latin typeface="Malgun Gothic"/>
                <a:ea typeface="Malgun Gothic"/>
                <a:cs typeface="Malgun Gothic"/>
              </a:defRPr>
            </a:defPPr>
          </a:lstStyle>
          <a:p xmlns:a="http://schemas.openxmlformats.org/drawingml/2006/main">
            <a:pPr algn="ctr">
              <a:defRPr sz="1725" b="1">
                <a:solidFill>
                  <a:srgbClr val="352E28"/>
                </a:solidFill>
                <a:latin typeface="Malgun Gothic"/>
                <a:ea typeface="Malgun Gothic"/>
                <a:cs typeface="Malgun Gothic"/>
              </a:defRPr>
            </a:pPr>
            <a:r>
              <a:rPr sz="1725" b="1">
                <a:solidFill>
                  <a:srgbClr val="352E28"/>
                </a:solidFill>
                <a:latin typeface="Malgun Gothic"/>
                <a:ea typeface="Malgun Gothic"/>
                <a:cs typeface="Malgun Gothic"/>
              </a:rPr>
              <a:t>HV#03</a:t>
            </a:r>
          </a:p>
        </p:txBody>
      </p:sp>
      <p:sp>
        <p:nvSpPr>
          <p:cNvPr id="31" name="">
            <a:extLst xmlns:a="http://schemas.openxmlformats.org/drawingml/2006/main">
              <a:ext uri="{FF2B5EF4-FFF2-40B4-BE49-F238E27FC236}">
                <a16:creationId xmlns:a16="http://schemas.microsoft.com/office/drawing/2014/main" id="{63B4AFF5-60F4-459E-8F8B-1E0A51F36415}"/>
              </a:ext>
            </a:extLst>
          </p:cNvPr>
          <p:cNvSpPr>
            <a:spLocks xmlns:a="http://schemas.openxmlformats.org/drawingml/2006/main" noGrp="1"/>
          </p:cNvSpPr>
          <p:nvPr/>
        </p:nvSpPr>
        <p:spPr>
          <a:xfrm xmlns:a="http://schemas.openxmlformats.org/drawingml/2006/main">
            <a:off x="4315396" y="3234309"/>
            <a:ext cx="18097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0">
                <a:solidFill>
                  <a:srgbClr val="352E28"/>
                </a:solidFill>
                <a:latin typeface="Malgun Gothic"/>
                <a:ea typeface="Malgun Gothic"/>
                <a:cs typeface="Malgun Gothic"/>
              </a:defRPr>
            </a:defPPr>
          </a:lstStyle>
          <a:p xmlns:a="http://schemas.openxmlformats.org/drawingml/2006/main">
            <a:pPr algn="ctr">
              <a:defRPr sz="1425" b="0">
                <a:solidFill>
                  <a:srgbClr val="352E28"/>
                </a:solidFill>
                <a:latin typeface="Malgun Gothic"/>
                <a:ea typeface="Malgun Gothic"/>
                <a:cs typeface="Malgun Gothic"/>
              </a:defRPr>
            </a:pPr>
            <a:r>
              <a:rPr sz="1425" b="0">
                <a:solidFill>
                  <a:srgbClr val="352E28"/>
                </a:solidFill>
                <a:latin typeface="Malgun Gothic"/>
                <a:ea typeface="Malgun Gothic"/>
                <a:cs typeface="Malgun Gothic"/>
              </a:rPr>
              <a:t>VMware</a:t>
            </a:r>
          </a:p>
        </p:txBody>
      </p:sp>
      <p:sp>
        <p:nvSpPr>
          <p:cNvPr id="32" name="">
            <a:extLst xmlns:a="http://schemas.openxmlformats.org/drawingml/2006/main">
              <a:ext uri="{FF2B5EF4-FFF2-40B4-BE49-F238E27FC236}">
                <a16:creationId xmlns:a16="http://schemas.microsoft.com/office/drawing/2014/main" id="{A3726814-A971-436B-B8C1-663BA51D1791}"/>
              </a:ext>
            </a:extLst>
          </p:cNvPr>
          <p:cNvSpPr>
            <a:spLocks xmlns:a="http://schemas.openxmlformats.org/drawingml/2006/main" noGrp="1"/>
          </p:cNvSpPr>
          <p:nvPr/>
        </p:nvSpPr>
        <p:spPr>
          <a:xfrm xmlns:a="http://schemas.openxmlformats.org/drawingml/2006/main">
            <a:off x="4618101" y="3702558"/>
            <a:ext cx="1204341" cy="541401"/>
          </a:xfrm>
          <a:prstGeom xmlns:a="http://schemas.openxmlformats.org/drawingml/2006/main" prst="rect">
            <a:avLst/>
          </a:prstGeom>
          <a:solidFill xmlns:a="http://schemas.openxmlformats.org/drawingml/2006/main">
            <a:srgbClr val="E8DFCC"/>
          </a:solidFill>
          <a:ln xmlns:a="http://schemas.openxmlformats.org/drawingml/2006/main" w="9525">
            <a:solidFill>
              <a:srgbClr val="A38B66"/>
            </a:solidFill>
            <a:prstDash val="solid"/>
          </a:ln>
        </p:spPr>
      </p:sp>
      <p:sp>
        <p:nvSpPr>
          <p:cNvPr id="33" name="">
            <a:extLst xmlns:a="http://schemas.openxmlformats.org/drawingml/2006/main">
              <a:ext uri="{FF2B5EF4-FFF2-40B4-BE49-F238E27FC236}">
                <a16:creationId xmlns:a16="http://schemas.microsoft.com/office/drawing/2014/main" id="{A1A0903E-1750-4F3C-B30F-0B25A05A14CB}"/>
              </a:ext>
            </a:extLst>
          </p:cNvPr>
          <p:cNvSpPr>
            <a:spLocks xmlns:a="http://schemas.openxmlformats.org/drawingml/2006/main" noGrp="1"/>
          </p:cNvSpPr>
          <p:nvPr/>
        </p:nvSpPr>
        <p:spPr>
          <a:xfrm xmlns:a="http://schemas.openxmlformats.org/drawingml/2006/main">
            <a:off x="4315396" y="3853053"/>
            <a:ext cx="18097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0">
                <a:solidFill>
                  <a:srgbClr val="352E28"/>
                </a:solidFill>
                <a:latin typeface="Malgun Gothic"/>
                <a:ea typeface="Malgun Gothic"/>
                <a:cs typeface="Malgun Gothic"/>
              </a:defRPr>
            </a:defPPr>
          </a:lstStyle>
          <a:p xmlns:a="http://schemas.openxmlformats.org/drawingml/2006/main">
            <a:pPr algn="ctr">
              <a:defRPr sz="1425" b="0">
                <a:solidFill>
                  <a:srgbClr val="352E28"/>
                </a:solidFill>
                <a:latin typeface="Malgun Gothic"/>
                <a:ea typeface="Malgun Gothic"/>
                <a:cs typeface="Malgun Gothic"/>
              </a:defRPr>
            </a:pPr>
            <a:r>
              <a:rPr sz="1425" b="0">
                <a:solidFill>
                  <a:srgbClr val="352E28"/>
                </a:solidFill>
                <a:latin typeface="Malgun Gothic"/>
                <a:ea typeface="Malgun Gothic"/>
                <a:cs typeface="Malgun Gothic"/>
              </a:rPr>
              <a:t>운영 VM</a:t>
            </a:r>
          </a:p>
        </p:txBody>
      </p:sp>
      <p:sp>
        <p:nvSpPr>
          <p:cNvPr id="34" name="">
            <a:extLst xmlns:a="http://schemas.openxmlformats.org/drawingml/2006/main">
              <a:ext uri="{FF2B5EF4-FFF2-40B4-BE49-F238E27FC236}">
                <a16:creationId xmlns:a16="http://schemas.microsoft.com/office/drawing/2014/main" id="{FA2173A5-063D-45CB-9035-43EE4EF37DB9}"/>
              </a:ext>
            </a:extLst>
          </p:cNvPr>
          <p:cNvSpPr>
            <a:spLocks xmlns:a="http://schemas.openxmlformats.org/drawingml/2006/main" noGrp="1"/>
          </p:cNvSpPr>
          <p:nvPr/>
        </p:nvSpPr>
        <p:spPr>
          <a:xfrm xmlns:a="http://schemas.openxmlformats.org/drawingml/2006/main">
            <a:off x="4977194" y="5282565"/>
            <a:ext cx="19050" cy="596646"/>
          </a:xfrm>
          <a:prstGeom xmlns:a="http://schemas.openxmlformats.org/drawingml/2006/main" prst="rect">
            <a:avLst/>
          </a:prstGeom>
          <a:solidFill xmlns:a="http://schemas.openxmlformats.org/drawingml/2006/main">
            <a:srgbClr val="556C85"/>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5AAC83B3-E10B-4588-81D7-3340228D305D}"/>
              </a:ext>
            </a:extLst>
          </p:cNvPr>
          <p:cNvSpPr>
            <a:spLocks xmlns:a="http://schemas.openxmlformats.org/drawingml/2006/main" noGrp="1"/>
          </p:cNvSpPr>
          <p:nvPr/>
        </p:nvSpPr>
        <p:spPr>
          <a:xfrm xmlns:a="http://schemas.openxmlformats.org/drawingml/2006/main">
            <a:off x="5220271" y="5282565"/>
            <a:ext cx="19050" cy="1126998"/>
          </a:xfrm>
          <a:prstGeom xmlns:a="http://schemas.openxmlformats.org/drawingml/2006/main" prst="rect">
            <a:avLst/>
          </a:prstGeom>
          <a:solidFill xmlns:a="http://schemas.openxmlformats.org/drawingml/2006/main">
            <a:srgbClr val="84718E"/>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393E84C2-EF22-4F46-837A-31A0301FEFEC}"/>
              </a:ext>
            </a:extLst>
          </p:cNvPr>
          <p:cNvSpPr>
            <a:spLocks xmlns:a="http://schemas.openxmlformats.org/drawingml/2006/main" noGrp="1"/>
          </p:cNvSpPr>
          <p:nvPr/>
        </p:nvSpPr>
        <p:spPr>
          <a:xfrm xmlns:a="http://schemas.openxmlformats.org/drawingml/2006/main">
            <a:off x="5463349" y="5282565"/>
            <a:ext cx="19050" cy="1657350"/>
          </a:xfrm>
          <a:prstGeom xmlns:a="http://schemas.openxmlformats.org/drawingml/2006/main" prst="rect">
            <a:avLst/>
          </a:prstGeom>
          <a:solidFill xmlns:a="http://schemas.openxmlformats.org/drawingml/2006/main">
            <a:srgbClr val="A87438"/>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50222768-D0E2-4EA6-8C80-0B6151F49903}"/>
              </a:ext>
            </a:extLst>
          </p:cNvPr>
          <p:cNvSpPr>
            <a:spLocks xmlns:a="http://schemas.openxmlformats.org/drawingml/2006/main" noGrp="1"/>
          </p:cNvSpPr>
          <p:nvPr/>
        </p:nvSpPr>
        <p:spPr>
          <a:xfrm xmlns:a="http://schemas.openxmlformats.org/drawingml/2006/main">
            <a:off x="10208895" y="2299335"/>
            <a:ext cx="3922395" cy="3148965"/>
          </a:xfrm>
          <a:prstGeom xmlns:a="http://schemas.openxmlformats.org/drawingml/2006/main" prst="rect">
            <a:avLst/>
          </a:prstGeom>
          <a:solidFill xmlns:a="http://schemas.openxmlformats.org/drawingml/2006/main">
            <a:srgbClr val="EEE7D9"/>
          </a:solidFill>
          <a:ln xmlns:a="http://schemas.openxmlformats.org/drawingml/2006/main" w="9525">
            <a:solidFill>
              <a:srgbClr val="B19A77"/>
            </a:solidFill>
            <a:prstDash val="solid"/>
          </a:ln>
        </p:spPr>
      </p:sp>
      <p:sp>
        <p:nvSpPr>
          <p:cNvPr id="38" name="">
            <a:extLst xmlns:a="http://schemas.openxmlformats.org/drawingml/2006/main">
              <a:ext uri="{FF2B5EF4-FFF2-40B4-BE49-F238E27FC236}">
                <a16:creationId xmlns:a16="http://schemas.microsoft.com/office/drawing/2014/main" id="{860B2CDE-714F-44B4-B48E-93D8FDD49AF9}"/>
              </a:ext>
            </a:extLst>
          </p:cNvPr>
          <p:cNvSpPr>
            <a:spLocks xmlns:a="http://schemas.openxmlformats.org/drawingml/2006/main" noGrp="1"/>
          </p:cNvSpPr>
          <p:nvPr/>
        </p:nvSpPr>
        <p:spPr>
          <a:xfrm xmlns:a="http://schemas.openxmlformats.org/drawingml/2006/main">
            <a:off x="10385679" y="2434209"/>
            <a:ext cx="4077081"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352E28"/>
                </a:solidFill>
                <a:latin typeface="Malgun Gothic"/>
                <a:ea typeface="Malgun Gothic"/>
                <a:cs typeface="Malgun Gothic"/>
              </a:defRPr>
            </a:defPPr>
          </a:lstStyle>
          <a:p xmlns:a="http://schemas.openxmlformats.org/drawingml/2006/main">
            <a:pPr algn="l">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VM 풀 · 최종 Worker 2대</a:t>
            </a:r>
          </a:p>
        </p:txBody>
      </p:sp>
      <p:sp>
        <p:nvSpPr>
          <p:cNvPr id="39" name="">
            <a:extLst xmlns:a="http://schemas.openxmlformats.org/drawingml/2006/main">
              <a:ext uri="{FF2B5EF4-FFF2-40B4-BE49-F238E27FC236}">
                <a16:creationId xmlns:a16="http://schemas.microsoft.com/office/drawing/2014/main" id="{16818F9D-D281-4E62-9A30-4082281EB895}"/>
              </a:ext>
            </a:extLst>
          </p:cNvPr>
          <p:cNvSpPr>
            <a:spLocks xmlns:a="http://schemas.openxmlformats.org/drawingml/2006/main" noGrp="1"/>
          </p:cNvSpPr>
          <p:nvPr/>
        </p:nvSpPr>
        <p:spPr>
          <a:xfrm xmlns:a="http://schemas.openxmlformats.org/drawingml/2006/main">
            <a:off x="6838950" y="2774442"/>
            <a:ext cx="1657350" cy="2508123"/>
          </a:xfrm>
          <a:prstGeom xmlns:a="http://schemas.openxmlformats.org/drawingml/2006/main" prst="rect">
            <a:avLst/>
          </a:prstGeom>
          <a:solidFill xmlns:a="http://schemas.openxmlformats.org/drawingml/2006/main">
            <a:srgbClr val="FFFDF6"/>
          </a:solidFill>
          <a:ln xmlns:a="http://schemas.openxmlformats.org/drawingml/2006/main" w="9525">
            <a:solidFill>
              <a:srgbClr val="9D8B74"/>
            </a:solidFill>
            <a:prstDash val="solid"/>
          </a:ln>
        </p:spPr>
      </p:sp>
      <p:sp>
        <p:nvSpPr>
          <p:cNvPr id="40" name="">
            <a:extLst xmlns:a="http://schemas.openxmlformats.org/drawingml/2006/main">
              <a:ext uri="{FF2B5EF4-FFF2-40B4-BE49-F238E27FC236}">
                <a16:creationId xmlns:a16="http://schemas.microsoft.com/office/drawing/2014/main" id="{A425E7DF-43C5-4174-BEBE-ADAAAEE4A1B8}"/>
              </a:ext>
            </a:extLst>
          </p:cNvPr>
          <p:cNvSpPr>
            <a:spLocks xmlns:a="http://schemas.openxmlformats.org/drawingml/2006/main" noGrp="1"/>
          </p:cNvSpPr>
          <p:nvPr/>
        </p:nvSpPr>
        <p:spPr>
          <a:xfrm xmlns:a="http://schemas.openxmlformats.org/drawingml/2006/main">
            <a:off x="6762750" y="2897886"/>
            <a:ext cx="18097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725" b="1">
                <a:solidFill>
                  <a:srgbClr val="352E28"/>
                </a:solidFill>
                <a:latin typeface="Malgun Gothic"/>
                <a:ea typeface="Malgun Gothic"/>
                <a:cs typeface="Malgun Gothic"/>
              </a:defRPr>
            </a:defPPr>
          </a:lstStyle>
          <a:p xmlns:a="http://schemas.openxmlformats.org/drawingml/2006/main">
            <a:pPr algn="ctr">
              <a:defRPr sz="1725" b="1">
                <a:solidFill>
                  <a:srgbClr val="352E28"/>
                </a:solidFill>
                <a:latin typeface="Malgun Gothic"/>
                <a:ea typeface="Malgun Gothic"/>
                <a:cs typeface="Malgun Gothic"/>
              </a:defRPr>
            </a:pPr>
            <a:r>
              <a:rPr sz="1725" b="1">
                <a:solidFill>
                  <a:srgbClr val="352E28"/>
                </a:solidFill>
                <a:latin typeface="Malgun Gothic"/>
                <a:ea typeface="Malgun Gothic"/>
                <a:cs typeface="Malgun Gothic"/>
              </a:rPr>
              <a:t>Master</a:t>
            </a:r>
          </a:p>
        </p:txBody>
      </p:sp>
      <p:sp>
        <p:nvSpPr>
          <p:cNvPr id="41" name="">
            <a:extLst xmlns:a="http://schemas.openxmlformats.org/drawingml/2006/main">
              <a:ext uri="{FF2B5EF4-FFF2-40B4-BE49-F238E27FC236}">
                <a16:creationId xmlns:a16="http://schemas.microsoft.com/office/drawing/2014/main" id="{A2E37555-D29D-4AB7-BAB1-63B0A9F863A3}"/>
              </a:ext>
            </a:extLst>
          </p:cNvPr>
          <p:cNvSpPr>
            <a:spLocks xmlns:a="http://schemas.openxmlformats.org/drawingml/2006/main" noGrp="1"/>
          </p:cNvSpPr>
          <p:nvPr/>
        </p:nvSpPr>
        <p:spPr>
          <a:xfrm xmlns:a="http://schemas.openxmlformats.org/drawingml/2006/main">
            <a:off x="6762750" y="3240786"/>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재활용 서버</a:t>
            </a:r>
          </a:p>
        </p:txBody>
      </p:sp>
      <p:sp>
        <p:nvSpPr>
          <p:cNvPr id="42" name="">
            <a:extLst xmlns:a="http://schemas.openxmlformats.org/drawingml/2006/main">
              <a:ext uri="{FF2B5EF4-FFF2-40B4-BE49-F238E27FC236}">
                <a16:creationId xmlns:a16="http://schemas.microsoft.com/office/drawing/2014/main" id="{4104C7CF-B57F-49B6-9CE2-D15EAD85C51E}"/>
              </a:ext>
            </a:extLst>
          </p:cNvPr>
          <p:cNvSpPr>
            <a:spLocks xmlns:a="http://schemas.openxmlformats.org/drawingml/2006/main" noGrp="1"/>
          </p:cNvSpPr>
          <p:nvPr/>
        </p:nvSpPr>
        <p:spPr>
          <a:xfrm xmlns:a="http://schemas.openxmlformats.org/drawingml/2006/main">
            <a:off x="6762750" y="3494913"/>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신규 IP</a:t>
            </a:r>
          </a:p>
        </p:txBody>
      </p:sp>
      <p:sp>
        <p:nvSpPr>
          <p:cNvPr id="43" name="">
            <a:extLst xmlns:a="http://schemas.openxmlformats.org/drawingml/2006/main">
              <a:ext uri="{FF2B5EF4-FFF2-40B4-BE49-F238E27FC236}">
                <a16:creationId xmlns:a16="http://schemas.microsoft.com/office/drawing/2014/main" id="{33CE63E4-9EC4-43DB-9800-9AD99A1A8C06}"/>
              </a:ext>
            </a:extLst>
          </p:cNvPr>
          <p:cNvSpPr>
            <a:spLocks xmlns:a="http://schemas.openxmlformats.org/drawingml/2006/main" noGrp="1"/>
          </p:cNvSpPr>
          <p:nvPr/>
        </p:nvSpPr>
        <p:spPr>
          <a:xfrm xmlns:a="http://schemas.openxmlformats.org/drawingml/2006/main">
            <a:off x="6762750" y="4345686"/>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연결망·포트</a:t>
            </a:r>
          </a:p>
        </p:txBody>
      </p:sp>
      <p:sp>
        <p:nvSpPr>
          <p:cNvPr id="44" name="">
            <a:extLst xmlns:a="http://schemas.openxmlformats.org/drawingml/2006/main">
              <a:ext uri="{FF2B5EF4-FFF2-40B4-BE49-F238E27FC236}">
                <a16:creationId xmlns:a16="http://schemas.microsoft.com/office/drawing/2014/main" id="{FE08D11F-2837-48FA-BE73-8E876E96A26B}"/>
              </a:ext>
            </a:extLst>
          </p:cNvPr>
          <p:cNvSpPr>
            <a:spLocks xmlns:a="http://schemas.openxmlformats.org/drawingml/2006/main" noGrp="1"/>
          </p:cNvSpPr>
          <p:nvPr/>
        </p:nvSpPr>
        <p:spPr>
          <a:xfrm xmlns:a="http://schemas.openxmlformats.org/drawingml/2006/main">
            <a:off x="6762750" y="4588764"/>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설계 확인 필요</a:t>
            </a:r>
          </a:p>
        </p:txBody>
      </p:sp>
      <p:sp>
        <p:nvSpPr>
          <p:cNvPr id="45" name="">
            <a:extLst xmlns:a="http://schemas.openxmlformats.org/drawingml/2006/main">
              <a:ext uri="{FF2B5EF4-FFF2-40B4-BE49-F238E27FC236}">
                <a16:creationId xmlns:a16="http://schemas.microsoft.com/office/drawing/2014/main" id="{7E9631D2-C1F7-4B84-AE57-5D74228B7106}"/>
              </a:ext>
            </a:extLst>
          </p:cNvPr>
          <p:cNvSpPr>
            <a:spLocks xmlns:a="http://schemas.openxmlformats.org/drawingml/2006/main" noGrp="1"/>
          </p:cNvSpPr>
          <p:nvPr/>
        </p:nvSpPr>
        <p:spPr>
          <a:xfrm xmlns:a="http://schemas.openxmlformats.org/drawingml/2006/main">
            <a:off x="8662035" y="2774442"/>
            <a:ext cx="1657350" cy="2508123"/>
          </a:xfrm>
          <a:prstGeom xmlns:a="http://schemas.openxmlformats.org/drawingml/2006/main" prst="rect">
            <a:avLst/>
          </a:prstGeom>
          <a:solidFill xmlns:a="http://schemas.openxmlformats.org/drawingml/2006/main">
            <a:srgbClr val="FFFDF6"/>
          </a:solidFill>
          <a:ln xmlns:a="http://schemas.openxmlformats.org/drawingml/2006/main" w="9525">
            <a:solidFill>
              <a:srgbClr val="9D8B74"/>
            </a:solidFill>
            <a:prstDash val="solid"/>
          </a:ln>
        </p:spPr>
      </p:sp>
      <p:sp>
        <p:nvSpPr>
          <p:cNvPr id="46" name="">
            <a:extLst xmlns:a="http://schemas.openxmlformats.org/drawingml/2006/main">
              <a:ext uri="{FF2B5EF4-FFF2-40B4-BE49-F238E27FC236}">
                <a16:creationId xmlns:a16="http://schemas.microsoft.com/office/drawing/2014/main" id="{9762D908-BDB2-40C6-8F4F-B321BB311875}"/>
              </a:ext>
            </a:extLst>
          </p:cNvPr>
          <p:cNvSpPr>
            <a:spLocks xmlns:a="http://schemas.openxmlformats.org/drawingml/2006/main" noGrp="1"/>
          </p:cNvSpPr>
          <p:nvPr/>
        </p:nvSpPr>
        <p:spPr>
          <a:xfrm xmlns:a="http://schemas.openxmlformats.org/drawingml/2006/main">
            <a:off x="8585835" y="2897886"/>
            <a:ext cx="18097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725" b="1">
                <a:solidFill>
                  <a:srgbClr val="352E28"/>
                </a:solidFill>
                <a:latin typeface="Malgun Gothic"/>
                <a:ea typeface="Malgun Gothic"/>
                <a:cs typeface="Malgun Gothic"/>
              </a:defRPr>
            </a:defPPr>
          </a:lstStyle>
          <a:p xmlns:a="http://schemas.openxmlformats.org/drawingml/2006/main">
            <a:pPr algn="ctr">
              <a:defRPr sz="1725" b="1">
                <a:solidFill>
                  <a:srgbClr val="352E28"/>
                </a:solidFill>
                <a:latin typeface="Malgun Gothic"/>
                <a:ea typeface="Malgun Gothic"/>
                <a:cs typeface="Malgun Gothic"/>
              </a:defRPr>
            </a:pPr>
            <a:r>
              <a:rPr sz="1725" b="1">
                <a:solidFill>
                  <a:srgbClr val="352E28"/>
                </a:solidFill>
                <a:latin typeface="Malgun Gothic"/>
                <a:ea typeface="Malgun Gothic"/>
                <a:cs typeface="Malgun Gothic"/>
              </a:rPr>
              <a:t>Bastion</a:t>
            </a:r>
          </a:p>
        </p:txBody>
      </p:sp>
      <p:sp>
        <p:nvSpPr>
          <p:cNvPr id="47" name="">
            <a:extLst xmlns:a="http://schemas.openxmlformats.org/drawingml/2006/main">
              <a:ext uri="{FF2B5EF4-FFF2-40B4-BE49-F238E27FC236}">
                <a16:creationId xmlns:a16="http://schemas.microsoft.com/office/drawing/2014/main" id="{343D8556-C123-4C84-B4DF-3EE39480EAC2}"/>
              </a:ext>
            </a:extLst>
          </p:cNvPr>
          <p:cNvSpPr>
            <a:spLocks xmlns:a="http://schemas.openxmlformats.org/drawingml/2006/main" noGrp="1"/>
          </p:cNvSpPr>
          <p:nvPr/>
        </p:nvSpPr>
        <p:spPr>
          <a:xfrm xmlns:a="http://schemas.openxmlformats.org/drawingml/2006/main">
            <a:off x="8585835" y="3240786"/>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재활용 서버</a:t>
            </a:r>
          </a:p>
        </p:txBody>
      </p:sp>
      <p:sp>
        <p:nvSpPr>
          <p:cNvPr id="48" name="">
            <a:extLst xmlns:a="http://schemas.openxmlformats.org/drawingml/2006/main">
              <a:ext uri="{FF2B5EF4-FFF2-40B4-BE49-F238E27FC236}">
                <a16:creationId xmlns:a16="http://schemas.microsoft.com/office/drawing/2014/main" id="{F1544064-4A8F-4C63-9B7C-FF58CCB825AC}"/>
              </a:ext>
            </a:extLst>
          </p:cNvPr>
          <p:cNvSpPr>
            <a:spLocks xmlns:a="http://schemas.openxmlformats.org/drawingml/2006/main" noGrp="1"/>
          </p:cNvSpPr>
          <p:nvPr/>
        </p:nvSpPr>
        <p:spPr>
          <a:xfrm xmlns:a="http://schemas.openxmlformats.org/drawingml/2006/main">
            <a:off x="8585835" y="3494913"/>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신규 IP</a:t>
            </a:r>
          </a:p>
        </p:txBody>
      </p:sp>
      <p:sp>
        <p:nvSpPr>
          <p:cNvPr id="49" name="">
            <a:extLst xmlns:a="http://schemas.openxmlformats.org/drawingml/2006/main">
              <a:ext uri="{FF2B5EF4-FFF2-40B4-BE49-F238E27FC236}">
                <a16:creationId xmlns:a16="http://schemas.microsoft.com/office/drawing/2014/main" id="{3CAD14EA-8010-4C6A-85C2-77E7D7FC5495}"/>
              </a:ext>
            </a:extLst>
          </p:cNvPr>
          <p:cNvSpPr>
            <a:spLocks xmlns:a="http://schemas.openxmlformats.org/drawingml/2006/main" noGrp="1"/>
          </p:cNvSpPr>
          <p:nvPr/>
        </p:nvSpPr>
        <p:spPr>
          <a:xfrm xmlns:a="http://schemas.openxmlformats.org/drawingml/2006/main">
            <a:off x="8585835" y="4345686"/>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연결망·포트</a:t>
            </a:r>
          </a:p>
        </p:txBody>
      </p:sp>
      <p:sp>
        <p:nvSpPr>
          <p:cNvPr id="50" name="">
            <a:extLst xmlns:a="http://schemas.openxmlformats.org/drawingml/2006/main">
              <a:ext uri="{FF2B5EF4-FFF2-40B4-BE49-F238E27FC236}">
                <a16:creationId xmlns:a16="http://schemas.microsoft.com/office/drawing/2014/main" id="{FD8A0D19-C449-49DF-9733-C8CE3A734BDB}"/>
              </a:ext>
            </a:extLst>
          </p:cNvPr>
          <p:cNvSpPr>
            <a:spLocks xmlns:a="http://schemas.openxmlformats.org/drawingml/2006/main" noGrp="1"/>
          </p:cNvSpPr>
          <p:nvPr/>
        </p:nvSpPr>
        <p:spPr>
          <a:xfrm xmlns:a="http://schemas.openxmlformats.org/drawingml/2006/main">
            <a:off x="8585835" y="4588764"/>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설계 확인 필요</a:t>
            </a:r>
          </a:p>
        </p:txBody>
      </p:sp>
      <p:sp>
        <p:nvSpPr>
          <p:cNvPr id="51" name="">
            <a:extLst xmlns:a="http://schemas.openxmlformats.org/drawingml/2006/main">
              <a:ext uri="{FF2B5EF4-FFF2-40B4-BE49-F238E27FC236}">
                <a16:creationId xmlns:a16="http://schemas.microsoft.com/office/drawing/2014/main" id="{AD02C2CF-CC78-40D1-A1FF-80C3EF55234B}"/>
              </a:ext>
            </a:extLst>
          </p:cNvPr>
          <p:cNvSpPr>
            <a:spLocks xmlns:a="http://schemas.openxmlformats.org/drawingml/2006/main" noGrp="1"/>
          </p:cNvSpPr>
          <p:nvPr/>
        </p:nvSpPr>
        <p:spPr>
          <a:xfrm xmlns:a="http://schemas.openxmlformats.org/drawingml/2006/main">
            <a:off x="10485120" y="2774442"/>
            <a:ext cx="1657350" cy="2508123"/>
          </a:xfrm>
          <a:prstGeom xmlns:a="http://schemas.openxmlformats.org/drawingml/2006/main" prst="rect">
            <a:avLst/>
          </a:prstGeom>
          <a:solidFill xmlns:a="http://schemas.openxmlformats.org/drawingml/2006/main">
            <a:srgbClr val="FFFDF6"/>
          </a:solidFill>
          <a:ln xmlns:a="http://schemas.openxmlformats.org/drawingml/2006/main" w="9525">
            <a:solidFill>
              <a:srgbClr val="9D8B74"/>
            </a:solidFill>
            <a:prstDash val="solid"/>
          </a:ln>
        </p:spPr>
      </p:sp>
      <p:sp>
        <p:nvSpPr>
          <p:cNvPr id="52" name="">
            <a:extLst xmlns:a="http://schemas.openxmlformats.org/drawingml/2006/main">
              <a:ext uri="{FF2B5EF4-FFF2-40B4-BE49-F238E27FC236}">
                <a16:creationId xmlns:a16="http://schemas.microsoft.com/office/drawing/2014/main" id="{239BFD2E-537C-4DB9-B9A9-B43871142294}"/>
              </a:ext>
            </a:extLst>
          </p:cNvPr>
          <p:cNvSpPr>
            <a:spLocks xmlns:a="http://schemas.openxmlformats.org/drawingml/2006/main" noGrp="1"/>
          </p:cNvSpPr>
          <p:nvPr/>
        </p:nvSpPr>
        <p:spPr>
          <a:xfrm xmlns:a="http://schemas.openxmlformats.org/drawingml/2006/main">
            <a:off x="10408920" y="2897886"/>
            <a:ext cx="18097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725" b="1">
                <a:solidFill>
                  <a:srgbClr val="352E28"/>
                </a:solidFill>
                <a:latin typeface="Malgun Gothic"/>
                <a:ea typeface="Malgun Gothic"/>
                <a:cs typeface="Malgun Gothic"/>
              </a:defRPr>
            </a:defPPr>
          </a:lstStyle>
          <a:p xmlns:a="http://schemas.openxmlformats.org/drawingml/2006/main">
            <a:pPr algn="ctr">
              <a:defRPr sz="1725" b="1">
                <a:solidFill>
                  <a:srgbClr val="352E28"/>
                </a:solidFill>
                <a:latin typeface="Malgun Gothic"/>
                <a:ea typeface="Malgun Gothic"/>
                <a:cs typeface="Malgun Gothic"/>
              </a:defRPr>
            </a:pPr>
            <a:r>
              <a:rPr sz="1725" b="1">
                <a:solidFill>
                  <a:srgbClr val="352E28"/>
                </a:solidFill>
                <a:latin typeface="Malgun Gothic"/>
                <a:ea typeface="Malgun Gothic"/>
                <a:cs typeface="Malgun Gothic"/>
              </a:rPr>
              <a:t>Worker1</a:t>
            </a:r>
          </a:p>
        </p:txBody>
      </p:sp>
      <p:sp>
        <p:nvSpPr>
          <p:cNvPr id="53" name="">
            <a:extLst xmlns:a="http://schemas.openxmlformats.org/drawingml/2006/main">
              <a:ext uri="{FF2B5EF4-FFF2-40B4-BE49-F238E27FC236}">
                <a16:creationId xmlns:a16="http://schemas.microsoft.com/office/drawing/2014/main" id="{1A3317E1-D33C-483C-8D72-2531B2D951ED}"/>
              </a:ext>
            </a:extLst>
          </p:cNvPr>
          <p:cNvSpPr>
            <a:spLocks xmlns:a="http://schemas.openxmlformats.org/drawingml/2006/main" noGrp="1"/>
          </p:cNvSpPr>
          <p:nvPr/>
        </p:nvSpPr>
        <p:spPr>
          <a:xfrm xmlns:a="http://schemas.openxmlformats.org/drawingml/2006/main">
            <a:off x="10408920" y="3240786"/>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기존 장비 재구성</a:t>
            </a:r>
          </a:p>
        </p:txBody>
      </p:sp>
      <p:sp>
        <p:nvSpPr>
          <p:cNvPr id="54" name="">
            <a:extLst xmlns:a="http://schemas.openxmlformats.org/drawingml/2006/main">
              <a:ext uri="{FF2B5EF4-FFF2-40B4-BE49-F238E27FC236}">
                <a16:creationId xmlns:a16="http://schemas.microsoft.com/office/drawing/2014/main" id="{1902866E-3892-4FA0-9967-FB9F4739B359}"/>
              </a:ext>
            </a:extLst>
          </p:cNvPr>
          <p:cNvSpPr>
            <a:spLocks xmlns:a="http://schemas.openxmlformats.org/drawingml/2006/main" noGrp="1"/>
          </p:cNvSpPr>
          <p:nvPr/>
        </p:nvSpPr>
        <p:spPr>
          <a:xfrm xmlns:a="http://schemas.openxmlformats.org/drawingml/2006/main">
            <a:off x="10408920" y="3528060"/>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MTV 이전 선구축</a:t>
            </a:r>
          </a:p>
        </p:txBody>
      </p:sp>
      <p:sp>
        <p:nvSpPr>
          <p:cNvPr id="55" name="">
            <a:extLst xmlns:a="http://schemas.openxmlformats.org/drawingml/2006/main">
              <a:ext uri="{FF2B5EF4-FFF2-40B4-BE49-F238E27FC236}">
                <a16:creationId xmlns:a16="http://schemas.microsoft.com/office/drawing/2014/main" id="{7934BBD0-D87C-4812-B8DE-DF02B1DE19AD}"/>
              </a:ext>
            </a:extLst>
          </p:cNvPr>
          <p:cNvSpPr>
            <a:spLocks xmlns:a="http://schemas.openxmlformats.org/drawingml/2006/main" noGrp="1"/>
          </p:cNvSpPr>
          <p:nvPr/>
        </p:nvSpPr>
        <p:spPr>
          <a:xfrm xmlns:a="http://schemas.openxmlformats.org/drawingml/2006/main">
            <a:off x="10617708" y="3934587"/>
            <a:ext cx="1392174" cy="430911"/>
          </a:xfrm>
          <a:prstGeom xmlns:a="http://schemas.openxmlformats.org/drawingml/2006/main" prst="rect">
            <a:avLst/>
          </a:prstGeom>
          <a:solidFill xmlns:a="http://schemas.openxmlformats.org/drawingml/2006/main">
            <a:srgbClr val="E8DFCC"/>
          </a:solidFill>
          <a:ln xmlns:a="http://schemas.openxmlformats.org/drawingml/2006/main" w="9525">
            <a:solidFill>
              <a:srgbClr val="A38B66"/>
            </a:solidFill>
            <a:prstDash val="solid"/>
          </a:ln>
        </p:spPr>
      </p:sp>
      <p:sp>
        <p:nvSpPr>
          <p:cNvPr id="56" name="">
            <a:extLst xmlns:a="http://schemas.openxmlformats.org/drawingml/2006/main">
              <a:ext uri="{FF2B5EF4-FFF2-40B4-BE49-F238E27FC236}">
                <a16:creationId xmlns:a16="http://schemas.microsoft.com/office/drawing/2014/main" id="{26E748C0-CB94-45B9-AA2B-98E4507DFF58}"/>
              </a:ext>
            </a:extLst>
          </p:cNvPr>
          <p:cNvSpPr>
            <a:spLocks xmlns:a="http://schemas.openxmlformats.org/drawingml/2006/main" noGrp="1"/>
          </p:cNvSpPr>
          <p:nvPr/>
        </p:nvSpPr>
        <p:spPr>
          <a:xfrm xmlns:a="http://schemas.openxmlformats.org/drawingml/2006/main">
            <a:off x="10408920" y="4040886"/>
            <a:ext cx="18097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0">
                <a:solidFill>
                  <a:srgbClr val="352E28"/>
                </a:solidFill>
                <a:latin typeface="Malgun Gothic"/>
                <a:ea typeface="Malgun Gothic"/>
                <a:cs typeface="Malgun Gothic"/>
              </a:defRPr>
            </a:defPPr>
          </a:lstStyle>
          <a:p xmlns:a="http://schemas.openxmlformats.org/drawingml/2006/main">
            <a:pPr algn="ctr">
              <a:defRPr sz="1425" b="0">
                <a:solidFill>
                  <a:srgbClr val="352E28"/>
                </a:solidFill>
                <a:latin typeface="Malgun Gothic"/>
                <a:ea typeface="Malgun Gothic"/>
                <a:cs typeface="Malgun Gothic"/>
              </a:defRPr>
            </a:pPr>
            <a:r>
              <a:rPr sz="1425" b="0">
                <a:solidFill>
                  <a:srgbClr val="352E28"/>
                </a:solidFill>
                <a:latin typeface="Malgun Gothic"/>
                <a:ea typeface="Malgun Gothic"/>
                <a:cs typeface="Malgun Gothic"/>
              </a:rPr>
              <a:t>VM</a:t>
            </a:r>
          </a:p>
        </p:txBody>
      </p:sp>
      <p:sp>
        <p:nvSpPr>
          <p:cNvPr id="57" name="">
            <a:extLst xmlns:a="http://schemas.openxmlformats.org/drawingml/2006/main">
              <a:ext uri="{FF2B5EF4-FFF2-40B4-BE49-F238E27FC236}">
                <a16:creationId xmlns:a16="http://schemas.microsoft.com/office/drawing/2014/main" id="{0023560D-4CBD-4AB4-81C4-5BFD81DA9858}"/>
              </a:ext>
            </a:extLst>
          </p:cNvPr>
          <p:cNvSpPr>
            <a:spLocks xmlns:a="http://schemas.openxmlformats.org/drawingml/2006/main" noGrp="1"/>
          </p:cNvSpPr>
          <p:nvPr/>
        </p:nvSpPr>
        <p:spPr>
          <a:xfrm xmlns:a="http://schemas.openxmlformats.org/drawingml/2006/main">
            <a:off x="10408920" y="4511421"/>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VM 망 연결 상세</a:t>
            </a:r>
          </a:p>
        </p:txBody>
      </p:sp>
      <p:sp>
        <p:nvSpPr>
          <p:cNvPr id="58" name="">
            <a:extLst xmlns:a="http://schemas.openxmlformats.org/drawingml/2006/main">
              <a:ext uri="{FF2B5EF4-FFF2-40B4-BE49-F238E27FC236}">
                <a16:creationId xmlns:a16="http://schemas.microsoft.com/office/drawing/2014/main" id="{51078FDE-D367-4CBA-B250-225BF9A293D2}"/>
              </a:ext>
            </a:extLst>
          </p:cNvPr>
          <p:cNvSpPr>
            <a:spLocks xmlns:a="http://schemas.openxmlformats.org/drawingml/2006/main" noGrp="1"/>
          </p:cNvSpPr>
          <p:nvPr/>
        </p:nvSpPr>
        <p:spPr>
          <a:xfrm xmlns:a="http://schemas.openxmlformats.org/drawingml/2006/main">
            <a:off x="10408920" y="4765548"/>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NIC / 브리지 확인 필요</a:t>
            </a:r>
          </a:p>
        </p:txBody>
      </p:sp>
      <p:sp>
        <p:nvSpPr>
          <p:cNvPr id="59" name="">
            <a:extLst xmlns:a="http://schemas.openxmlformats.org/drawingml/2006/main">
              <a:ext uri="{FF2B5EF4-FFF2-40B4-BE49-F238E27FC236}">
                <a16:creationId xmlns:a16="http://schemas.microsoft.com/office/drawing/2014/main" id="{BA9B44DC-B8F0-49E3-9E29-65EB01B75B2B}"/>
              </a:ext>
            </a:extLst>
          </p:cNvPr>
          <p:cNvSpPr>
            <a:spLocks xmlns:a="http://schemas.openxmlformats.org/drawingml/2006/main" noGrp="1"/>
          </p:cNvSpPr>
          <p:nvPr/>
        </p:nvSpPr>
        <p:spPr>
          <a:xfrm xmlns:a="http://schemas.openxmlformats.org/drawingml/2006/main">
            <a:off x="11070717" y="5282565"/>
            <a:ext cx="19050" cy="596646"/>
          </a:xfrm>
          <a:prstGeom xmlns:a="http://schemas.openxmlformats.org/drawingml/2006/main" prst="rect">
            <a:avLst/>
          </a:prstGeom>
          <a:solidFill xmlns:a="http://schemas.openxmlformats.org/drawingml/2006/main">
            <a:srgbClr val="556C85"/>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791873FA-C50D-4F03-BA44-03CEDFD793C8}"/>
              </a:ext>
            </a:extLst>
          </p:cNvPr>
          <p:cNvSpPr>
            <a:spLocks xmlns:a="http://schemas.openxmlformats.org/drawingml/2006/main" noGrp="1"/>
          </p:cNvSpPr>
          <p:nvPr/>
        </p:nvSpPr>
        <p:spPr>
          <a:xfrm xmlns:a="http://schemas.openxmlformats.org/drawingml/2006/main">
            <a:off x="11313795" y="5282565"/>
            <a:ext cx="19050" cy="1126998"/>
          </a:xfrm>
          <a:prstGeom xmlns:a="http://schemas.openxmlformats.org/drawingml/2006/main" prst="rect">
            <a:avLst/>
          </a:prstGeom>
          <a:solidFill xmlns:a="http://schemas.openxmlformats.org/drawingml/2006/main">
            <a:srgbClr val="84718E"/>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4EE2B332-34C5-4782-858F-D39991DFC1DC}"/>
              </a:ext>
            </a:extLst>
          </p:cNvPr>
          <p:cNvSpPr>
            <a:spLocks xmlns:a="http://schemas.openxmlformats.org/drawingml/2006/main" noGrp="1"/>
          </p:cNvSpPr>
          <p:nvPr/>
        </p:nvSpPr>
        <p:spPr>
          <a:xfrm xmlns:a="http://schemas.openxmlformats.org/drawingml/2006/main">
            <a:off x="11556873" y="5282565"/>
            <a:ext cx="19050" cy="1657350"/>
          </a:xfrm>
          <a:prstGeom xmlns:a="http://schemas.openxmlformats.org/drawingml/2006/main" prst="rect">
            <a:avLst/>
          </a:prstGeom>
          <a:solidFill xmlns:a="http://schemas.openxmlformats.org/drawingml/2006/main">
            <a:srgbClr val="A87438"/>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2C3A111E-DABC-40B6-B90B-E12E1A5B3BA0}"/>
              </a:ext>
            </a:extLst>
          </p:cNvPr>
          <p:cNvSpPr>
            <a:spLocks xmlns:a="http://schemas.openxmlformats.org/drawingml/2006/main" noGrp="1"/>
          </p:cNvSpPr>
          <p:nvPr/>
        </p:nvSpPr>
        <p:spPr>
          <a:xfrm xmlns:a="http://schemas.openxmlformats.org/drawingml/2006/main">
            <a:off x="12308205" y="2774442"/>
            <a:ext cx="1657350" cy="2508123"/>
          </a:xfrm>
          <a:prstGeom xmlns:a="http://schemas.openxmlformats.org/drawingml/2006/main" prst="rect">
            <a:avLst/>
          </a:prstGeom>
          <a:solidFill xmlns:a="http://schemas.openxmlformats.org/drawingml/2006/main">
            <a:srgbClr val="FBE3BD"/>
          </a:solidFill>
          <a:ln xmlns:a="http://schemas.openxmlformats.org/drawingml/2006/main" w="28575">
            <a:solidFill>
              <a:srgbClr val="A14827"/>
            </a:solidFill>
            <a:prstDash val="solid"/>
          </a:ln>
        </p:spPr>
      </p:sp>
      <p:sp>
        <p:nvSpPr>
          <p:cNvPr id="63" name="">
            <a:extLst xmlns:a="http://schemas.openxmlformats.org/drawingml/2006/main">
              <a:ext uri="{FF2B5EF4-FFF2-40B4-BE49-F238E27FC236}">
                <a16:creationId xmlns:a16="http://schemas.microsoft.com/office/drawing/2014/main" id="{78D8EA3D-AA5C-43E4-A2AB-00BC7AEF4B77}"/>
              </a:ext>
            </a:extLst>
          </p:cNvPr>
          <p:cNvSpPr>
            <a:spLocks xmlns:a="http://schemas.openxmlformats.org/drawingml/2006/main" noGrp="1"/>
          </p:cNvSpPr>
          <p:nvPr/>
        </p:nvSpPr>
        <p:spPr>
          <a:xfrm xmlns:a="http://schemas.openxmlformats.org/drawingml/2006/main">
            <a:off x="12232005" y="2897886"/>
            <a:ext cx="18097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725" b="1">
                <a:solidFill>
                  <a:srgbClr val="352E28"/>
                </a:solidFill>
                <a:latin typeface="Malgun Gothic"/>
                <a:ea typeface="Malgun Gothic"/>
                <a:cs typeface="Malgun Gothic"/>
              </a:defRPr>
            </a:defPPr>
          </a:lstStyle>
          <a:p xmlns:a="http://schemas.openxmlformats.org/drawingml/2006/main">
            <a:pPr algn="ctr">
              <a:defRPr sz="1725" b="1">
                <a:solidFill>
                  <a:srgbClr val="352E28"/>
                </a:solidFill>
                <a:latin typeface="Malgun Gothic"/>
                <a:ea typeface="Malgun Gothic"/>
                <a:cs typeface="Malgun Gothic"/>
              </a:defRPr>
            </a:pPr>
            <a:r>
              <a:rPr sz="1725" b="1">
                <a:solidFill>
                  <a:srgbClr val="352E28"/>
                </a:solidFill>
                <a:latin typeface="Malgun Gothic"/>
                <a:ea typeface="Malgun Gothic"/>
                <a:cs typeface="Malgun Gothic"/>
              </a:rPr>
              <a:t>Worker2</a:t>
            </a:r>
          </a:p>
        </p:txBody>
      </p:sp>
      <p:sp>
        <p:nvSpPr>
          <p:cNvPr id="64" name="">
            <a:extLst xmlns:a="http://schemas.openxmlformats.org/drawingml/2006/main">
              <a:ext uri="{FF2B5EF4-FFF2-40B4-BE49-F238E27FC236}">
                <a16:creationId xmlns:a16="http://schemas.microsoft.com/office/drawing/2014/main" id="{AE193C53-4CA2-43A4-9839-080AADDD90D9}"/>
              </a:ext>
            </a:extLst>
          </p:cNvPr>
          <p:cNvSpPr>
            <a:spLocks xmlns:a="http://schemas.openxmlformats.org/drawingml/2006/main" noGrp="1"/>
          </p:cNvSpPr>
          <p:nvPr/>
        </p:nvSpPr>
        <p:spPr>
          <a:xfrm xmlns:a="http://schemas.openxmlformats.org/drawingml/2006/main">
            <a:off x="12232005" y="3240786"/>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기존 HV#01</a:t>
            </a:r>
          </a:p>
        </p:txBody>
      </p:sp>
      <p:sp>
        <p:nvSpPr>
          <p:cNvPr id="65" name="">
            <a:extLst xmlns:a="http://schemas.openxmlformats.org/drawingml/2006/main">
              <a:ext uri="{FF2B5EF4-FFF2-40B4-BE49-F238E27FC236}">
                <a16:creationId xmlns:a16="http://schemas.microsoft.com/office/drawing/2014/main" id="{35D13B65-A63C-49C1-9F09-5EAC78C83B95}"/>
              </a:ext>
            </a:extLst>
          </p:cNvPr>
          <p:cNvSpPr>
            <a:spLocks xmlns:a="http://schemas.openxmlformats.org/drawingml/2006/main" noGrp="1"/>
          </p:cNvSpPr>
          <p:nvPr/>
        </p:nvSpPr>
        <p:spPr>
          <a:xfrm xmlns:a="http://schemas.openxmlformats.org/drawingml/2006/main">
            <a:off x="12374499" y="3514725"/>
            <a:ext cx="1524762" cy="287274"/>
          </a:xfrm>
          <a:prstGeom xmlns:a="http://schemas.openxmlformats.org/drawingml/2006/main" prst="rect">
            <a:avLst/>
          </a:prstGeom>
          <a:solidFill xmlns:a="http://schemas.openxmlformats.org/drawingml/2006/main">
            <a:srgbClr val="953E24"/>
          </a:solidFill>
          <a:ln xmlns:a="http://schemas.openxmlformats.org/drawingml/2006/main" w="9525">
            <a:noFill/>
            <a:prstDash val="solid"/>
          </a:ln>
        </p:spPr>
      </p:sp>
      <p:sp>
        <p:nvSpPr>
          <p:cNvPr id="66" name="">
            <a:extLst xmlns:a="http://schemas.openxmlformats.org/drawingml/2006/main">
              <a:ext uri="{FF2B5EF4-FFF2-40B4-BE49-F238E27FC236}">
                <a16:creationId xmlns:a16="http://schemas.microsoft.com/office/drawing/2014/main" id="{FF69B743-66D2-483A-93BB-9E93AF810821}"/>
              </a:ext>
            </a:extLst>
          </p:cNvPr>
          <p:cNvSpPr>
            <a:spLocks xmlns:a="http://schemas.openxmlformats.org/drawingml/2006/main" noGrp="1"/>
          </p:cNvSpPr>
          <p:nvPr/>
        </p:nvSpPr>
        <p:spPr>
          <a:xfrm xmlns:a="http://schemas.openxmlformats.org/drawingml/2006/main">
            <a:off x="12232005" y="3532632"/>
            <a:ext cx="18097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1">
                <a:solidFill>
                  <a:srgbClr val="FFFAF0"/>
                </a:solidFill>
                <a:latin typeface="Malgun Gothic"/>
                <a:ea typeface="Malgun Gothic"/>
                <a:cs typeface="Malgun Gothic"/>
              </a:defRPr>
            </a:defPPr>
          </a:lstStyle>
          <a:p xmlns:a="http://schemas.openxmlformats.org/drawingml/2006/main">
            <a:pPr algn="ctr">
              <a:defRPr sz="1425" b="1">
                <a:solidFill>
                  <a:srgbClr val="FFFAF0"/>
                </a:solidFill>
                <a:latin typeface="Malgun Gothic"/>
                <a:ea typeface="Malgun Gothic"/>
                <a:cs typeface="Malgun Gothic"/>
              </a:defRPr>
            </a:pPr>
            <a:r>
              <a:rPr sz="1425" b="1">
                <a:solidFill>
                  <a:srgbClr val="FFFAF0"/>
                </a:solidFill>
                <a:latin typeface="Malgun Gothic"/>
                <a:ea typeface="Malgun Gothic"/>
                <a:cs typeface="Malgun Gothic"/>
              </a:rPr>
              <a:t>MTV 이후 재구성</a:t>
            </a:r>
          </a:p>
        </p:txBody>
      </p:sp>
      <p:sp>
        <p:nvSpPr>
          <p:cNvPr id="67" name="">
            <a:extLst xmlns:a="http://schemas.openxmlformats.org/drawingml/2006/main">
              <a:ext uri="{FF2B5EF4-FFF2-40B4-BE49-F238E27FC236}">
                <a16:creationId xmlns:a16="http://schemas.microsoft.com/office/drawing/2014/main" id="{99EBF7D4-F1F6-4866-84BE-5DD64D8A1221}"/>
              </a:ext>
            </a:extLst>
          </p:cNvPr>
          <p:cNvSpPr>
            <a:spLocks xmlns:a="http://schemas.openxmlformats.org/drawingml/2006/main" noGrp="1"/>
          </p:cNvSpPr>
          <p:nvPr/>
        </p:nvSpPr>
        <p:spPr>
          <a:xfrm xmlns:a="http://schemas.openxmlformats.org/drawingml/2006/main">
            <a:off x="12440793" y="3934587"/>
            <a:ext cx="1392174" cy="430911"/>
          </a:xfrm>
          <a:prstGeom xmlns:a="http://schemas.openxmlformats.org/drawingml/2006/main" prst="rect">
            <a:avLst/>
          </a:prstGeom>
          <a:solidFill xmlns:a="http://schemas.openxmlformats.org/drawingml/2006/main">
            <a:srgbClr val="E8DFCC"/>
          </a:solidFill>
          <a:ln xmlns:a="http://schemas.openxmlformats.org/drawingml/2006/main" w="9525">
            <a:solidFill>
              <a:srgbClr val="A38B66"/>
            </a:solidFill>
            <a:prstDash val="solid"/>
          </a:ln>
        </p:spPr>
      </p:sp>
      <p:sp>
        <p:nvSpPr>
          <p:cNvPr id="68" name="">
            <a:extLst xmlns:a="http://schemas.openxmlformats.org/drawingml/2006/main">
              <a:ext uri="{FF2B5EF4-FFF2-40B4-BE49-F238E27FC236}">
                <a16:creationId xmlns:a16="http://schemas.microsoft.com/office/drawing/2014/main" id="{D22E457D-F9C4-422E-B104-847343BD6BFA}"/>
              </a:ext>
            </a:extLst>
          </p:cNvPr>
          <p:cNvSpPr>
            <a:spLocks xmlns:a="http://schemas.openxmlformats.org/drawingml/2006/main" noGrp="1"/>
          </p:cNvSpPr>
          <p:nvPr/>
        </p:nvSpPr>
        <p:spPr>
          <a:xfrm xmlns:a="http://schemas.openxmlformats.org/drawingml/2006/main">
            <a:off x="12232005" y="4040886"/>
            <a:ext cx="18097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0">
                <a:solidFill>
                  <a:srgbClr val="352E28"/>
                </a:solidFill>
                <a:latin typeface="Malgun Gothic"/>
                <a:ea typeface="Malgun Gothic"/>
                <a:cs typeface="Malgun Gothic"/>
              </a:defRPr>
            </a:defPPr>
          </a:lstStyle>
          <a:p xmlns:a="http://schemas.openxmlformats.org/drawingml/2006/main">
            <a:pPr algn="ctr">
              <a:defRPr sz="1425" b="0">
                <a:solidFill>
                  <a:srgbClr val="352E28"/>
                </a:solidFill>
                <a:latin typeface="Malgun Gothic"/>
                <a:ea typeface="Malgun Gothic"/>
                <a:cs typeface="Malgun Gothic"/>
              </a:defRPr>
            </a:pPr>
            <a:r>
              <a:rPr sz="1425" b="0">
                <a:solidFill>
                  <a:srgbClr val="352E28"/>
                </a:solidFill>
                <a:latin typeface="Malgun Gothic"/>
                <a:ea typeface="Malgun Gothic"/>
                <a:cs typeface="Malgun Gothic"/>
              </a:rPr>
              <a:t>VM</a:t>
            </a:r>
          </a:p>
        </p:txBody>
      </p:sp>
      <p:sp>
        <p:nvSpPr>
          <p:cNvPr id="69" name="">
            <a:extLst xmlns:a="http://schemas.openxmlformats.org/drawingml/2006/main">
              <a:ext uri="{FF2B5EF4-FFF2-40B4-BE49-F238E27FC236}">
                <a16:creationId xmlns:a16="http://schemas.microsoft.com/office/drawing/2014/main" id="{9E704287-5ECE-4920-B7EE-186552446E8F}"/>
              </a:ext>
            </a:extLst>
          </p:cNvPr>
          <p:cNvSpPr>
            <a:spLocks xmlns:a="http://schemas.openxmlformats.org/drawingml/2006/main" noGrp="1"/>
          </p:cNvSpPr>
          <p:nvPr/>
        </p:nvSpPr>
        <p:spPr>
          <a:xfrm xmlns:a="http://schemas.openxmlformats.org/drawingml/2006/main">
            <a:off x="12232005" y="4511421"/>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원본 VMware 유지 후</a:t>
            </a:r>
          </a:p>
        </p:txBody>
      </p:sp>
      <p:sp>
        <p:nvSpPr>
          <p:cNvPr id="70" name="">
            <a:extLst xmlns:a="http://schemas.openxmlformats.org/drawingml/2006/main">
              <a:ext uri="{FF2B5EF4-FFF2-40B4-BE49-F238E27FC236}">
                <a16:creationId xmlns:a16="http://schemas.microsoft.com/office/drawing/2014/main" id="{B69E7DFE-3AB8-4E93-8695-3FCEE5B1C51C}"/>
              </a:ext>
            </a:extLst>
          </p:cNvPr>
          <p:cNvSpPr>
            <a:spLocks xmlns:a="http://schemas.openxmlformats.org/drawingml/2006/main" noGrp="1"/>
          </p:cNvSpPr>
          <p:nvPr/>
        </p:nvSpPr>
        <p:spPr>
          <a:xfrm xmlns:a="http://schemas.openxmlformats.org/drawingml/2006/main">
            <a:off x="12232005" y="4765548"/>
            <a:ext cx="18097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이관 완료 시 노드 전환</a:t>
            </a:r>
          </a:p>
        </p:txBody>
      </p:sp>
      <p:sp>
        <p:nvSpPr>
          <p:cNvPr id="71" name="">
            <a:extLst xmlns:a="http://schemas.openxmlformats.org/drawingml/2006/main">
              <a:ext uri="{FF2B5EF4-FFF2-40B4-BE49-F238E27FC236}">
                <a16:creationId xmlns:a16="http://schemas.microsoft.com/office/drawing/2014/main" id="{E44BBEC8-A5B1-41F3-AE7F-7C5FB9A125FA}"/>
              </a:ext>
            </a:extLst>
          </p:cNvPr>
          <p:cNvSpPr>
            <a:spLocks xmlns:a="http://schemas.openxmlformats.org/drawingml/2006/main" noGrp="1"/>
          </p:cNvSpPr>
          <p:nvPr/>
        </p:nvSpPr>
        <p:spPr>
          <a:xfrm xmlns:a="http://schemas.openxmlformats.org/drawingml/2006/main">
            <a:off x="12893802" y="5282565"/>
            <a:ext cx="19050" cy="596646"/>
          </a:xfrm>
          <a:prstGeom xmlns:a="http://schemas.openxmlformats.org/drawingml/2006/main" prst="rect">
            <a:avLst/>
          </a:prstGeom>
          <a:solidFill xmlns:a="http://schemas.openxmlformats.org/drawingml/2006/main">
            <a:srgbClr val="556C85"/>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977F15A4-DBA1-4ED0-9548-CB6442839852}"/>
              </a:ext>
            </a:extLst>
          </p:cNvPr>
          <p:cNvSpPr>
            <a:spLocks xmlns:a="http://schemas.openxmlformats.org/drawingml/2006/main" noGrp="1"/>
          </p:cNvSpPr>
          <p:nvPr/>
        </p:nvSpPr>
        <p:spPr>
          <a:xfrm xmlns:a="http://schemas.openxmlformats.org/drawingml/2006/main">
            <a:off x="13136880" y="5282565"/>
            <a:ext cx="19050" cy="1126998"/>
          </a:xfrm>
          <a:prstGeom xmlns:a="http://schemas.openxmlformats.org/drawingml/2006/main" prst="rect">
            <a:avLst/>
          </a:prstGeom>
          <a:solidFill xmlns:a="http://schemas.openxmlformats.org/drawingml/2006/main">
            <a:srgbClr val="84718E"/>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6B877551-B884-4F86-A79E-203CA700C4A9}"/>
              </a:ext>
            </a:extLst>
          </p:cNvPr>
          <p:cNvSpPr>
            <a:spLocks xmlns:a="http://schemas.openxmlformats.org/drawingml/2006/main" noGrp="1"/>
          </p:cNvSpPr>
          <p:nvPr/>
        </p:nvSpPr>
        <p:spPr>
          <a:xfrm xmlns:a="http://schemas.openxmlformats.org/drawingml/2006/main">
            <a:off x="13379958" y="5282565"/>
            <a:ext cx="19050" cy="1657350"/>
          </a:xfrm>
          <a:prstGeom xmlns:a="http://schemas.openxmlformats.org/drawingml/2006/main" prst="rect">
            <a:avLst/>
          </a:prstGeom>
          <a:solidFill xmlns:a="http://schemas.openxmlformats.org/drawingml/2006/main">
            <a:srgbClr val="A87438"/>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42F0ECA9-C1B2-4275-8589-270D47371F07}"/>
              </a:ext>
            </a:extLst>
          </p:cNvPr>
          <p:cNvSpPr>
            <a:spLocks xmlns:a="http://schemas.openxmlformats.org/drawingml/2006/main" noGrp="1"/>
          </p:cNvSpPr>
          <p:nvPr/>
        </p:nvSpPr>
        <p:spPr>
          <a:xfrm xmlns:a="http://schemas.openxmlformats.org/drawingml/2006/main">
            <a:off x="1093470" y="5879211"/>
            <a:ext cx="4961001" cy="19050"/>
          </a:xfrm>
          <a:prstGeom xmlns:a="http://schemas.openxmlformats.org/drawingml/2006/main" prst="rect">
            <a:avLst/>
          </a:prstGeom>
          <a:solidFill xmlns:a="http://schemas.openxmlformats.org/drawingml/2006/main">
            <a:srgbClr val="556C85"/>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870D51D2-B2B0-46CD-AE77-611C69A4651C}"/>
              </a:ext>
            </a:extLst>
          </p:cNvPr>
          <p:cNvSpPr>
            <a:spLocks xmlns:a="http://schemas.openxmlformats.org/drawingml/2006/main" noGrp="1"/>
          </p:cNvSpPr>
          <p:nvPr/>
        </p:nvSpPr>
        <p:spPr>
          <a:xfrm xmlns:a="http://schemas.openxmlformats.org/drawingml/2006/main">
            <a:off x="1093470" y="5616321"/>
            <a:ext cx="7429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352E28"/>
                </a:solidFill>
                <a:latin typeface="Malgun Gothic"/>
                <a:ea typeface="Malgun Gothic"/>
                <a:cs typeface="Malgun Gothic"/>
              </a:defRPr>
            </a:defPPr>
          </a:lstStyle>
          <a:p xmlns:a="http://schemas.openxmlformats.org/drawingml/2006/main">
            <a:pPr algn="l">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서비스망</a:t>
            </a:r>
          </a:p>
        </p:txBody>
      </p:sp>
      <p:sp>
        <p:nvSpPr>
          <p:cNvPr id="76" name="">
            <a:extLst xmlns:a="http://schemas.openxmlformats.org/drawingml/2006/main">
              <a:ext uri="{FF2B5EF4-FFF2-40B4-BE49-F238E27FC236}">
                <a16:creationId xmlns:a16="http://schemas.microsoft.com/office/drawing/2014/main" id="{D7A4C879-2929-44C8-A147-B403C1907523}"/>
              </a:ext>
            </a:extLst>
          </p:cNvPr>
          <p:cNvSpPr>
            <a:spLocks xmlns:a="http://schemas.openxmlformats.org/drawingml/2006/main" noGrp="1"/>
          </p:cNvSpPr>
          <p:nvPr/>
        </p:nvSpPr>
        <p:spPr>
          <a:xfrm xmlns:a="http://schemas.openxmlformats.org/drawingml/2006/main">
            <a:off x="1093470" y="6409563"/>
            <a:ext cx="4961001" cy="19050"/>
          </a:xfrm>
          <a:prstGeom xmlns:a="http://schemas.openxmlformats.org/drawingml/2006/main" prst="rect">
            <a:avLst/>
          </a:prstGeom>
          <a:solidFill xmlns:a="http://schemas.openxmlformats.org/drawingml/2006/main">
            <a:srgbClr val="84718E"/>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BDA857B5-6026-483C-AC4F-766099FE3106}"/>
              </a:ext>
            </a:extLst>
          </p:cNvPr>
          <p:cNvSpPr>
            <a:spLocks xmlns:a="http://schemas.openxmlformats.org/drawingml/2006/main" noGrp="1"/>
          </p:cNvSpPr>
          <p:nvPr/>
        </p:nvSpPr>
        <p:spPr>
          <a:xfrm xmlns:a="http://schemas.openxmlformats.org/drawingml/2006/main">
            <a:off x="1093470" y="6146673"/>
            <a:ext cx="7429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352E28"/>
                </a:solidFill>
                <a:latin typeface="Malgun Gothic"/>
                <a:ea typeface="Malgun Gothic"/>
                <a:cs typeface="Malgun Gothic"/>
              </a:defRPr>
            </a:defPPr>
          </a:lstStyle>
          <a:p xmlns:a="http://schemas.openxmlformats.org/drawingml/2006/main">
            <a:pPr algn="l">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관리망</a:t>
            </a:r>
          </a:p>
        </p:txBody>
      </p:sp>
      <p:sp>
        <p:nvSpPr>
          <p:cNvPr id="78" name="">
            <a:extLst xmlns:a="http://schemas.openxmlformats.org/drawingml/2006/main">
              <a:ext uri="{FF2B5EF4-FFF2-40B4-BE49-F238E27FC236}">
                <a16:creationId xmlns:a16="http://schemas.microsoft.com/office/drawing/2014/main" id="{A796B05B-529C-4731-95F1-C6A6205FF049}"/>
              </a:ext>
            </a:extLst>
          </p:cNvPr>
          <p:cNvSpPr>
            <a:spLocks xmlns:a="http://schemas.openxmlformats.org/drawingml/2006/main" noGrp="1"/>
          </p:cNvSpPr>
          <p:nvPr/>
        </p:nvSpPr>
        <p:spPr>
          <a:xfrm xmlns:a="http://schemas.openxmlformats.org/drawingml/2006/main">
            <a:off x="1093470" y="6939915"/>
            <a:ext cx="4961001" cy="19050"/>
          </a:xfrm>
          <a:prstGeom xmlns:a="http://schemas.openxmlformats.org/drawingml/2006/main" prst="rect">
            <a:avLst/>
          </a:prstGeom>
          <a:solidFill xmlns:a="http://schemas.openxmlformats.org/drawingml/2006/main">
            <a:srgbClr val="A87438"/>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E9CB53ED-968F-4206-90CC-0DA3DF31574C}"/>
              </a:ext>
            </a:extLst>
          </p:cNvPr>
          <p:cNvSpPr>
            <a:spLocks xmlns:a="http://schemas.openxmlformats.org/drawingml/2006/main" noGrp="1"/>
          </p:cNvSpPr>
          <p:nvPr/>
        </p:nvSpPr>
        <p:spPr>
          <a:xfrm xmlns:a="http://schemas.openxmlformats.org/drawingml/2006/main">
            <a:off x="1093470" y="6677025"/>
            <a:ext cx="7429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352E28"/>
                </a:solidFill>
                <a:latin typeface="Malgun Gothic"/>
                <a:ea typeface="Malgun Gothic"/>
                <a:cs typeface="Malgun Gothic"/>
              </a:defRPr>
            </a:defPPr>
          </a:lstStyle>
          <a:p xmlns:a="http://schemas.openxmlformats.org/drawingml/2006/main">
            <a:pPr algn="l">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NAS / BK망</a:t>
            </a:r>
          </a:p>
        </p:txBody>
      </p:sp>
      <p:sp>
        <p:nvSpPr>
          <p:cNvPr id="80" name="">
            <a:extLst xmlns:a="http://schemas.openxmlformats.org/drawingml/2006/main">
              <a:ext uri="{FF2B5EF4-FFF2-40B4-BE49-F238E27FC236}">
                <a16:creationId xmlns:a16="http://schemas.microsoft.com/office/drawing/2014/main" id="{391FC9E4-B90D-469B-B48D-3175A7AE40F3}"/>
              </a:ext>
            </a:extLst>
          </p:cNvPr>
          <p:cNvSpPr>
            <a:spLocks xmlns:a="http://schemas.openxmlformats.org/drawingml/2006/main" noGrp="1"/>
          </p:cNvSpPr>
          <p:nvPr/>
        </p:nvSpPr>
        <p:spPr>
          <a:xfrm xmlns:a="http://schemas.openxmlformats.org/drawingml/2006/main">
            <a:off x="6838950" y="5879211"/>
            <a:ext cx="7270242" cy="19050"/>
          </a:xfrm>
          <a:prstGeom xmlns:a="http://schemas.openxmlformats.org/drawingml/2006/main" prst="rect">
            <a:avLst/>
          </a:prstGeom>
          <a:solidFill xmlns:a="http://schemas.openxmlformats.org/drawingml/2006/main">
            <a:srgbClr val="556C85"/>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30D1F9E9-D3F1-4623-9B21-493EF285C6DF}"/>
              </a:ext>
            </a:extLst>
          </p:cNvPr>
          <p:cNvSpPr>
            <a:spLocks xmlns:a="http://schemas.openxmlformats.org/drawingml/2006/main" noGrp="1"/>
          </p:cNvSpPr>
          <p:nvPr/>
        </p:nvSpPr>
        <p:spPr>
          <a:xfrm xmlns:a="http://schemas.openxmlformats.org/drawingml/2006/main">
            <a:off x="6838950" y="5616321"/>
            <a:ext cx="7429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352E28"/>
                </a:solidFill>
                <a:latin typeface="Malgun Gothic"/>
                <a:ea typeface="Malgun Gothic"/>
                <a:cs typeface="Malgun Gothic"/>
              </a:defRPr>
            </a:defPPr>
          </a:lstStyle>
          <a:p xmlns:a="http://schemas.openxmlformats.org/drawingml/2006/main">
            <a:pPr algn="l">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서비스망</a:t>
            </a:r>
          </a:p>
        </p:txBody>
      </p:sp>
      <p:sp>
        <p:nvSpPr>
          <p:cNvPr id="82" name="">
            <a:extLst xmlns:a="http://schemas.openxmlformats.org/drawingml/2006/main">
              <a:ext uri="{FF2B5EF4-FFF2-40B4-BE49-F238E27FC236}">
                <a16:creationId xmlns:a16="http://schemas.microsoft.com/office/drawing/2014/main" id="{A79CC49E-F384-4405-BBC8-40C214EBFFFB}"/>
              </a:ext>
            </a:extLst>
          </p:cNvPr>
          <p:cNvSpPr>
            <a:spLocks xmlns:a="http://schemas.openxmlformats.org/drawingml/2006/main" noGrp="1"/>
          </p:cNvSpPr>
          <p:nvPr/>
        </p:nvSpPr>
        <p:spPr>
          <a:xfrm xmlns:a="http://schemas.openxmlformats.org/drawingml/2006/main">
            <a:off x="6838950" y="6409563"/>
            <a:ext cx="7270242" cy="19050"/>
          </a:xfrm>
          <a:prstGeom xmlns:a="http://schemas.openxmlformats.org/drawingml/2006/main" prst="rect">
            <a:avLst/>
          </a:prstGeom>
          <a:solidFill xmlns:a="http://schemas.openxmlformats.org/drawingml/2006/main">
            <a:srgbClr val="84718E"/>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05C31DCB-C6D0-4927-985A-B1C9EF3378C9}"/>
              </a:ext>
            </a:extLst>
          </p:cNvPr>
          <p:cNvSpPr>
            <a:spLocks xmlns:a="http://schemas.openxmlformats.org/drawingml/2006/main" noGrp="1"/>
          </p:cNvSpPr>
          <p:nvPr/>
        </p:nvSpPr>
        <p:spPr>
          <a:xfrm xmlns:a="http://schemas.openxmlformats.org/drawingml/2006/main">
            <a:off x="6838950" y="6146673"/>
            <a:ext cx="7429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352E28"/>
                </a:solidFill>
                <a:latin typeface="Malgun Gothic"/>
                <a:ea typeface="Malgun Gothic"/>
                <a:cs typeface="Malgun Gothic"/>
              </a:defRPr>
            </a:defPPr>
          </a:lstStyle>
          <a:p xmlns:a="http://schemas.openxmlformats.org/drawingml/2006/main">
            <a:pPr algn="l">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관리망</a:t>
            </a:r>
          </a:p>
        </p:txBody>
      </p:sp>
      <p:sp>
        <p:nvSpPr>
          <p:cNvPr id="84" name="">
            <a:extLst xmlns:a="http://schemas.openxmlformats.org/drawingml/2006/main">
              <a:ext uri="{FF2B5EF4-FFF2-40B4-BE49-F238E27FC236}">
                <a16:creationId xmlns:a16="http://schemas.microsoft.com/office/drawing/2014/main" id="{EA55E7F2-701A-4340-B37F-3C40542285FE}"/>
              </a:ext>
            </a:extLst>
          </p:cNvPr>
          <p:cNvSpPr>
            <a:spLocks xmlns:a="http://schemas.openxmlformats.org/drawingml/2006/main" noGrp="1"/>
          </p:cNvSpPr>
          <p:nvPr/>
        </p:nvSpPr>
        <p:spPr>
          <a:xfrm xmlns:a="http://schemas.openxmlformats.org/drawingml/2006/main">
            <a:off x="6838950" y="6939915"/>
            <a:ext cx="7270242" cy="19050"/>
          </a:xfrm>
          <a:prstGeom xmlns:a="http://schemas.openxmlformats.org/drawingml/2006/main" prst="rect">
            <a:avLst/>
          </a:prstGeom>
          <a:solidFill xmlns:a="http://schemas.openxmlformats.org/drawingml/2006/main">
            <a:srgbClr val="A87438"/>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E2382037-AE52-4F4B-9AFA-48B2C2CBBEBA}"/>
              </a:ext>
            </a:extLst>
          </p:cNvPr>
          <p:cNvSpPr>
            <a:spLocks xmlns:a="http://schemas.openxmlformats.org/drawingml/2006/main" noGrp="1"/>
          </p:cNvSpPr>
          <p:nvPr/>
        </p:nvSpPr>
        <p:spPr>
          <a:xfrm xmlns:a="http://schemas.openxmlformats.org/drawingml/2006/main">
            <a:off x="6838950" y="6677025"/>
            <a:ext cx="7429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352E28"/>
                </a:solidFill>
                <a:latin typeface="Malgun Gothic"/>
                <a:ea typeface="Malgun Gothic"/>
                <a:cs typeface="Malgun Gothic"/>
              </a:defRPr>
            </a:defPPr>
          </a:lstStyle>
          <a:p xmlns:a="http://schemas.openxmlformats.org/drawingml/2006/main">
            <a:pPr algn="l">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NAS / BK망</a:t>
            </a:r>
          </a:p>
        </p:txBody>
      </p:sp>
      <p:sp>
        <p:nvSpPr>
          <p:cNvPr id="86" name="">
            <a:extLst xmlns:a="http://schemas.openxmlformats.org/drawingml/2006/main">
              <a:ext uri="{FF2B5EF4-FFF2-40B4-BE49-F238E27FC236}">
                <a16:creationId xmlns:a16="http://schemas.microsoft.com/office/drawing/2014/main" id="{3B2394BD-9A8D-44D7-AE53-AD0DEED74553}"/>
              </a:ext>
            </a:extLst>
          </p:cNvPr>
          <p:cNvSpPr>
            <a:spLocks xmlns:a="http://schemas.openxmlformats.org/drawingml/2006/main" noGrp="1"/>
          </p:cNvSpPr>
          <p:nvPr/>
        </p:nvSpPr>
        <p:spPr>
          <a:xfrm xmlns:a="http://schemas.openxmlformats.org/drawingml/2006/main">
            <a:off x="1093470" y="7306818"/>
            <a:ext cx="7429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352E28"/>
                </a:solidFill>
                <a:latin typeface="Malgun Gothic"/>
                <a:ea typeface="Malgun Gothic"/>
                <a:cs typeface="Malgun Gothic"/>
              </a:defRPr>
            </a:defPPr>
          </a:lstStyle>
          <a:p xmlns:a="http://schemas.openxmlformats.org/drawingml/2006/main">
            <a:pPr algn="l">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VM 26식 · 데이터스토어: VMFS (FC LUN)</a:t>
            </a:r>
          </a:p>
        </p:txBody>
      </p:sp>
      <p:sp>
        <p:nvSpPr>
          <p:cNvPr id="87" name="">
            <a:extLst xmlns:a="http://schemas.openxmlformats.org/drawingml/2006/main">
              <a:ext uri="{FF2B5EF4-FFF2-40B4-BE49-F238E27FC236}">
                <a16:creationId xmlns:a16="http://schemas.microsoft.com/office/drawing/2014/main" id="{8485B11F-FD13-428A-988F-04A686EF9F76}"/>
              </a:ext>
            </a:extLst>
          </p:cNvPr>
          <p:cNvSpPr>
            <a:spLocks xmlns:a="http://schemas.openxmlformats.org/drawingml/2006/main" noGrp="1"/>
          </p:cNvSpPr>
          <p:nvPr/>
        </p:nvSpPr>
        <p:spPr>
          <a:xfrm xmlns:a="http://schemas.openxmlformats.org/drawingml/2006/main">
            <a:off x="6838950" y="7306818"/>
            <a:ext cx="7429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352E28"/>
                </a:solidFill>
                <a:latin typeface="Malgun Gothic"/>
                <a:ea typeface="Malgun Gothic"/>
                <a:cs typeface="Malgun Gothic"/>
              </a:defRPr>
            </a:defPPr>
          </a:lstStyle>
          <a:p xmlns:a="http://schemas.openxmlformats.org/drawingml/2006/main">
            <a:pPr algn="l">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EMC CSI 볼륨 할당 예정 · 기존 HV IP 재사용</a:t>
            </a:r>
          </a:p>
        </p:txBody>
      </p:sp>
    </p:spTree>
    <p:extLst>
      <p:ext uri="{BB962C8B-B14F-4D97-AF65-F5344CB8AC3E}">
        <p14:creationId xmlns:p14="http://schemas.microsoft.com/office/powerpoint/2010/main" val="436285139"/>
      </p:ext>
    </p:extLst>
  </p:cSld>
</p:sld>
</file>

<file path=ppt/slides/slide5.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2608EA1-C4D8-4F0F-BCAC-0AB1E83C56A3}"/>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동일 EMC 스토리지 이관 구성</a:t>
            </a:r>
          </a:p>
        </p:txBody>
      </p:sp>
      <p:sp>
        <p:nvSpPr>
          <p:cNvPr id="2" name="">
            <a:extLst xmlns:a="http://schemas.openxmlformats.org/drawingml/2006/main">
              <a:ext uri="{FF2B5EF4-FFF2-40B4-BE49-F238E27FC236}">
                <a16:creationId xmlns:a16="http://schemas.microsoft.com/office/drawing/2014/main" id="{6ED58A19-FD9C-4180-8918-DFE67167F71A}"/>
              </a:ext>
            </a:extLst>
          </p:cNvPr>
          <p:cNvSpPr>
            <a:spLocks xmlns:a="http://schemas.openxmlformats.org/drawingml/2006/main" noGrp="1"/>
          </p:cNvSpPr>
          <p:nvPr/>
        </p:nvSpPr>
        <p:spPr>
          <a:xfrm xmlns:a="http://schemas.openxmlformats.org/drawingml/2006/main">
            <a:off x="628650" y="1114425"/>
            <a:ext cx="1398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75685B"/>
                </a:solidFill>
                <a:latin typeface="Malgun Gothic"/>
                <a:ea typeface="Malgun Gothic"/>
                <a:cs typeface="Malgun Gothic"/>
              </a:defRPr>
            </a:defPPr>
          </a:lstStyle>
          <a:p xmlns:a="http://schemas.openxmlformats.org/drawingml/2006/main">
            <a:pPr algn="l">
              <a:defRPr sz="1575" b="0">
                <a:solidFill>
                  <a:srgbClr val="75685B"/>
                </a:solidFill>
                <a:latin typeface="Malgun Gothic"/>
                <a:ea typeface="Malgun Gothic"/>
                <a:cs typeface="Malgun Gothic"/>
              </a:defRPr>
            </a:pPr>
            <a:r>
              <a:rPr sz="1575" b="0">
                <a:solidFill>
                  <a:srgbClr val="75685B"/>
                </a:solidFill>
                <a:latin typeface="Malgun Gothic"/>
                <a:ea typeface="Malgun Gothic"/>
                <a:cs typeface="Malgun Gothic"/>
              </a:rPr>
              <a:t>VMFS 원본 유지분과 CSI 대상 볼륨을 동시에 확보합니다.</a:t>
            </a:r>
          </a:p>
        </p:txBody>
      </p:sp>
      <p:sp>
        <p:nvSpPr>
          <p:cNvPr id="3" name="">
            <a:extLst xmlns:a="http://schemas.openxmlformats.org/drawingml/2006/main">
              <a:ext uri="{FF2B5EF4-FFF2-40B4-BE49-F238E27FC236}">
                <a16:creationId xmlns:a16="http://schemas.microsoft.com/office/drawing/2014/main" id="{FE8BA399-ED4E-4BC3-9C99-09D2CF75D53B}"/>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4" name="">
            <a:extLst xmlns:a="http://schemas.openxmlformats.org/drawingml/2006/main">
              <a:ext uri="{FF2B5EF4-FFF2-40B4-BE49-F238E27FC236}">
                <a16:creationId xmlns:a16="http://schemas.microsoft.com/office/drawing/2014/main" id="{88CE1AD2-FCF1-4832-B5B9-7E94591A5145}"/>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05</a:t>
            </a:r>
          </a:p>
        </p:txBody>
      </p:sp>
      <p:sp>
        <p:nvSpPr>
          <p:cNvPr id="5" name="">
            <a:extLst xmlns:a="http://schemas.openxmlformats.org/drawingml/2006/main">
              <a:ext uri="{FF2B5EF4-FFF2-40B4-BE49-F238E27FC236}">
                <a16:creationId xmlns:a16="http://schemas.microsoft.com/office/drawing/2014/main" id="{29636372-C0E4-46FB-81EF-B8CF7DAAE959}"/>
              </a:ext>
            </a:extLst>
          </p:cNvPr>
          <p:cNvSpPr>
            <a:spLocks xmlns:a="http://schemas.openxmlformats.org/drawingml/2006/main" noGrp="1"/>
          </p:cNvSpPr>
          <p:nvPr/>
        </p:nvSpPr>
        <p:spPr>
          <a:xfrm xmlns:a="http://schemas.openxmlformats.org/drawingml/2006/main">
            <a:off x="1038225" y="1802130"/>
            <a:ext cx="5524500" cy="1104900"/>
          </a:xfrm>
          <a:prstGeom xmlns:a="http://schemas.openxmlformats.org/drawingml/2006/main" prst="rect">
            <a:avLst/>
          </a:prstGeom>
          <a:solidFill xmlns:a="http://schemas.openxmlformats.org/drawingml/2006/main">
            <a:srgbClr val="FFFAF0"/>
          </a:solidFill>
          <a:ln xmlns:a="http://schemas.openxmlformats.org/drawingml/2006/main" w="9525">
            <a:solidFill>
              <a:srgbClr val="656566"/>
            </a:solidFill>
            <a:prstDash val="solid"/>
          </a:ln>
        </p:spPr>
      </p:sp>
      <p:sp>
        <p:nvSpPr>
          <p:cNvPr id="6" name="">
            <a:extLst xmlns:a="http://schemas.openxmlformats.org/drawingml/2006/main">
              <a:ext uri="{FF2B5EF4-FFF2-40B4-BE49-F238E27FC236}">
                <a16:creationId xmlns:a16="http://schemas.microsoft.com/office/drawing/2014/main" id="{363279A0-8426-45C0-8334-2243BE6E9BE4}"/>
              </a:ext>
            </a:extLst>
          </p:cNvPr>
          <p:cNvSpPr>
            <a:spLocks xmlns:a="http://schemas.openxmlformats.org/drawingml/2006/main" noGrp="1"/>
          </p:cNvSpPr>
          <p:nvPr/>
        </p:nvSpPr>
        <p:spPr>
          <a:xfrm xmlns:a="http://schemas.openxmlformats.org/drawingml/2006/main">
            <a:off x="1181100" y="1991868"/>
            <a:ext cx="52387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725" b="1">
                <a:solidFill>
                  <a:srgbClr val="352E28"/>
                </a:solidFill>
                <a:latin typeface="Malgun Gothic"/>
                <a:ea typeface="Malgun Gothic"/>
                <a:cs typeface="Malgun Gothic"/>
              </a:defRPr>
            </a:defPPr>
          </a:lstStyle>
          <a:p xmlns:a="http://schemas.openxmlformats.org/drawingml/2006/main">
            <a:pPr algn="ctr">
              <a:defRPr sz="1725" b="1">
                <a:solidFill>
                  <a:srgbClr val="352E28"/>
                </a:solidFill>
                <a:latin typeface="Malgun Gothic"/>
                <a:ea typeface="Malgun Gothic"/>
                <a:cs typeface="Malgun Gothic"/>
              </a:defRPr>
            </a:pPr>
            <a:r>
              <a:rPr sz="1725" b="1">
                <a:solidFill>
                  <a:srgbClr val="352E28"/>
                </a:solidFill>
                <a:latin typeface="Malgun Gothic"/>
                <a:ea typeface="Malgun Gothic"/>
                <a:cs typeface="Malgun Gothic"/>
              </a:rPr>
              <a:t>AS-IS · VMware 원본 환경</a:t>
            </a:r>
          </a:p>
        </p:txBody>
      </p:sp>
      <p:sp>
        <p:nvSpPr>
          <p:cNvPr id="7" name="">
            <a:extLst xmlns:a="http://schemas.openxmlformats.org/drawingml/2006/main">
              <a:ext uri="{FF2B5EF4-FFF2-40B4-BE49-F238E27FC236}">
                <a16:creationId xmlns:a16="http://schemas.microsoft.com/office/drawing/2014/main" id="{9A608912-31AC-4302-9A58-134CA4503E1D}"/>
              </a:ext>
            </a:extLst>
          </p:cNvPr>
          <p:cNvSpPr>
            <a:spLocks xmlns:a="http://schemas.openxmlformats.org/drawingml/2006/main" noGrp="1"/>
          </p:cNvSpPr>
          <p:nvPr/>
        </p:nvSpPr>
        <p:spPr>
          <a:xfrm xmlns:a="http://schemas.openxmlformats.org/drawingml/2006/main">
            <a:off x="1181100" y="2361438"/>
            <a:ext cx="52387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0">
                <a:solidFill>
                  <a:srgbClr val="352E28"/>
                </a:solidFill>
                <a:latin typeface="Malgun Gothic"/>
                <a:ea typeface="Malgun Gothic"/>
                <a:cs typeface="Malgun Gothic"/>
              </a:defRPr>
            </a:defPPr>
          </a:lstStyle>
          <a:p xmlns:a="http://schemas.openxmlformats.org/drawingml/2006/main">
            <a:pPr algn="ctr">
              <a:defRPr sz="1425" b="0">
                <a:solidFill>
                  <a:srgbClr val="352E28"/>
                </a:solidFill>
                <a:latin typeface="Malgun Gothic"/>
                <a:ea typeface="Malgun Gothic"/>
                <a:cs typeface="Malgun Gothic"/>
              </a:defRPr>
            </a:pPr>
            <a:r>
              <a:rPr sz="1425" b="0">
                <a:solidFill>
                  <a:srgbClr val="352E28"/>
                </a:solidFill>
                <a:latin typeface="Malgun Gothic"/>
                <a:ea typeface="Malgun Gothic"/>
                <a:cs typeface="Malgun Gothic"/>
              </a:rPr>
              <a:t>각 망 HV#01 · 원본 데이터스토어 유지</a:t>
            </a:r>
          </a:p>
        </p:txBody>
      </p:sp>
      <p:sp>
        <p:nvSpPr>
          <p:cNvPr id="8" name="">
            <a:extLst xmlns:a="http://schemas.openxmlformats.org/drawingml/2006/main">
              <a:ext uri="{FF2B5EF4-FFF2-40B4-BE49-F238E27FC236}">
                <a16:creationId xmlns:a16="http://schemas.microsoft.com/office/drawing/2014/main" id="{2B708F46-DC1D-4A8C-A65E-53BC0BEB1572}"/>
              </a:ext>
            </a:extLst>
          </p:cNvPr>
          <p:cNvSpPr>
            <a:spLocks xmlns:a="http://schemas.openxmlformats.org/drawingml/2006/main" noGrp="1"/>
          </p:cNvSpPr>
          <p:nvPr/>
        </p:nvSpPr>
        <p:spPr>
          <a:xfrm xmlns:a="http://schemas.openxmlformats.org/drawingml/2006/main">
            <a:off x="8662035" y="1802130"/>
            <a:ext cx="5524500" cy="1104900"/>
          </a:xfrm>
          <a:prstGeom xmlns:a="http://schemas.openxmlformats.org/drawingml/2006/main" prst="rect">
            <a:avLst/>
          </a:prstGeom>
          <a:solidFill xmlns:a="http://schemas.openxmlformats.org/drawingml/2006/main">
            <a:srgbClr val="FFFAF0"/>
          </a:solidFill>
          <a:ln xmlns:a="http://schemas.openxmlformats.org/drawingml/2006/main" w="9525">
            <a:solidFill>
              <a:srgbClr val="89613E"/>
            </a:solidFill>
            <a:prstDash val="solid"/>
          </a:ln>
        </p:spPr>
      </p:sp>
      <p:sp>
        <p:nvSpPr>
          <p:cNvPr id="9" name="">
            <a:extLst xmlns:a="http://schemas.openxmlformats.org/drawingml/2006/main">
              <a:ext uri="{FF2B5EF4-FFF2-40B4-BE49-F238E27FC236}">
                <a16:creationId xmlns:a16="http://schemas.microsoft.com/office/drawing/2014/main" id="{98339AD2-40F7-48AF-B123-FAFA136A50CD}"/>
              </a:ext>
            </a:extLst>
          </p:cNvPr>
          <p:cNvSpPr>
            <a:spLocks xmlns:a="http://schemas.openxmlformats.org/drawingml/2006/main" noGrp="1"/>
          </p:cNvSpPr>
          <p:nvPr/>
        </p:nvSpPr>
        <p:spPr>
          <a:xfrm xmlns:a="http://schemas.openxmlformats.org/drawingml/2006/main">
            <a:off x="8804910" y="1991868"/>
            <a:ext cx="52387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725" b="1">
                <a:solidFill>
                  <a:srgbClr val="352E28"/>
                </a:solidFill>
                <a:latin typeface="Malgun Gothic"/>
                <a:ea typeface="Malgun Gothic"/>
                <a:cs typeface="Malgun Gothic"/>
              </a:defRPr>
            </a:defPPr>
          </a:lstStyle>
          <a:p xmlns:a="http://schemas.openxmlformats.org/drawingml/2006/main">
            <a:pPr algn="ctr">
              <a:defRPr sz="1725" b="1">
                <a:solidFill>
                  <a:srgbClr val="352E28"/>
                </a:solidFill>
                <a:latin typeface="Malgun Gothic"/>
                <a:ea typeface="Malgun Gothic"/>
                <a:cs typeface="Malgun Gothic"/>
              </a:defRPr>
            </a:pPr>
            <a:r>
              <a:rPr sz="1725" b="1">
                <a:solidFill>
                  <a:srgbClr val="352E28"/>
                </a:solidFill>
                <a:latin typeface="Malgun Gothic"/>
                <a:ea typeface="Malgun Gothic"/>
                <a:cs typeface="Malgun Gothic"/>
              </a:rPr>
              <a:t>TO-BE · OpenShift 대상 환경</a:t>
            </a:r>
          </a:p>
        </p:txBody>
      </p:sp>
      <p:sp>
        <p:nvSpPr>
          <p:cNvPr id="10" name="">
            <a:extLst xmlns:a="http://schemas.openxmlformats.org/drawingml/2006/main">
              <a:ext uri="{FF2B5EF4-FFF2-40B4-BE49-F238E27FC236}">
                <a16:creationId xmlns:a16="http://schemas.microsoft.com/office/drawing/2014/main" id="{44841290-C2BE-4CB4-93AC-9948D4A1F521}"/>
              </a:ext>
            </a:extLst>
          </p:cNvPr>
          <p:cNvSpPr>
            <a:spLocks xmlns:a="http://schemas.openxmlformats.org/drawingml/2006/main" noGrp="1"/>
          </p:cNvSpPr>
          <p:nvPr/>
        </p:nvSpPr>
        <p:spPr>
          <a:xfrm xmlns:a="http://schemas.openxmlformats.org/drawingml/2006/main">
            <a:off x="8804910" y="2361438"/>
            <a:ext cx="52387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0">
                <a:solidFill>
                  <a:srgbClr val="352E28"/>
                </a:solidFill>
                <a:latin typeface="Malgun Gothic"/>
                <a:ea typeface="Malgun Gothic"/>
                <a:cs typeface="Malgun Gothic"/>
              </a:defRPr>
            </a:defPPr>
          </a:lstStyle>
          <a:p xmlns:a="http://schemas.openxmlformats.org/drawingml/2006/main">
            <a:pPr algn="ctr">
              <a:defRPr sz="1425" b="0">
                <a:solidFill>
                  <a:srgbClr val="352E28"/>
                </a:solidFill>
                <a:latin typeface="Malgun Gothic"/>
                <a:ea typeface="Malgun Gothic"/>
                <a:cs typeface="Malgun Gothic"/>
              </a:defRPr>
            </a:pPr>
            <a:r>
              <a:rPr sz="1425" b="0">
                <a:solidFill>
                  <a:srgbClr val="352E28"/>
                </a:solidFill>
                <a:latin typeface="Malgun Gothic"/>
                <a:ea typeface="Malgun Gothic"/>
                <a:cs typeface="Malgun Gothic"/>
              </a:rPr>
              <a:t>EMC CSI 드라이버 · StorageClass · PVC/PV</a:t>
            </a:r>
          </a:p>
        </p:txBody>
      </p:sp>
      <p:sp>
        <p:nvSpPr>
          <p:cNvPr id="11" name="">
            <a:extLst xmlns:a="http://schemas.openxmlformats.org/drawingml/2006/main">
              <a:ext uri="{FF2B5EF4-FFF2-40B4-BE49-F238E27FC236}">
                <a16:creationId xmlns:a16="http://schemas.microsoft.com/office/drawing/2014/main" id="{7AE2C539-6F5B-4BEE-A9E5-77475A7918F6}"/>
              </a:ext>
            </a:extLst>
          </p:cNvPr>
          <p:cNvSpPr>
            <a:spLocks xmlns:a="http://schemas.openxmlformats.org/drawingml/2006/main" noGrp="1"/>
          </p:cNvSpPr>
          <p:nvPr/>
        </p:nvSpPr>
        <p:spPr>
          <a:xfrm xmlns:a="http://schemas.openxmlformats.org/drawingml/2006/main">
            <a:off x="3800475" y="2907030"/>
            <a:ext cx="19050" cy="1403223"/>
          </a:xfrm>
          <a:prstGeom xmlns:a="http://schemas.openxmlformats.org/drawingml/2006/main" prst="rect">
            <a:avLst/>
          </a:prstGeom>
          <a:solidFill xmlns:a="http://schemas.openxmlformats.org/drawingml/2006/main">
            <a:srgbClr val="465B7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A11CEE8-AFC6-44A1-AC71-CCC440FEB892}"/>
              </a:ext>
            </a:extLst>
          </p:cNvPr>
          <p:cNvSpPr>
            <a:spLocks xmlns:a="http://schemas.openxmlformats.org/drawingml/2006/main" noGrp="1"/>
          </p:cNvSpPr>
          <p:nvPr/>
        </p:nvSpPr>
        <p:spPr>
          <a:xfrm xmlns:a="http://schemas.openxmlformats.org/drawingml/2006/main">
            <a:off x="3966210" y="3123819"/>
            <a:ext cx="7429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0">
                <a:solidFill>
                  <a:srgbClr val="352E28"/>
                </a:solidFill>
                <a:latin typeface="Malgun Gothic"/>
                <a:ea typeface="Malgun Gothic"/>
                <a:cs typeface="Malgun Gothic"/>
              </a:defRPr>
            </a:defPPr>
          </a:lstStyle>
          <a:p xmlns:a="http://schemas.openxmlformats.org/drawingml/2006/main">
            <a:pPr algn="l">
              <a:defRPr sz="1425" b="0">
                <a:solidFill>
                  <a:srgbClr val="352E28"/>
                </a:solidFill>
                <a:latin typeface="Malgun Gothic"/>
                <a:ea typeface="Malgun Gothic"/>
                <a:cs typeface="Malgun Gothic"/>
              </a:defRPr>
            </a:pPr>
            <a:r>
              <a:rPr sz="1425" b="0">
                <a:solidFill>
                  <a:srgbClr val="352E28"/>
                </a:solidFill>
                <a:latin typeface="Malgun Gothic"/>
                <a:ea typeface="Malgun Gothic"/>
                <a:cs typeface="Malgun Gothic"/>
              </a:rPr>
              <a:t>FC 연결 / LUN 할당</a:t>
            </a:r>
          </a:p>
        </p:txBody>
      </p:sp>
      <p:sp>
        <p:nvSpPr>
          <p:cNvPr id="13" name="">
            <a:extLst xmlns:a="http://schemas.openxmlformats.org/drawingml/2006/main">
              <a:ext uri="{FF2B5EF4-FFF2-40B4-BE49-F238E27FC236}">
                <a16:creationId xmlns:a16="http://schemas.microsoft.com/office/drawing/2014/main" id="{1E40E582-EA25-45A7-B525-8EF7D0F91E2C}"/>
              </a:ext>
            </a:extLst>
          </p:cNvPr>
          <p:cNvSpPr>
            <a:spLocks xmlns:a="http://schemas.openxmlformats.org/drawingml/2006/main" noGrp="1"/>
          </p:cNvSpPr>
          <p:nvPr/>
        </p:nvSpPr>
        <p:spPr>
          <a:xfrm xmlns:a="http://schemas.openxmlformats.org/drawingml/2006/main">
            <a:off x="11424285" y="2907030"/>
            <a:ext cx="19050" cy="1403223"/>
          </a:xfrm>
          <a:prstGeom xmlns:a="http://schemas.openxmlformats.org/drawingml/2006/main" prst="rect">
            <a:avLst/>
          </a:prstGeom>
          <a:solidFill xmlns:a="http://schemas.openxmlformats.org/drawingml/2006/main">
            <a:srgbClr val="176C5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1E1E0A4-E9CE-42DA-B2AC-B24FB1FB05B9}"/>
              </a:ext>
            </a:extLst>
          </p:cNvPr>
          <p:cNvSpPr>
            <a:spLocks xmlns:a="http://schemas.openxmlformats.org/drawingml/2006/main" noGrp="1"/>
          </p:cNvSpPr>
          <p:nvPr/>
        </p:nvSpPr>
        <p:spPr>
          <a:xfrm xmlns:a="http://schemas.openxmlformats.org/drawingml/2006/main">
            <a:off x="8938260" y="3090672"/>
            <a:ext cx="5524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0">
                <a:solidFill>
                  <a:srgbClr val="352E28"/>
                </a:solidFill>
                <a:latin typeface="Malgun Gothic"/>
                <a:ea typeface="Malgun Gothic"/>
                <a:cs typeface="Malgun Gothic"/>
              </a:defRPr>
            </a:defPPr>
          </a:lstStyle>
          <a:p xmlns:a="http://schemas.openxmlformats.org/drawingml/2006/main">
            <a:pPr algn="l">
              <a:defRPr sz="1425" b="0">
                <a:solidFill>
                  <a:srgbClr val="352E28"/>
                </a:solidFill>
                <a:latin typeface="Malgun Gothic"/>
                <a:ea typeface="Malgun Gothic"/>
                <a:cs typeface="Malgun Gothic"/>
              </a:defRPr>
            </a:pPr>
            <a:r>
              <a:rPr sz="1425" b="0">
                <a:solidFill>
                  <a:srgbClr val="352E28"/>
                </a:solidFill>
                <a:latin typeface="Malgun Gothic"/>
                <a:ea typeface="Malgun Gothic"/>
                <a:cs typeface="Malgun Gothic"/>
              </a:rPr>
              <a:t>CSI를 통한 볼륨 할당</a:t>
            </a:r>
          </a:p>
        </p:txBody>
      </p:sp>
      <p:sp>
        <p:nvSpPr>
          <p:cNvPr id="15" name="">
            <a:extLst xmlns:a="http://schemas.openxmlformats.org/drawingml/2006/main">
              <a:ext uri="{FF2B5EF4-FFF2-40B4-BE49-F238E27FC236}">
                <a16:creationId xmlns:a16="http://schemas.microsoft.com/office/drawing/2014/main" id="{983BBC80-5BA8-42FA-B933-B0B5D976FC9D}"/>
              </a:ext>
            </a:extLst>
          </p:cNvPr>
          <p:cNvSpPr>
            <a:spLocks xmlns:a="http://schemas.openxmlformats.org/drawingml/2006/main" noGrp="1"/>
          </p:cNvSpPr>
          <p:nvPr/>
        </p:nvSpPr>
        <p:spPr>
          <a:xfrm xmlns:a="http://schemas.openxmlformats.org/drawingml/2006/main">
            <a:off x="8938260" y="3406521"/>
            <a:ext cx="55245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352E28"/>
                </a:solidFill>
                <a:latin typeface="Malgun Gothic"/>
                <a:ea typeface="Malgun Gothic"/>
                <a:cs typeface="Malgun Gothic"/>
              </a:defRPr>
            </a:defPPr>
          </a:lstStyle>
          <a:p xmlns:a="http://schemas.openxmlformats.org/drawingml/2006/main">
            <a:pPr algn="l">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논리적 할당 관계 / 실제 연결 프로토콜 미확정</a:t>
            </a:r>
          </a:p>
        </p:txBody>
      </p:sp>
      <p:sp>
        <p:nvSpPr>
          <p:cNvPr id="16" name="">
            <a:extLst xmlns:a="http://schemas.openxmlformats.org/drawingml/2006/main">
              <a:ext uri="{FF2B5EF4-FFF2-40B4-BE49-F238E27FC236}">
                <a16:creationId xmlns:a16="http://schemas.microsoft.com/office/drawing/2014/main" id="{EE221945-3AA1-460B-BD3D-C79924B4C762}"/>
              </a:ext>
            </a:extLst>
          </p:cNvPr>
          <p:cNvSpPr>
            <a:spLocks xmlns:a="http://schemas.openxmlformats.org/drawingml/2006/main" noGrp="1"/>
          </p:cNvSpPr>
          <p:nvPr/>
        </p:nvSpPr>
        <p:spPr>
          <a:xfrm xmlns:a="http://schemas.openxmlformats.org/drawingml/2006/main">
            <a:off x="1038225" y="3901440"/>
            <a:ext cx="13148310" cy="2265045"/>
          </a:xfrm>
          <a:prstGeom xmlns:a="http://schemas.openxmlformats.org/drawingml/2006/main" prst="rect">
            <a:avLst/>
          </a:prstGeom>
          <a:solidFill xmlns:a="http://schemas.openxmlformats.org/drawingml/2006/main">
            <a:srgbClr val="FFFAF0"/>
          </a:solidFill>
          <a:ln xmlns:a="http://schemas.openxmlformats.org/drawingml/2006/main" w="9525">
            <a:solidFill>
              <a:srgbClr val="C9BAA4"/>
            </a:solidFill>
            <a:prstDash val="solid"/>
          </a:ln>
        </p:spPr>
      </p:sp>
      <p:sp>
        <p:nvSpPr>
          <p:cNvPr id="17" name="">
            <a:extLst xmlns:a="http://schemas.openxmlformats.org/drawingml/2006/main">
              <a:ext uri="{FF2B5EF4-FFF2-40B4-BE49-F238E27FC236}">
                <a16:creationId xmlns:a16="http://schemas.microsoft.com/office/drawing/2014/main" id="{5248CC0B-0C74-49B4-A0D1-E9DAC1336D82}"/>
              </a:ext>
            </a:extLst>
          </p:cNvPr>
          <p:cNvSpPr>
            <a:spLocks xmlns:a="http://schemas.openxmlformats.org/drawingml/2006/main" noGrp="1"/>
          </p:cNvSpPr>
          <p:nvPr/>
        </p:nvSpPr>
        <p:spPr>
          <a:xfrm xmlns:a="http://schemas.openxmlformats.org/drawingml/2006/main">
            <a:off x="1659255" y="3980688"/>
            <a:ext cx="119062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725" b="1">
                <a:solidFill>
                  <a:srgbClr val="352E28"/>
                </a:solidFill>
                <a:latin typeface="Malgun Gothic"/>
                <a:ea typeface="Malgun Gothic"/>
                <a:cs typeface="Malgun Gothic"/>
              </a:defRPr>
            </a:defPPr>
          </a:lstStyle>
          <a:p xmlns:a="http://schemas.openxmlformats.org/drawingml/2006/main">
            <a:pPr algn="ctr">
              <a:defRPr sz="1725" b="1">
                <a:solidFill>
                  <a:srgbClr val="352E28"/>
                </a:solidFill>
                <a:latin typeface="Malgun Gothic"/>
                <a:ea typeface="Malgun Gothic"/>
                <a:cs typeface="Malgun Gothic"/>
              </a:defRPr>
            </a:pPr>
            <a:r>
              <a:rPr sz="1725" b="1">
                <a:solidFill>
                  <a:srgbClr val="352E28"/>
                </a:solidFill>
                <a:latin typeface="Malgun Gothic"/>
                <a:ea typeface="Malgun Gothic"/>
                <a:cs typeface="Malgun Gothic"/>
              </a:rPr>
              <a:t>동일 EMC 스토리지 · 원본 유지분 + MTV 대상 볼륨 동시 확보</a:t>
            </a:r>
          </a:p>
        </p:txBody>
      </p:sp>
      <p:sp>
        <p:nvSpPr>
          <p:cNvPr id="18" name="">
            <a:extLst xmlns:a="http://schemas.openxmlformats.org/drawingml/2006/main">
              <a:ext uri="{FF2B5EF4-FFF2-40B4-BE49-F238E27FC236}">
                <a16:creationId xmlns:a16="http://schemas.microsoft.com/office/drawing/2014/main" id="{F6EE74B2-0B25-4A65-8A0C-5E4CFC974E0B}"/>
              </a:ext>
            </a:extLst>
          </p:cNvPr>
          <p:cNvSpPr>
            <a:spLocks xmlns:a="http://schemas.openxmlformats.org/drawingml/2006/main" noGrp="1"/>
          </p:cNvSpPr>
          <p:nvPr/>
        </p:nvSpPr>
        <p:spPr>
          <a:xfrm xmlns:a="http://schemas.openxmlformats.org/drawingml/2006/main">
            <a:off x="1424940" y="4398645"/>
            <a:ext cx="5137785" cy="1104900"/>
          </a:xfrm>
          <a:prstGeom xmlns:a="http://schemas.openxmlformats.org/drawingml/2006/main" prst="rect">
            <a:avLst/>
          </a:prstGeom>
          <a:solidFill xmlns:a="http://schemas.openxmlformats.org/drawingml/2006/main">
            <a:srgbClr val="FFFAF0"/>
          </a:solidFill>
          <a:ln xmlns:a="http://schemas.openxmlformats.org/drawingml/2006/main" w="9525">
            <a:solidFill>
              <a:srgbClr val="656566"/>
            </a:solidFill>
            <a:prstDash val="solid"/>
          </a:ln>
        </p:spPr>
      </p:sp>
      <p:sp>
        <p:nvSpPr>
          <p:cNvPr id="19" name="">
            <a:extLst xmlns:a="http://schemas.openxmlformats.org/drawingml/2006/main">
              <a:ext uri="{FF2B5EF4-FFF2-40B4-BE49-F238E27FC236}">
                <a16:creationId xmlns:a16="http://schemas.microsoft.com/office/drawing/2014/main" id="{C9EE9817-4471-48AA-96AE-089600375CFA}"/>
              </a:ext>
            </a:extLst>
          </p:cNvPr>
          <p:cNvSpPr>
            <a:spLocks xmlns:a="http://schemas.openxmlformats.org/drawingml/2006/main" noGrp="1"/>
          </p:cNvSpPr>
          <p:nvPr/>
        </p:nvSpPr>
        <p:spPr>
          <a:xfrm xmlns:a="http://schemas.openxmlformats.org/drawingml/2006/main">
            <a:off x="1368933" y="4599432"/>
            <a:ext cx="52387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725" b="1">
                <a:solidFill>
                  <a:srgbClr val="352E28"/>
                </a:solidFill>
                <a:latin typeface="Malgun Gothic"/>
                <a:ea typeface="Malgun Gothic"/>
                <a:cs typeface="Malgun Gothic"/>
              </a:defRPr>
            </a:defPPr>
          </a:lstStyle>
          <a:p xmlns:a="http://schemas.openxmlformats.org/drawingml/2006/main">
            <a:pPr algn="ctr">
              <a:defRPr sz="1725" b="1">
                <a:solidFill>
                  <a:srgbClr val="352E28"/>
                </a:solidFill>
                <a:latin typeface="Malgun Gothic"/>
                <a:ea typeface="Malgun Gothic"/>
                <a:cs typeface="Malgun Gothic"/>
              </a:defRPr>
            </a:pPr>
            <a:r>
              <a:rPr sz="1725" b="1">
                <a:solidFill>
                  <a:srgbClr val="352E28"/>
                </a:solidFill>
                <a:latin typeface="Malgun Gothic"/>
                <a:ea typeface="Malgun Gothic"/>
                <a:cs typeface="Malgun Gothic"/>
              </a:rPr>
              <a:t>기존 FC LUN / VMFS 데이터스토어</a:t>
            </a:r>
          </a:p>
        </p:txBody>
      </p:sp>
      <p:sp>
        <p:nvSpPr>
          <p:cNvPr id="20" name="">
            <a:extLst xmlns:a="http://schemas.openxmlformats.org/drawingml/2006/main">
              <a:ext uri="{FF2B5EF4-FFF2-40B4-BE49-F238E27FC236}">
                <a16:creationId xmlns:a16="http://schemas.microsoft.com/office/drawing/2014/main" id="{C3020048-088D-45B3-B7DD-04EEDD7FDBB9}"/>
              </a:ext>
            </a:extLst>
          </p:cNvPr>
          <p:cNvSpPr>
            <a:spLocks xmlns:a="http://schemas.openxmlformats.org/drawingml/2006/main" noGrp="1"/>
          </p:cNvSpPr>
          <p:nvPr/>
        </p:nvSpPr>
        <p:spPr>
          <a:xfrm xmlns:a="http://schemas.openxmlformats.org/drawingml/2006/main">
            <a:off x="1368933" y="4980051"/>
            <a:ext cx="52387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0">
                <a:solidFill>
                  <a:srgbClr val="352E28"/>
                </a:solidFill>
                <a:latin typeface="Malgun Gothic"/>
                <a:ea typeface="Malgun Gothic"/>
                <a:cs typeface="Malgun Gothic"/>
              </a:defRPr>
            </a:defPPr>
          </a:lstStyle>
          <a:p xmlns:a="http://schemas.openxmlformats.org/drawingml/2006/main">
            <a:pPr algn="ctr">
              <a:defRPr sz="1425" b="0">
                <a:solidFill>
                  <a:srgbClr val="352E28"/>
                </a:solidFill>
                <a:latin typeface="Malgun Gothic"/>
                <a:ea typeface="Malgun Gothic"/>
                <a:cs typeface="Malgun Gothic"/>
              </a:defRPr>
            </a:pPr>
            <a:r>
              <a:rPr sz="1425" b="0">
                <a:solidFill>
                  <a:srgbClr val="352E28"/>
                </a:solidFill>
                <a:latin typeface="Malgun Gothic"/>
                <a:ea typeface="Malgun Gothic"/>
                <a:cs typeface="Malgun Gothic"/>
              </a:rPr>
              <a:t>MTV 이관 및 원본 보관 기준 충족 시까지 유지</a:t>
            </a:r>
          </a:p>
        </p:txBody>
      </p:sp>
      <p:sp>
        <p:nvSpPr>
          <p:cNvPr id="21" name="">
            <a:extLst xmlns:a="http://schemas.openxmlformats.org/drawingml/2006/main">
              <a:ext uri="{FF2B5EF4-FFF2-40B4-BE49-F238E27FC236}">
                <a16:creationId xmlns:a16="http://schemas.microsoft.com/office/drawing/2014/main" id="{E4E856E3-B547-440B-8932-5110F2E4825B}"/>
              </a:ext>
            </a:extLst>
          </p:cNvPr>
          <p:cNvSpPr>
            <a:spLocks xmlns:a="http://schemas.openxmlformats.org/drawingml/2006/main" noGrp="1"/>
          </p:cNvSpPr>
          <p:nvPr/>
        </p:nvSpPr>
        <p:spPr>
          <a:xfrm xmlns:a="http://schemas.openxmlformats.org/drawingml/2006/main">
            <a:off x="8662035" y="4398645"/>
            <a:ext cx="5137785" cy="1104900"/>
          </a:xfrm>
          <a:prstGeom xmlns:a="http://schemas.openxmlformats.org/drawingml/2006/main" prst="rect">
            <a:avLst/>
          </a:prstGeom>
          <a:solidFill xmlns:a="http://schemas.openxmlformats.org/drawingml/2006/main">
            <a:srgbClr val="FFFAF0"/>
          </a:solidFill>
          <a:ln xmlns:a="http://schemas.openxmlformats.org/drawingml/2006/main" w="9525">
            <a:solidFill>
              <a:srgbClr val="89613E"/>
            </a:solidFill>
            <a:prstDash val="solid"/>
          </a:ln>
        </p:spPr>
      </p:sp>
      <p:sp>
        <p:nvSpPr>
          <p:cNvPr id="22" name="">
            <a:extLst xmlns:a="http://schemas.openxmlformats.org/drawingml/2006/main">
              <a:ext uri="{FF2B5EF4-FFF2-40B4-BE49-F238E27FC236}">
                <a16:creationId xmlns:a16="http://schemas.microsoft.com/office/drawing/2014/main" id="{6083BB77-3E22-4C6F-9FE1-EB4403C23C1E}"/>
              </a:ext>
            </a:extLst>
          </p:cNvPr>
          <p:cNvSpPr>
            <a:spLocks xmlns:a="http://schemas.openxmlformats.org/drawingml/2006/main" noGrp="1"/>
          </p:cNvSpPr>
          <p:nvPr/>
        </p:nvSpPr>
        <p:spPr>
          <a:xfrm xmlns:a="http://schemas.openxmlformats.org/drawingml/2006/main">
            <a:off x="8606028" y="4599432"/>
            <a:ext cx="52387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725" b="1">
                <a:solidFill>
                  <a:srgbClr val="352E28"/>
                </a:solidFill>
                <a:latin typeface="Malgun Gothic"/>
                <a:ea typeface="Malgun Gothic"/>
                <a:cs typeface="Malgun Gothic"/>
              </a:defRPr>
            </a:defPPr>
          </a:lstStyle>
          <a:p xmlns:a="http://schemas.openxmlformats.org/drawingml/2006/main">
            <a:pPr algn="ctr">
              <a:defRPr sz="1725" b="1">
                <a:solidFill>
                  <a:srgbClr val="352E28"/>
                </a:solidFill>
                <a:latin typeface="Malgun Gothic"/>
                <a:ea typeface="Malgun Gothic"/>
                <a:cs typeface="Malgun Gothic"/>
              </a:defRPr>
            </a:pPr>
            <a:r>
              <a:rPr sz="1725" b="1">
                <a:solidFill>
                  <a:srgbClr val="352E28"/>
                </a:solidFill>
                <a:latin typeface="Malgun Gothic"/>
                <a:ea typeface="Malgun Gothic"/>
                <a:cs typeface="Malgun Gothic"/>
              </a:rPr>
              <a:t>CSI 할당 대상 볼륨 / MTV 이관 공간</a:t>
            </a:r>
          </a:p>
        </p:txBody>
      </p:sp>
      <p:sp>
        <p:nvSpPr>
          <p:cNvPr id="23" name="">
            <a:extLst xmlns:a="http://schemas.openxmlformats.org/drawingml/2006/main">
              <a:ext uri="{FF2B5EF4-FFF2-40B4-BE49-F238E27FC236}">
                <a16:creationId xmlns:a16="http://schemas.microsoft.com/office/drawing/2014/main" id="{A49C528E-15FA-403F-9991-FD68A031F478}"/>
              </a:ext>
            </a:extLst>
          </p:cNvPr>
          <p:cNvSpPr>
            <a:spLocks xmlns:a="http://schemas.openxmlformats.org/drawingml/2006/main" noGrp="1"/>
          </p:cNvSpPr>
          <p:nvPr/>
        </p:nvSpPr>
        <p:spPr>
          <a:xfrm xmlns:a="http://schemas.openxmlformats.org/drawingml/2006/main">
            <a:off x="8606028" y="4980051"/>
            <a:ext cx="52387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425" b="0">
                <a:solidFill>
                  <a:srgbClr val="352E28"/>
                </a:solidFill>
                <a:latin typeface="Malgun Gothic"/>
                <a:ea typeface="Malgun Gothic"/>
                <a:cs typeface="Malgun Gothic"/>
              </a:defRPr>
            </a:defPPr>
          </a:lstStyle>
          <a:p xmlns:a="http://schemas.openxmlformats.org/drawingml/2006/main">
            <a:pPr algn="ctr">
              <a:defRPr sz="1425" b="0">
                <a:solidFill>
                  <a:srgbClr val="352E28"/>
                </a:solidFill>
                <a:latin typeface="Malgun Gothic"/>
                <a:ea typeface="Malgun Gothic"/>
                <a:cs typeface="Malgun Gothic"/>
              </a:defRPr>
            </a:pPr>
            <a:r>
              <a:rPr sz="1425" b="0">
                <a:solidFill>
                  <a:srgbClr val="352E28"/>
                </a:solidFill>
                <a:latin typeface="Malgun Gothic"/>
                <a:ea typeface="Malgun Gothic"/>
                <a:cs typeface="Malgun Gothic"/>
              </a:rPr>
              <a:t>원본과 별도 확보 · 대상 VM 디스크 저장</a:t>
            </a:r>
          </a:p>
        </p:txBody>
      </p:sp>
      <p:sp>
        <p:nvSpPr>
          <p:cNvPr id="24" name="">
            <a:extLst xmlns:a="http://schemas.openxmlformats.org/drawingml/2006/main">
              <a:ext uri="{FF2B5EF4-FFF2-40B4-BE49-F238E27FC236}">
                <a16:creationId xmlns:a16="http://schemas.microsoft.com/office/drawing/2014/main" id="{320D7823-76EF-4D96-AA3B-2F8E81294401}"/>
              </a:ext>
            </a:extLst>
          </p:cNvPr>
          <p:cNvSpPr>
            <a:spLocks xmlns:a="http://schemas.openxmlformats.org/drawingml/2006/main" noGrp="1"/>
          </p:cNvSpPr>
          <p:nvPr/>
        </p:nvSpPr>
        <p:spPr>
          <a:xfrm xmlns:a="http://schemas.openxmlformats.org/drawingml/2006/main">
            <a:off x="1659255" y="4755642"/>
            <a:ext cx="11906250" cy="33147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800" b="1">
                <a:solidFill>
                  <a:srgbClr val="352E28"/>
                </a:solidFill>
                <a:latin typeface="Malgun Gothic"/>
                <a:ea typeface="Malgun Gothic"/>
                <a:cs typeface="Malgun Gothic"/>
              </a:defRPr>
            </a:defPPr>
          </a:lstStyle>
          <a:p xmlns:a="http://schemas.openxmlformats.org/drawingml/2006/main">
            <a:pPr algn="ctr">
              <a:defRPr sz="1800" b="1">
                <a:solidFill>
                  <a:srgbClr val="352E28"/>
                </a:solidFill>
                <a:latin typeface="Malgun Gothic"/>
                <a:ea typeface="Malgun Gothic"/>
                <a:cs typeface="Malgun Gothic"/>
              </a:defRPr>
            </a:pPr>
            <a:r>
              <a:rPr sz="1800" b="1">
                <a:solidFill>
                  <a:srgbClr val="352E28"/>
                </a:solidFill>
                <a:latin typeface="Malgun Gothic"/>
                <a:ea typeface="Malgun Gothic"/>
                <a:cs typeface="Malgun Gothic"/>
              </a:rPr>
              <a:t>+</a:t>
            </a:r>
          </a:p>
        </p:txBody>
      </p:sp>
      <p:sp>
        <p:nvSpPr>
          <p:cNvPr id="25" name="">
            <a:extLst xmlns:a="http://schemas.openxmlformats.org/drawingml/2006/main">
              <a:ext uri="{FF2B5EF4-FFF2-40B4-BE49-F238E27FC236}">
                <a16:creationId xmlns:a16="http://schemas.microsoft.com/office/drawing/2014/main" id="{952031A2-689C-4D46-A409-618717642AF8}"/>
              </a:ext>
            </a:extLst>
          </p:cNvPr>
          <p:cNvSpPr>
            <a:spLocks xmlns:a="http://schemas.openxmlformats.org/drawingml/2006/main" noGrp="1"/>
          </p:cNvSpPr>
          <p:nvPr/>
        </p:nvSpPr>
        <p:spPr>
          <a:xfrm xmlns:a="http://schemas.openxmlformats.org/drawingml/2006/main">
            <a:off x="1659255" y="5726811"/>
            <a:ext cx="11906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00" b="0">
                <a:solidFill>
                  <a:srgbClr val="352E28"/>
                </a:solidFill>
                <a:latin typeface="Malgun Gothic"/>
                <a:ea typeface="Malgun Gothic"/>
                <a:cs typeface="Malgun Gothic"/>
              </a:defRPr>
            </a:defPPr>
          </a:lstStyle>
          <a:p xmlns:a="http://schemas.openxmlformats.org/drawingml/2006/main">
            <a:pPr algn="ctr">
              <a:defRPr sz="1200" b="0">
                <a:solidFill>
                  <a:srgbClr val="352E28"/>
                </a:solidFill>
                <a:latin typeface="Malgun Gothic"/>
                <a:ea typeface="Malgun Gothic"/>
                <a:cs typeface="Malgun Gothic"/>
              </a:defRPr>
            </a:pPr>
            <a:r>
              <a:rPr sz="1200" b="0">
                <a:solidFill>
                  <a:srgbClr val="352E28"/>
                </a:solidFill>
                <a:latin typeface="Malgun Gothic"/>
                <a:ea typeface="Malgun Gothic"/>
                <a:cs typeface="Malgun Gothic"/>
              </a:rPr>
              <a:t>동일 장비 사용 계획이며 동일 풀 사용을 확정한 것은 아닙니다. 망별 풀·여유 용량을 확인합니다.</a:t>
            </a:r>
          </a:p>
        </p:txBody>
      </p:sp>
    </p:spTree>
    <p:extLst>
      <p:ext uri="{BB962C8B-B14F-4D97-AF65-F5344CB8AC3E}">
        <p14:creationId xmlns:p14="http://schemas.microsoft.com/office/powerpoint/2010/main" val="1790872656"/>
      </p:ext>
    </p:extLst>
  </p:cSld>
</p:sld>
</file>

<file path=ppt/slides/slide6.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18DC9F9-6E04-4406-908D-4A326728DB13}"/>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추진 개요 (1/2)</a:t>
            </a:r>
          </a:p>
        </p:txBody>
      </p:sp>
      <p:sp>
        <p:nvSpPr>
          <p:cNvPr id="2" name="">
            <a:extLst xmlns:a="http://schemas.openxmlformats.org/drawingml/2006/main">
              <a:ext uri="{FF2B5EF4-FFF2-40B4-BE49-F238E27FC236}">
                <a16:creationId xmlns:a16="http://schemas.microsoft.com/office/drawing/2014/main" id="{8B5176DE-76BB-435C-A428-B1DE23C955DF}"/>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3" name="">
            <a:extLst xmlns:a="http://schemas.openxmlformats.org/drawingml/2006/main">
              <a:ext uri="{FF2B5EF4-FFF2-40B4-BE49-F238E27FC236}">
                <a16:creationId xmlns:a16="http://schemas.microsoft.com/office/drawing/2014/main" id="{C7AFDEF7-936F-4C49-A14D-5558BE40994C}"/>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06</a:t>
            </a:r>
          </a:p>
        </p:txBody>
      </p:sp>
      <p:graphicFrame>
        <p:nvGraphicFramePr>
          <p:cNvPr id="4" name="">
            <a:extLst xmlns:a="http://schemas.openxmlformats.org/drawingml/2006/main">
              <a:ext uri="{FF2B5EF4-FFF2-40B4-BE49-F238E27FC236}">
                <a16:creationId xmlns:a16="http://schemas.microsoft.com/office/drawing/2014/main" id="{A85AAB5F-08A8-4225-BA34-AEAAF71DD3DD}"/>
              </a:ext>
            </a:extLst>
          </p:cNvPr>
          <p:cNvGraphicFramePr/>
          <p:nvPr/>
        </p:nvGraphicFramePr>
        <p:xfrm>
          <a:off xmlns:a="http://schemas.openxmlformats.org/drawingml/2006/main" x="609600" y="1809750"/>
          <a:ext xmlns:a="http://schemas.openxmlformats.org/drawingml/2006/main" cx="14020800" cy="5334000"/>
        </p:xfrm>
        <a:graphic xmlns:a="http://schemas.openxmlformats.org/drawingml/2006/main">
          <a:graphicData uri="http://schemas.openxmlformats.org/drawingml/2006/table">
            <a:tbl>
              <a:tblPr/>
              <a:tblGrid>
                <a:gridCol w="3048000"/>
                <a:gridCol w="10972800"/>
              </a:tblGrid>
              <a:tr h="552450">
                <a:tc>
                  <a:txBody>
                    <a:bodyPr lIns="114300" tIns="114300" rIns="114300" bIns="114300"/>
                    <a:lstStyle/>
                    <a:p>
                      <a:r>
                        <a:rPr sz="1800" b="1">
                          <a:solidFill>
                            <a:srgbClr val="352E28"/>
                          </a:solidFill>
                          <a:latin typeface="Malgun Gothic"/>
                          <a:ea typeface="Malgun Gothic"/>
                          <a:cs typeface="Malgun Gothic"/>
                        </a:rPr>
                        <a:t>구분</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계획 기준</a:t>
                      </a:r>
                    </a:p>
                  </a:txBody>
                  <a:tcPr marL="91440" marR="91440" marT="45720" marB="45720" anchor="ctr">
                    <a:solidFill>
                      <a:srgbClr val="E9DCC5"/>
                    </a:solidFill>
                  </a:tcPr>
                </a:tc>
              </a:tr>
              <a:tr h="1593850">
                <a:tc>
                  <a:txBody>
                    <a:bodyPr lIns="114300" tIns="114300" rIns="114300" bIns="114300"/>
                    <a:lstStyle/>
                    <a:p>
                      <a:r>
                        <a:rPr sz="1800" b="0">
                          <a:solidFill>
                            <a:srgbClr val="352E28"/>
                          </a:solidFill>
                          <a:latin typeface="Malgun Gothic"/>
                          <a:ea typeface="Malgun Gothic"/>
                          <a:cs typeface="Malgun Gothic"/>
                        </a:rPr>
                        <a:t>대상 환경</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외부망·내부망 VMware 대상 환경을 구분하여 구축 및 이관합니다. DB 레거시 풀은 재구성 대상에서 제외합니다.</a:t>
                      </a:r>
                    </a:p>
                  </a:txBody>
                  <a:tcPr marL="91440" marR="91440" marT="45720" marB="45720" anchor="ctr">
                    <a:solidFill>
                      <a:srgbClr val="FFFAF0"/>
                    </a:solidFill>
                  </a:tcPr>
                </a:tc>
              </a:tr>
              <a:tr h="1593850">
                <a:tc>
                  <a:txBody>
                    <a:bodyPr lIns="114300" tIns="114300" rIns="114300" bIns="114300"/>
                    <a:lstStyle/>
                    <a:p>
                      <a:r>
                        <a:rPr sz="1800" b="0">
                          <a:solidFill>
                            <a:srgbClr val="352E28"/>
                          </a:solidFill>
                          <a:latin typeface="Malgun Gothic"/>
                          <a:ea typeface="Malgun Gothic"/>
                          <a:cs typeface="Malgun Gothic"/>
                        </a:rPr>
                        <a:t>설치 방식</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폐쇄망 UPI 수동 설치입니다. Bastion에서 설치 도구·Ignition 파일을 준비하고 별도 Bootstrap 서버를 사용하며, 내부 미러 레지스트리를 구축·연동합니다.</a:t>
                      </a:r>
                    </a:p>
                  </a:txBody>
                  <a:tcPr marL="91440" marR="91440" marT="45720" marB="45720" anchor="ctr">
                    <a:solidFill>
                      <a:srgbClr val="F7F0E4"/>
                    </a:solidFill>
                  </a:tcPr>
                </a:tc>
              </a:tr>
              <a:tr h="1593850">
                <a:tc>
                  <a:txBody>
                    <a:bodyPr lIns="114300" tIns="114300" rIns="114300" bIns="114300"/>
                    <a:lstStyle/>
                    <a:p>
                      <a:r>
                        <a:rPr sz="1800" b="0">
                          <a:solidFill>
                            <a:srgbClr val="352E28"/>
                          </a:solidFill>
                          <a:latin typeface="Malgun Gothic"/>
                          <a:ea typeface="Malgun Gothic"/>
                          <a:cs typeface="Malgun Gothic"/>
                        </a:rPr>
                        <a:t>버전</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기존 문서 기준 OCP 4.22 / RHEL 9.8 기반 RHCOS / Bastion RHEL 9.8. 릴리스 및 호환성의 최신 검증 결과는 별도 확보하며 구축 전 적용 버전 및 지원 조합 확정 필요</a:t>
                      </a:r>
                    </a:p>
                  </a:txBody>
                  <a:tcPr marL="91440" marR="91440" marT="45720" marB="45720" anchor="ctr">
                    <a:solidFill>
                      <a:srgbClr val="FFFAF0"/>
                    </a:solidFill>
                  </a:tcPr>
                </a:tc>
              </a:tr>
            </a:tbl>
          </a:graphicData>
        </a:graphic>
      </p:graphicFrame>
    </p:spTree>
    <p:extLst>
      <p:ext uri="{BB962C8B-B14F-4D97-AF65-F5344CB8AC3E}">
        <p14:creationId xmlns:p14="http://schemas.microsoft.com/office/powerpoint/2010/main" val="1005002646"/>
      </p:ext>
    </p:extLst>
  </p:cSld>
</p:sld>
</file>

<file path=ppt/slides/slide7.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111BA3E-4727-41CA-A6A6-EBD607F64130}"/>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추진 개요 (2/2)</a:t>
            </a:r>
          </a:p>
        </p:txBody>
      </p:sp>
      <p:sp>
        <p:nvSpPr>
          <p:cNvPr id="2" name="">
            <a:extLst xmlns:a="http://schemas.openxmlformats.org/drawingml/2006/main">
              <a:ext uri="{FF2B5EF4-FFF2-40B4-BE49-F238E27FC236}">
                <a16:creationId xmlns:a16="http://schemas.microsoft.com/office/drawing/2014/main" id="{3695C886-CD28-43D5-BD13-28B08486F2EC}"/>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3" name="">
            <a:extLst xmlns:a="http://schemas.openxmlformats.org/drawingml/2006/main">
              <a:ext uri="{FF2B5EF4-FFF2-40B4-BE49-F238E27FC236}">
                <a16:creationId xmlns:a16="http://schemas.microsoft.com/office/drawing/2014/main" id="{F3E274F6-BBCD-473E-9169-FA8C2EAE4A04}"/>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07</a:t>
            </a:r>
          </a:p>
        </p:txBody>
      </p:sp>
      <p:graphicFrame>
        <p:nvGraphicFramePr>
          <p:cNvPr id="4" name="">
            <a:extLst xmlns:a="http://schemas.openxmlformats.org/drawingml/2006/main">
              <a:ext uri="{FF2B5EF4-FFF2-40B4-BE49-F238E27FC236}">
                <a16:creationId xmlns:a16="http://schemas.microsoft.com/office/drawing/2014/main" id="{D8F691D1-8F34-4E2B-B814-5BD2D7E3A35F}"/>
              </a:ext>
            </a:extLst>
          </p:cNvPr>
          <p:cNvGraphicFramePr/>
          <p:nvPr/>
        </p:nvGraphicFramePr>
        <p:xfrm>
          <a:off xmlns:a="http://schemas.openxmlformats.org/drawingml/2006/main" x="609600" y="1809750"/>
          <a:ext xmlns:a="http://schemas.openxmlformats.org/drawingml/2006/main" cx="14020800" cy="5334000"/>
        </p:xfrm>
        <a:graphic xmlns:a="http://schemas.openxmlformats.org/drawingml/2006/main">
          <a:graphicData uri="http://schemas.openxmlformats.org/drawingml/2006/table">
            <a:tbl>
              <a:tblPr/>
              <a:tblGrid>
                <a:gridCol w="3048000"/>
                <a:gridCol w="10972800"/>
              </a:tblGrid>
              <a:tr h="552450">
                <a:tc>
                  <a:txBody>
                    <a:bodyPr lIns="114300" tIns="114300" rIns="114300" bIns="114300"/>
                    <a:lstStyle/>
                    <a:p>
                      <a:r>
                        <a:rPr sz="1800" b="1">
                          <a:solidFill>
                            <a:srgbClr val="352E28"/>
                          </a:solidFill>
                          <a:latin typeface="Malgun Gothic"/>
                          <a:ea typeface="Malgun Gothic"/>
                          <a:cs typeface="Malgun Gothic"/>
                        </a:rPr>
                        <a:t>구분</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계획 기준</a:t>
                      </a:r>
                    </a:p>
                  </a:txBody>
                  <a:tcPr marL="91440" marR="91440" marT="45720" marB="45720" anchor="ctr">
                    <a:solidFill>
                      <a:srgbClr val="E9DCC5"/>
                    </a:solidFill>
                  </a:tcPr>
                </a:tc>
              </a:tr>
              <a:tr h="2390775">
                <a:tc>
                  <a:txBody>
                    <a:bodyPr lIns="114300" tIns="114300" rIns="114300" bIns="114300"/>
                    <a:lstStyle/>
                    <a:p>
                      <a:r>
                        <a:rPr sz="1800" b="0">
                          <a:solidFill>
                            <a:srgbClr val="352E28"/>
                          </a:solidFill>
                          <a:latin typeface="Malgun Gothic"/>
                          <a:ea typeface="Malgun Gothic"/>
                          <a:cs typeface="Malgun Gothic"/>
                        </a:rPr>
                        <a:t>재활용 장비</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TNS-2100 · 기존 기록상 서버당 36 Core / 메모리 576GB / NIC 5포트. 실제 부품·포트 구성 및 지원 범위 확인 필요</a:t>
                      </a:r>
                    </a:p>
                  </a:txBody>
                  <a:tcPr marL="91440" marR="91440" marT="45720" marB="45720" anchor="ctr">
                    <a:solidFill>
                      <a:srgbClr val="FFFAF0"/>
                    </a:solidFill>
                  </a:tcPr>
                </a:tc>
              </a:tr>
              <a:tr h="2390775">
                <a:tc>
                  <a:txBody>
                    <a:bodyPr lIns="114300" tIns="114300" rIns="114300" bIns="114300"/>
                    <a:lstStyle/>
                    <a:p>
                      <a:r>
                        <a:rPr sz="1800" b="0">
                          <a:solidFill>
                            <a:srgbClr val="352E28"/>
                          </a:solidFill>
                          <a:latin typeface="Malgun Gothic"/>
                          <a:ea typeface="Malgun Gothic"/>
                          <a:cs typeface="Malgun Gothic"/>
                        </a:rPr>
                        <a:t>범위</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VM 집약, 기존 장비 재구성, 재활용 서버 구축, 네트워크·EMC CSI 구성, MTV 이관, 최종 Worker2 편입</a:t>
                      </a:r>
                    </a:p>
                  </a:txBody>
                  <a:tcPr marL="91440" marR="91440" marT="45720" marB="45720" anchor="ctr">
                    <a:solidFill>
                      <a:srgbClr val="F7F0E4"/>
                    </a:solidFill>
                  </a:tcPr>
                </a:tc>
              </a:tr>
            </a:tbl>
          </a:graphicData>
        </a:graphic>
      </p:graphicFrame>
    </p:spTree>
    <p:extLst>
      <p:ext uri="{BB962C8B-B14F-4D97-AF65-F5344CB8AC3E}">
        <p14:creationId xmlns:p14="http://schemas.microsoft.com/office/powerpoint/2010/main" val="2143968348"/>
      </p:ext>
    </p:extLst>
  </p:cSld>
</p:sld>
</file>

<file path=ppt/slides/slide8.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FCAF3D2-AE03-4704-B558-370E40818EF8}"/>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장비 활용 및 전환 계획 (1/2)</a:t>
            </a:r>
          </a:p>
        </p:txBody>
      </p:sp>
      <p:sp>
        <p:nvSpPr>
          <p:cNvPr id="2" name="">
            <a:extLst xmlns:a="http://schemas.openxmlformats.org/drawingml/2006/main">
              <a:ext uri="{FF2B5EF4-FFF2-40B4-BE49-F238E27FC236}">
                <a16:creationId xmlns:a16="http://schemas.microsoft.com/office/drawing/2014/main" id="{2E805502-636B-49DF-A229-017ABE3AF036}"/>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3" name="">
            <a:extLst xmlns:a="http://schemas.openxmlformats.org/drawingml/2006/main">
              <a:ext uri="{FF2B5EF4-FFF2-40B4-BE49-F238E27FC236}">
                <a16:creationId xmlns:a16="http://schemas.microsoft.com/office/drawing/2014/main" id="{3CDD8C27-6B54-4E21-830A-18FF31BB36DB}"/>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08</a:t>
            </a:r>
          </a:p>
        </p:txBody>
      </p:sp>
      <p:graphicFrame>
        <p:nvGraphicFramePr>
          <p:cNvPr id="4" name="">
            <a:extLst xmlns:a="http://schemas.openxmlformats.org/drawingml/2006/main">
              <a:ext uri="{FF2B5EF4-FFF2-40B4-BE49-F238E27FC236}">
                <a16:creationId xmlns:a16="http://schemas.microsoft.com/office/drawing/2014/main" id="{7CF12B79-7717-4A2E-9CDF-C1AC71A68FA0}"/>
              </a:ext>
            </a:extLst>
          </p:cNvPr>
          <p:cNvGraphicFramePr/>
          <p:nvPr/>
        </p:nvGraphicFramePr>
        <p:xfrm>
          <a:off xmlns:a="http://schemas.openxmlformats.org/drawingml/2006/main" x="609600" y="1809750"/>
          <a:ext xmlns:a="http://schemas.openxmlformats.org/drawingml/2006/main" cx="14020800" cy="5334000"/>
        </p:xfrm>
        <a:graphic xmlns:a="http://schemas.openxmlformats.org/drawingml/2006/main">
          <a:graphicData uri="http://schemas.openxmlformats.org/drawingml/2006/table">
            <a:tbl>
              <a:tblPr/>
              <a:tblGrid>
                <a:gridCol w="1190625"/>
                <a:gridCol w="1666875"/>
                <a:gridCol w="3238500"/>
                <a:gridCol w="2095500"/>
                <a:gridCol w="5829300"/>
              </a:tblGrid>
              <a:tr h="552450">
                <a:tc>
                  <a:txBody>
                    <a:bodyPr lIns="114300" tIns="114300" rIns="114300" bIns="114300"/>
                    <a:lstStyle/>
                    <a:p>
                      <a:r>
                        <a:rPr sz="1575" b="1">
                          <a:solidFill>
                            <a:srgbClr val="352E28"/>
                          </a:solidFill>
                          <a:latin typeface="Malgun Gothic"/>
                          <a:ea typeface="Malgun Gothic"/>
                          <a:cs typeface="Malgun Gothic"/>
                        </a:rPr>
                        <a:t>망</a:t>
                      </a:r>
                    </a:p>
                  </a:txBody>
                  <a:tcPr marL="91440" marR="91440" marT="45720" marB="45720" anchor="ctr">
                    <a:solidFill>
                      <a:srgbClr val="E9DCC5"/>
                    </a:solidFill>
                  </a:tcPr>
                </a:tc>
                <a:tc>
                  <a:txBody>
                    <a:bodyPr lIns="114300" tIns="114300" rIns="114300" bIns="114300"/>
                    <a:lstStyle/>
                    <a:p>
                      <a:r>
                        <a:rPr sz="1575" b="1">
                          <a:solidFill>
                            <a:srgbClr val="352E28"/>
                          </a:solidFill>
                          <a:latin typeface="Malgun Gothic"/>
                          <a:ea typeface="Malgun Gothic"/>
                          <a:cs typeface="Malgun Gothic"/>
                        </a:rPr>
                        <a:t>TO-BE 역할</a:t>
                      </a:r>
                    </a:p>
                  </a:txBody>
                  <a:tcPr marL="91440" marR="91440" marT="45720" marB="45720" anchor="ctr">
                    <a:solidFill>
                      <a:srgbClr val="E9DCC5"/>
                    </a:solidFill>
                  </a:tcPr>
                </a:tc>
                <a:tc>
                  <a:txBody>
                    <a:bodyPr lIns="114300" tIns="114300" rIns="114300" bIns="114300"/>
                    <a:lstStyle/>
                    <a:p>
                      <a:r>
                        <a:rPr sz="1575" b="1">
                          <a:solidFill>
                            <a:srgbClr val="352E28"/>
                          </a:solidFill>
                          <a:latin typeface="Malgun Gothic"/>
                          <a:ea typeface="Malgun Gothic"/>
                          <a:cs typeface="Malgun Gothic"/>
                        </a:rPr>
                        <a:t>장비 출처</a:t>
                      </a:r>
                    </a:p>
                  </a:txBody>
                  <a:tcPr marL="91440" marR="91440" marT="45720" marB="45720" anchor="ctr">
                    <a:solidFill>
                      <a:srgbClr val="E9DCC5"/>
                    </a:solidFill>
                  </a:tcPr>
                </a:tc>
                <a:tc>
                  <a:txBody>
                    <a:bodyPr lIns="114300" tIns="114300" rIns="114300" bIns="114300"/>
                    <a:lstStyle/>
                    <a:p>
                      <a:r>
                        <a:rPr sz="1575" b="1">
                          <a:solidFill>
                            <a:srgbClr val="352E28"/>
                          </a:solidFill>
                          <a:latin typeface="Malgun Gothic"/>
                          <a:ea typeface="Malgun Gothic"/>
                          <a:cs typeface="Malgun Gothic"/>
                        </a:rPr>
                        <a:t>IP 계획</a:t>
                      </a:r>
                    </a:p>
                  </a:txBody>
                  <a:tcPr marL="91440" marR="91440" marT="45720" marB="45720" anchor="ctr">
                    <a:solidFill>
                      <a:srgbClr val="E9DCC5"/>
                    </a:solidFill>
                  </a:tcPr>
                </a:tc>
                <a:tc>
                  <a:txBody>
                    <a:bodyPr lIns="114300" tIns="114300" rIns="114300" bIns="114300"/>
                    <a:lstStyle/>
                    <a:p>
                      <a:r>
                        <a:rPr sz="1575" b="1">
                          <a:solidFill>
                            <a:srgbClr val="352E28"/>
                          </a:solidFill>
                          <a:latin typeface="Malgun Gothic"/>
                          <a:ea typeface="Malgun Gothic"/>
                          <a:cs typeface="Malgun Gothic"/>
                        </a:rPr>
                        <a:t>전환 시점·확인 사항</a:t>
                      </a:r>
                    </a:p>
                  </a:txBody>
                  <a:tcPr marL="91440" marR="91440" marT="45720" marB="45720" anchor="ctr">
                    <a:solidFill>
                      <a:srgbClr val="E9DCC5"/>
                    </a:solidFill>
                  </a:tcPr>
                </a:tc>
              </a:tr>
              <a:tr h="1195388">
                <a:tc>
                  <a:txBody>
                    <a:bodyPr lIns="114300" tIns="114300" rIns="114300" bIns="114300"/>
                    <a:lstStyle/>
                    <a:p>
                      <a:r>
                        <a:rPr sz="1575" b="0">
                          <a:solidFill>
                            <a:srgbClr val="352E28"/>
                          </a:solidFill>
                          <a:latin typeface="Malgun Gothic"/>
                          <a:ea typeface="Malgun Gothic"/>
                          <a:cs typeface="Malgun Gothic"/>
                        </a:rPr>
                        <a:t>외부망</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Master</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재활용 TNS-2100</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신규 할당</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사전 구축</a:t>
                      </a:r>
                    </a:p>
                  </a:txBody>
                  <a:tcPr marL="91440" marR="91440" marT="45720" marB="45720" anchor="ctr">
                    <a:solidFill>
                      <a:srgbClr val="FFFAF0"/>
                    </a:solidFill>
                  </a:tcPr>
                </a:tc>
              </a:tr>
              <a:tr h="1195388">
                <a:tc>
                  <a:txBody>
                    <a:bodyPr lIns="114300" tIns="114300" rIns="114300" bIns="114300"/>
                    <a:lstStyle/>
                    <a:p>
                      <a:r>
                        <a:rPr sz="1575" b="0">
                          <a:solidFill>
                            <a:srgbClr val="352E28"/>
                          </a:solidFill>
                          <a:latin typeface="Malgun Gothic"/>
                          <a:ea typeface="Malgun Gothic"/>
                          <a:cs typeface="Malgun Gothic"/>
                        </a:rPr>
                        <a:t>외부망</a:t>
                      </a:r>
                    </a:p>
                  </a:txBody>
                  <a:tcPr marL="91440" marR="91440" marT="45720" marB="45720" anchor="ctr">
                    <a:solidFill>
                      <a:srgbClr val="F7F0E4"/>
                    </a:solidFill>
                  </a:tcPr>
                </a:tc>
                <a:tc>
                  <a:txBody>
                    <a:bodyPr lIns="114300" tIns="114300" rIns="114300" bIns="114300"/>
                    <a:lstStyle/>
                    <a:p>
                      <a:r>
                        <a:rPr sz="1575" b="0">
                          <a:solidFill>
                            <a:srgbClr val="352E28"/>
                          </a:solidFill>
                          <a:latin typeface="Malgun Gothic"/>
                          <a:ea typeface="Malgun Gothic"/>
                          <a:cs typeface="Malgun Gothic"/>
                        </a:rPr>
                        <a:t>Bastion</a:t>
                      </a:r>
                    </a:p>
                  </a:txBody>
                  <a:tcPr marL="91440" marR="91440" marT="45720" marB="45720" anchor="ctr">
                    <a:solidFill>
                      <a:srgbClr val="F7F0E4"/>
                    </a:solidFill>
                  </a:tcPr>
                </a:tc>
                <a:tc>
                  <a:txBody>
                    <a:bodyPr lIns="114300" tIns="114300" rIns="114300" bIns="114300"/>
                    <a:lstStyle/>
                    <a:p>
                      <a:r>
                        <a:rPr sz="1575" b="0">
                          <a:solidFill>
                            <a:srgbClr val="352E28"/>
                          </a:solidFill>
                          <a:latin typeface="Malgun Gothic"/>
                          <a:ea typeface="Malgun Gothic"/>
                          <a:cs typeface="Malgun Gothic"/>
                        </a:rPr>
                        <a:t>기존 장비 재구성 · 출처 확인 필요</a:t>
                      </a:r>
                    </a:p>
                  </a:txBody>
                  <a:tcPr marL="91440" marR="91440" marT="45720" marB="45720" anchor="ctr">
                    <a:solidFill>
                      <a:srgbClr val="F7F0E4"/>
                    </a:solidFill>
                  </a:tcPr>
                </a:tc>
                <a:tc>
                  <a:txBody>
                    <a:bodyPr lIns="114300" tIns="114300" rIns="114300" bIns="114300"/>
                    <a:lstStyle/>
                    <a:p>
                      <a:r>
                        <a:rPr sz="1575" b="0">
                          <a:solidFill>
                            <a:srgbClr val="352E28"/>
                          </a:solidFill>
                          <a:latin typeface="Malgun Gothic"/>
                          <a:ea typeface="Malgun Gothic"/>
                          <a:cs typeface="Malgun Gothic"/>
                        </a:rPr>
                        <a:t>기존 IP 재사용</a:t>
                      </a:r>
                    </a:p>
                  </a:txBody>
                  <a:tcPr marL="91440" marR="91440" marT="45720" marB="45720" anchor="ctr">
                    <a:solidFill>
                      <a:srgbClr val="F7F0E4"/>
                    </a:solidFill>
                  </a:tcPr>
                </a:tc>
                <a:tc>
                  <a:txBody>
                    <a:bodyPr lIns="114300" tIns="114300" rIns="114300" bIns="114300"/>
                    <a:lstStyle/>
                    <a:p>
                      <a:r>
                        <a:rPr sz="1575" b="0">
                          <a:solidFill>
                            <a:srgbClr val="352E28"/>
                          </a:solidFill>
                          <a:latin typeface="Malgun Gothic"/>
                          <a:ea typeface="Malgun Gothic"/>
                          <a:cs typeface="Malgun Gothic"/>
                        </a:rPr>
                        <a:t>번호 배정 확인</a:t>
                      </a:r>
                    </a:p>
                  </a:txBody>
                  <a:tcPr marL="91440" marR="91440" marT="45720" marB="45720" anchor="ctr">
                    <a:solidFill>
                      <a:srgbClr val="F7F0E4"/>
                    </a:solidFill>
                  </a:tcPr>
                </a:tc>
              </a:tr>
              <a:tr h="1195388">
                <a:tc>
                  <a:txBody>
                    <a:bodyPr lIns="114300" tIns="114300" rIns="114300" bIns="114300"/>
                    <a:lstStyle/>
                    <a:p>
                      <a:r>
                        <a:rPr sz="1575" b="0">
                          <a:solidFill>
                            <a:srgbClr val="352E28"/>
                          </a:solidFill>
                          <a:latin typeface="Malgun Gothic"/>
                          <a:ea typeface="Malgun Gothic"/>
                          <a:cs typeface="Malgun Gothic"/>
                        </a:rPr>
                        <a:t>외부망</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Worker1</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외부 HV#02</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기존 IP 재사용</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MTV 이전 구축</a:t>
                      </a:r>
                    </a:p>
                  </a:txBody>
                  <a:tcPr marL="91440" marR="91440" marT="45720" marB="45720" anchor="ctr">
                    <a:solidFill>
                      <a:srgbClr val="FFFAF0"/>
                    </a:solidFill>
                  </a:tcPr>
                </a:tc>
              </a:tr>
              <a:tr h="1195388">
                <a:tc>
                  <a:txBody>
                    <a:bodyPr lIns="114300" tIns="114300" rIns="114300" bIns="114300"/>
                    <a:lstStyle/>
                    <a:p>
                      <a:r>
                        <a:rPr sz="1575" b="0">
                          <a:solidFill>
                            <a:srgbClr val="352E28"/>
                          </a:solidFill>
                          <a:latin typeface="Malgun Gothic"/>
                          <a:ea typeface="Malgun Gothic"/>
                          <a:cs typeface="Malgun Gothic"/>
                        </a:rPr>
                        <a:t>외부망</a:t>
                      </a:r>
                    </a:p>
                  </a:txBody>
                  <a:tcPr marL="91440" marR="91440" marT="45720" marB="45720" anchor="ctr">
                    <a:solidFill>
                      <a:srgbClr val="FBE3BD"/>
                    </a:solidFill>
                  </a:tcPr>
                </a:tc>
                <a:tc>
                  <a:txBody>
                    <a:bodyPr lIns="114300" tIns="114300" rIns="114300" bIns="114300"/>
                    <a:lstStyle/>
                    <a:p>
                      <a:r>
                        <a:rPr sz="1575" b="0">
                          <a:solidFill>
                            <a:srgbClr val="352E28"/>
                          </a:solidFill>
                          <a:latin typeface="Malgun Gothic"/>
                          <a:ea typeface="Malgun Gothic"/>
                          <a:cs typeface="Malgun Gothic"/>
                        </a:rPr>
                        <a:t>Worker2</a:t>
                      </a:r>
                    </a:p>
                  </a:txBody>
                  <a:tcPr marL="91440" marR="91440" marT="45720" marB="45720" anchor="ctr">
                    <a:solidFill>
                      <a:srgbClr val="FBE3BD"/>
                    </a:solidFill>
                  </a:tcPr>
                </a:tc>
                <a:tc>
                  <a:txBody>
                    <a:bodyPr lIns="114300" tIns="114300" rIns="114300" bIns="114300"/>
                    <a:lstStyle/>
                    <a:p>
                      <a:r>
                        <a:rPr sz="1575" b="0">
                          <a:solidFill>
                            <a:srgbClr val="352E28"/>
                          </a:solidFill>
                          <a:latin typeface="Malgun Gothic"/>
                          <a:ea typeface="Malgun Gothic"/>
                          <a:cs typeface="Malgun Gothic"/>
                        </a:rPr>
                        <a:t>기존 HV#01</a:t>
                      </a:r>
                    </a:p>
                  </a:txBody>
                  <a:tcPr marL="91440" marR="91440" marT="45720" marB="45720" anchor="ctr">
                    <a:solidFill>
                      <a:srgbClr val="FBE3BD"/>
                    </a:solidFill>
                  </a:tcPr>
                </a:tc>
                <a:tc>
                  <a:txBody>
                    <a:bodyPr lIns="114300" tIns="114300" rIns="114300" bIns="114300"/>
                    <a:lstStyle/>
                    <a:p>
                      <a:r>
                        <a:rPr sz="1575" b="0">
                          <a:solidFill>
                            <a:srgbClr val="352E28"/>
                          </a:solidFill>
                          <a:latin typeface="Malgun Gothic"/>
                          <a:ea typeface="Malgun Gothic"/>
                          <a:cs typeface="Malgun Gothic"/>
                        </a:rPr>
                        <a:t>기존 IP 재사용</a:t>
                      </a:r>
                    </a:p>
                  </a:txBody>
                  <a:tcPr marL="91440" marR="91440" marT="45720" marB="45720" anchor="ctr">
                    <a:solidFill>
                      <a:srgbClr val="FBE3BD"/>
                    </a:solidFill>
                  </a:tcPr>
                </a:tc>
                <a:tc>
                  <a:txBody>
                    <a:bodyPr lIns="114300" tIns="114300" rIns="114300" bIns="114300"/>
                    <a:lstStyle/>
                    <a:p>
                      <a:r>
                        <a:rPr sz="1575" b="0">
                          <a:solidFill>
                            <a:srgbClr val="352E28"/>
                          </a:solidFill>
                          <a:latin typeface="Malgun Gothic"/>
                          <a:ea typeface="Malgun Gothic"/>
                          <a:cs typeface="Malgun Gothic"/>
                        </a:rPr>
                        <a:t>MTV 원본 유지 → 이관 이후 전환</a:t>
                      </a:r>
                    </a:p>
                  </a:txBody>
                  <a:tcPr marL="91440" marR="91440" marT="45720" marB="45720" anchor="ctr">
                    <a:solidFill>
                      <a:srgbClr val="FBE3BD"/>
                    </a:solidFill>
                  </a:tcPr>
                </a:tc>
              </a:tr>
            </a:tbl>
          </a:graphicData>
        </a:graphic>
      </p:graphicFrame>
    </p:spTree>
    <p:extLst>
      <p:ext uri="{BB962C8B-B14F-4D97-AF65-F5344CB8AC3E}">
        <p14:creationId xmlns:p14="http://schemas.microsoft.com/office/powerpoint/2010/main" val="244218005"/>
      </p:ext>
    </p:extLst>
  </p:cSld>
</p:sld>
</file>

<file path=ppt/slides/slide9.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6AFD502-3833-468F-9151-0F3B6F0E8F42}"/>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장비 활용 및 전환 계획 (2/2)</a:t>
            </a:r>
          </a:p>
        </p:txBody>
      </p:sp>
      <p:sp>
        <p:nvSpPr>
          <p:cNvPr id="2" name="">
            <a:extLst xmlns:a="http://schemas.openxmlformats.org/drawingml/2006/main">
              <a:ext uri="{FF2B5EF4-FFF2-40B4-BE49-F238E27FC236}">
                <a16:creationId xmlns:a16="http://schemas.microsoft.com/office/drawing/2014/main" id="{E338692A-CB10-4454-874C-DC8ECA7BC3CD}"/>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3" name="">
            <a:extLst xmlns:a="http://schemas.openxmlformats.org/drawingml/2006/main">
              <a:ext uri="{FF2B5EF4-FFF2-40B4-BE49-F238E27FC236}">
                <a16:creationId xmlns:a16="http://schemas.microsoft.com/office/drawing/2014/main" id="{086237A5-1D9D-4989-9E24-86A1D0A45387}"/>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09</a:t>
            </a:r>
          </a:p>
        </p:txBody>
      </p:sp>
      <p:graphicFrame>
        <p:nvGraphicFramePr>
          <p:cNvPr id="4" name="">
            <a:extLst xmlns:a="http://schemas.openxmlformats.org/drawingml/2006/main">
              <a:ext uri="{FF2B5EF4-FFF2-40B4-BE49-F238E27FC236}">
                <a16:creationId xmlns:a16="http://schemas.microsoft.com/office/drawing/2014/main" id="{0026A71F-58B7-446C-85F8-2FBFEE916C97}"/>
              </a:ext>
            </a:extLst>
          </p:cNvPr>
          <p:cNvGraphicFramePr/>
          <p:nvPr/>
        </p:nvGraphicFramePr>
        <p:xfrm>
          <a:off xmlns:a="http://schemas.openxmlformats.org/drawingml/2006/main" x="609600" y="1809750"/>
          <a:ext xmlns:a="http://schemas.openxmlformats.org/drawingml/2006/main" cx="14020800" cy="5334000"/>
        </p:xfrm>
        <a:graphic xmlns:a="http://schemas.openxmlformats.org/drawingml/2006/main">
          <a:graphicData uri="http://schemas.openxmlformats.org/drawingml/2006/table">
            <a:tbl>
              <a:tblPr/>
              <a:tblGrid>
                <a:gridCol w="1190625"/>
                <a:gridCol w="1666875"/>
                <a:gridCol w="3238500"/>
                <a:gridCol w="2095500"/>
                <a:gridCol w="5829300"/>
              </a:tblGrid>
              <a:tr h="552450">
                <a:tc>
                  <a:txBody>
                    <a:bodyPr lIns="114300" tIns="114300" rIns="114300" bIns="114300"/>
                    <a:lstStyle/>
                    <a:p>
                      <a:r>
                        <a:rPr sz="1575" b="1">
                          <a:solidFill>
                            <a:srgbClr val="352E28"/>
                          </a:solidFill>
                          <a:latin typeface="Malgun Gothic"/>
                          <a:ea typeface="Malgun Gothic"/>
                          <a:cs typeface="Malgun Gothic"/>
                        </a:rPr>
                        <a:t>망</a:t>
                      </a:r>
                    </a:p>
                  </a:txBody>
                  <a:tcPr marL="91440" marR="91440" marT="45720" marB="45720" anchor="ctr">
                    <a:solidFill>
                      <a:srgbClr val="E9DCC5"/>
                    </a:solidFill>
                  </a:tcPr>
                </a:tc>
                <a:tc>
                  <a:txBody>
                    <a:bodyPr lIns="114300" tIns="114300" rIns="114300" bIns="114300"/>
                    <a:lstStyle/>
                    <a:p>
                      <a:r>
                        <a:rPr sz="1575" b="1">
                          <a:solidFill>
                            <a:srgbClr val="352E28"/>
                          </a:solidFill>
                          <a:latin typeface="Malgun Gothic"/>
                          <a:ea typeface="Malgun Gothic"/>
                          <a:cs typeface="Malgun Gothic"/>
                        </a:rPr>
                        <a:t>TO-BE 역할</a:t>
                      </a:r>
                    </a:p>
                  </a:txBody>
                  <a:tcPr marL="91440" marR="91440" marT="45720" marB="45720" anchor="ctr">
                    <a:solidFill>
                      <a:srgbClr val="E9DCC5"/>
                    </a:solidFill>
                  </a:tcPr>
                </a:tc>
                <a:tc>
                  <a:txBody>
                    <a:bodyPr lIns="114300" tIns="114300" rIns="114300" bIns="114300"/>
                    <a:lstStyle/>
                    <a:p>
                      <a:r>
                        <a:rPr sz="1575" b="1">
                          <a:solidFill>
                            <a:srgbClr val="352E28"/>
                          </a:solidFill>
                          <a:latin typeface="Malgun Gothic"/>
                          <a:ea typeface="Malgun Gothic"/>
                          <a:cs typeface="Malgun Gothic"/>
                        </a:rPr>
                        <a:t>장비 출처</a:t>
                      </a:r>
                    </a:p>
                  </a:txBody>
                  <a:tcPr marL="91440" marR="91440" marT="45720" marB="45720" anchor="ctr">
                    <a:solidFill>
                      <a:srgbClr val="E9DCC5"/>
                    </a:solidFill>
                  </a:tcPr>
                </a:tc>
                <a:tc>
                  <a:txBody>
                    <a:bodyPr lIns="114300" tIns="114300" rIns="114300" bIns="114300"/>
                    <a:lstStyle/>
                    <a:p>
                      <a:r>
                        <a:rPr sz="1575" b="1">
                          <a:solidFill>
                            <a:srgbClr val="352E28"/>
                          </a:solidFill>
                          <a:latin typeface="Malgun Gothic"/>
                          <a:ea typeface="Malgun Gothic"/>
                          <a:cs typeface="Malgun Gothic"/>
                        </a:rPr>
                        <a:t>IP 계획</a:t>
                      </a:r>
                    </a:p>
                  </a:txBody>
                  <a:tcPr marL="91440" marR="91440" marT="45720" marB="45720" anchor="ctr">
                    <a:solidFill>
                      <a:srgbClr val="E9DCC5"/>
                    </a:solidFill>
                  </a:tcPr>
                </a:tc>
                <a:tc>
                  <a:txBody>
                    <a:bodyPr lIns="114300" tIns="114300" rIns="114300" bIns="114300"/>
                    <a:lstStyle/>
                    <a:p>
                      <a:r>
                        <a:rPr sz="1575" b="1">
                          <a:solidFill>
                            <a:srgbClr val="352E28"/>
                          </a:solidFill>
                          <a:latin typeface="Malgun Gothic"/>
                          <a:ea typeface="Malgun Gothic"/>
                          <a:cs typeface="Malgun Gothic"/>
                        </a:rPr>
                        <a:t>전환 시점·확인 사항</a:t>
                      </a:r>
                    </a:p>
                  </a:txBody>
                  <a:tcPr marL="91440" marR="91440" marT="45720" marB="45720" anchor="ctr">
                    <a:solidFill>
                      <a:srgbClr val="E9DCC5"/>
                    </a:solidFill>
                  </a:tcPr>
                </a:tc>
              </a:tr>
              <a:tr h="1195388">
                <a:tc>
                  <a:txBody>
                    <a:bodyPr lIns="114300" tIns="114300" rIns="114300" bIns="114300"/>
                    <a:lstStyle/>
                    <a:p>
                      <a:r>
                        <a:rPr sz="1575" b="0">
                          <a:solidFill>
                            <a:srgbClr val="352E28"/>
                          </a:solidFill>
                          <a:latin typeface="Malgun Gothic"/>
                          <a:ea typeface="Malgun Gothic"/>
                          <a:cs typeface="Malgun Gothic"/>
                        </a:rPr>
                        <a:t>내부망</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Master</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재활용 TNS-2100</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신규 할당</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사전 구축</a:t>
                      </a:r>
                    </a:p>
                  </a:txBody>
                  <a:tcPr marL="91440" marR="91440" marT="45720" marB="45720" anchor="ctr">
                    <a:solidFill>
                      <a:srgbClr val="FFFAF0"/>
                    </a:solidFill>
                  </a:tcPr>
                </a:tc>
              </a:tr>
              <a:tr h="1195388">
                <a:tc>
                  <a:txBody>
                    <a:bodyPr lIns="114300" tIns="114300" rIns="114300" bIns="114300"/>
                    <a:lstStyle/>
                    <a:p>
                      <a:r>
                        <a:rPr sz="1575" b="0">
                          <a:solidFill>
                            <a:srgbClr val="352E28"/>
                          </a:solidFill>
                          <a:latin typeface="Malgun Gothic"/>
                          <a:ea typeface="Malgun Gothic"/>
                          <a:cs typeface="Malgun Gothic"/>
                        </a:rPr>
                        <a:t>내부망</a:t>
                      </a:r>
                    </a:p>
                  </a:txBody>
                  <a:tcPr marL="91440" marR="91440" marT="45720" marB="45720" anchor="ctr">
                    <a:solidFill>
                      <a:srgbClr val="F7F0E4"/>
                    </a:solidFill>
                  </a:tcPr>
                </a:tc>
                <a:tc>
                  <a:txBody>
                    <a:bodyPr lIns="114300" tIns="114300" rIns="114300" bIns="114300"/>
                    <a:lstStyle/>
                    <a:p>
                      <a:r>
                        <a:rPr sz="1575" b="0">
                          <a:solidFill>
                            <a:srgbClr val="352E28"/>
                          </a:solidFill>
                          <a:latin typeface="Malgun Gothic"/>
                          <a:ea typeface="Malgun Gothic"/>
                          <a:cs typeface="Malgun Gothic"/>
                        </a:rPr>
                        <a:t>Bastion</a:t>
                      </a:r>
                    </a:p>
                  </a:txBody>
                  <a:tcPr marL="91440" marR="91440" marT="45720" marB="45720" anchor="ctr">
                    <a:solidFill>
                      <a:srgbClr val="F7F0E4"/>
                    </a:solidFill>
                  </a:tcPr>
                </a:tc>
                <a:tc>
                  <a:txBody>
                    <a:bodyPr lIns="114300" tIns="114300" rIns="114300" bIns="114300"/>
                    <a:lstStyle/>
                    <a:p>
                      <a:r>
                        <a:rPr sz="1575" b="0">
                          <a:solidFill>
                            <a:srgbClr val="352E28"/>
                          </a:solidFill>
                          <a:latin typeface="Malgun Gothic"/>
                          <a:ea typeface="Malgun Gothic"/>
                          <a:cs typeface="Malgun Gothic"/>
                        </a:rPr>
                        <a:t>재활용 TNS-2100</a:t>
                      </a:r>
                    </a:p>
                  </a:txBody>
                  <a:tcPr marL="91440" marR="91440" marT="45720" marB="45720" anchor="ctr">
                    <a:solidFill>
                      <a:srgbClr val="F7F0E4"/>
                    </a:solidFill>
                  </a:tcPr>
                </a:tc>
                <a:tc>
                  <a:txBody>
                    <a:bodyPr lIns="114300" tIns="114300" rIns="114300" bIns="114300"/>
                    <a:lstStyle/>
                    <a:p>
                      <a:r>
                        <a:rPr sz="1575" b="0">
                          <a:solidFill>
                            <a:srgbClr val="352E28"/>
                          </a:solidFill>
                          <a:latin typeface="Malgun Gothic"/>
                          <a:ea typeface="Malgun Gothic"/>
                          <a:cs typeface="Malgun Gothic"/>
                        </a:rPr>
                        <a:t>신규 할당</a:t>
                      </a:r>
                    </a:p>
                  </a:txBody>
                  <a:tcPr marL="91440" marR="91440" marT="45720" marB="45720" anchor="ctr">
                    <a:solidFill>
                      <a:srgbClr val="F7F0E4"/>
                    </a:solidFill>
                  </a:tcPr>
                </a:tc>
                <a:tc>
                  <a:txBody>
                    <a:bodyPr lIns="114300" tIns="114300" rIns="114300" bIns="114300"/>
                    <a:lstStyle/>
                    <a:p>
                      <a:r>
                        <a:rPr sz="1575" b="0">
                          <a:solidFill>
                            <a:srgbClr val="352E28"/>
                          </a:solidFill>
                          <a:latin typeface="Malgun Gothic"/>
                          <a:ea typeface="Malgun Gothic"/>
                          <a:cs typeface="Malgun Gothic"/>
                        </a:rPr>
                        <a:t>사전 구축</a:t>
                      </a:r>
                    </a:p>
                  </a:txBody>
                  <a:tcPr marL="91440" marR="91440" marT="45720" marB="45720" anchor="ctr">
                    <a:solidFill>
                      <a:srgbClr val="F7F0E4"/>
                    </a:solidFill>
                  </a:tcPr>
                </a:tc>
              </a:tr>
              <a:tr h="1195388">
                <a:tc>
                  <a:txBody>
                    <a:bodyPr lIns="114300" tIns="114300" rIns="114300" bIns="114300"/>
                    <a:lstStyle/>
                    <a:p>
                      <a:r>
                        <a:rPr sz="1575" b="0">
                          <a:solidFill>
                            <a:srgbClr val="352E28"/>
                          </a:solidFill>
                          <a:latin typeface="Malgun Gothic"/>
                          <a:ea typeface="Malgun Gothic"/>
                          <a:cs typeface="Malgun Gothic"/>
                        </a:rPr>
                        <a:t>내부망</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Worker1</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HV#02·HV#03 중 선정 필요</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기존 IP 재사용</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MTV 이전 구축</a:t>
                      </a:r>
                    </a:p>
                  </a:txBody>
                  <a:tcPr marL="91440" marR="91440" marT="45720" marB="45720" anchor="ctr">
                    <a:solidFill>
                      <a:srgbClr val="FFFAF0"/>
                    </a:solidFill>
                  </a:tcPr>
                </a:tc>
              </a:tr>
              <a:tr h="1195388">
                <a:tc>
                  <a:txBody>
                    <a:bodyPr lIns="114300" tIns="114300" rIns="114300" bIns="114300"/>
                    <a:lstStyle/>
                    <a:p>
                      <a:r>
                        <a:rPr sz="1575" b="0">
                          <a:solidFill>
                            <a:srgbClr val="352E28"/>
                          </a:solidFill>
                          <a:latin typeface="Malgun Gothic"/>
                          <a:ea typeface="Malgun Gothic"/>
                          <a:cs typeface="Malgun Gothic"/>
                        </a:rPr>
                        <a:t>내부망</a:t>
                      </a:r>
                    </a:p>
                  </a:txBody>
                  <a:tcPr marL="91440" marR="91440" marT="45720" marB="45720" anchor="ctr">
                    <a:solidFill>
                      <a:srgbClr val="FBE3BD"/>
                    </a:solidFill>
                  </a:tcPr>
                </a:tc>
                <a:tc>
                  <a:txBody>
                    <a:bodyPr lIns="114300" tIns="114300" rIns="114300" bIns="114300"/>
                    <a:lstStyle/>
                    <a:p>
                      <a:r>
                        <a:rPr sz="1575" b="0">
                          <a:solidFill>
                            <a:srgbClr val="352E28"/>
                          </a:solidFill>
                          <a:latin typeface="Malgun Gothic"/>
                          <a:ea typeface="Malgun Gothic"/>
                          <a:cs typeface="Malgun Gothic"/>
                        </a:rPr>
                        <a:t>Worker2</a:t>
                      </a:r>
                    </a:p>
                  </a:txBody>
                  <a:tcPr marL="91440" marR="91440" marT="45720" marB="45720" anchor="ctr">
                    <a:solidFill>
                      <a:srgbClr val="FBE3BD"/>
                    </a:solidFill>
                  </a:tcPr>
                </a:tc>
                <a:tc>
                  <a:txBody>
                    <a:bodyPr lIns="114300" tIns="114300" rIns="114300" bIns="114300"/>
                    <a:lstStyle/>
                    <a:p>
                      <a:r>
                        <a:rPr sz="1575" b="0">
                          <a:solidFill>
                            <a:srgbClr val="352E28"/>
                          </a:solidFill>
                          <a:latin typeface="Malgun Gothic"/>
                          <a:ea typeface="Malgun Gothic"/>
                          <a:cs typeface="Malgun Gothic"/>
                        </a:rPr>
                        <a:t>기존 HV#01</a:t>
                      </a:r>
                    </a:p>
                  </a:txBody>
                  <a:tcPr marL="91440" marR="91440" marT="45720" marB="45720" anchor="ctr">
                    <a:solidFill>
                      <a:srgbClr val="FBE3BD"/>
                    </a:solidFill>
                  </a:tcPr>
                </a:tc>
                <a:tc>
                  <a:txBody>
                    <a:bodyPr lIns="114300" tIns="114300" rIns="114300" bIns="114300"/>
                    <a:lstStyle/>
                    <a:p>
                      <a:r>
                        <a:rPr sz="1575" b="0">
                          <a:solidFill>
                            <a:srgbClr val="352E28"/>
                          </a:solidFill>
                          <a:latin typeface="Malgun Gothic"/>
                          <a:ea typeface="Malgun Gothic"/>
                          <a:cs typeface="Malgun Gothic"/>
                        </a:rPr>
                        <a:t>기존 IP 재사용</a:t>
                      </a:r>
                    </a:p>
                  </a:txBody>
                  <a:tcPr marL="91440" marR="91440" marT="45720" marB="45720" anchor="ctr">
                    <a:solidFill>
                      <a:srgbClr val="FBE3BD"/>
                    </a:solidFill>
                  </a:tcPr>
                </a:tc>
                <a:tc>
                  <a:txBody>
                    <a:bodyPr lIns="114300" tIns="114300" rIns="114300" bIns="114300"/>
                    <a:lstStyle/>
                    <a:p>
                      <a:r>
                        <a:rPr sz="1575" b="0">
                          <a:solidFill>
                            <a:srgbClr val="352E28"/>
                          </a:solidFill>
                          <a:latin typeface="Malgun Gothic"/>
                          <a:ea typeface="Malgun Gothic"/>
                          <a:cs typeface="Malgun Gothic"/>
                        </a:rPr>
                        <a:t>MTV 원본 유지 → 이관 이후 전환</a:t>
                      </a:r>
                    </a:p>
                  </a:txBody>
                  <a:tcPr marL="91440" marR="91440" marT="45720" marB="45720" anchor="ctr">
                    <a:solidFill>
                      <a:srgbClr val="FBE3BD"/>
                    </a:solidFill>
                  </a:tcPr>
                </a:tc>
              </a:tr>
            </a:tbl>
          </a:graphicData>
        </a:graphic>
      </p:graphicFrame>
    </p:spTree>
    <p:extLst>
      <p:ext uri="{BB962C8B-B14F-4D97-AF65-F5344CB8AC3E}">
        <p14:creationId xmlns:p14="http://schemas.microsoft.com/office/powerpoint/2010/main" val="1123620710"/>
      </p:ext>
    </p:extLst>
  </p:cSld>
</p:sld>
</file>

<file path=ppt/slides/slide10.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EF1B948-73D0-4724-A69D-295DFA26864A}"/>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네트워크·IP 및 스토리지 계획 (1/3)</a:t>
            </a:r>
          </a:p>
        </p:txBody>
      </p:sp>
      <p:sp>
        <p:nvSpPr>
          <p:cNvPr id="2" name="">
            <a:extLst xmlns:a="http://schemas.openxmlformats.org/drawingml/2006/main">
              <a:ext uri="{FF2B5EF4-FFF2-40B4-BE49-F238E27FC236}">
                <a16:creationId xmlns:a16="http://schemas.microsoft.com/office/drawing/2014/main" id="{657C2AD2-EAC5-441F-979C-2E0C96963797}"/>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3" name="">
            <a:extLst xmlns:a="http://schemas.openxmlformats.org/drawingml/2006/main">
              <a:ext uri="{FF2B5EF4-FFF2-40B4-BE49-F238E27FC236}">
                <a16:creationId xmlns:a16="http://schemas.microsoft.com/office/drawing/2014/main" id="{71A93C60-075D-4815-94D0-6B0155EF810A}"/>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10</a:t>
            </a:r>
          </a:p>
        </p:txBody>
      </p:sp>
      <p:graphicFrame>
        <p:nvGraphicFramePr>
          <p:cNvPr id="4" name="">
            <a:extLst xmlns:a="http://schemas.openxmlformats.org/drawingml/2006/main">
              <a:ext uri="{FF2B5EF4-FFF2-40B4-BE49-F238E27FC236}">
                <a16:creationId xmlns:a16="http://schemas.microsoft.com/office/drawing/2014/main" id="{B3CABF6E-BC64-4F13-8003-9F3614FA4C6A}"/>
              </a:ext>
            </a:extLst>
          </p:cNvPr>
          <p:cNvGraphicFramePr/>
          <p:nvPr/>
        </p:nvGraphicFramePr>
        <p:xfrm>
          <a:off xmlns:a="http://schemas.openxmlformats.org/drawingml/2006/main" x="609600" y="1809750"/>
          <a:ext xmlns:a="http://schemas.openxmlformats.org/drawingml/2006/main" cx="14020800" cy="5334000"/>
        </p:xfrm>
        <a:graphic xmlns:a="http://schemas.openxmlformats.org/drawingml/2006/main">
          <a:graphicData uri="http://schemas.openxmlformats.org/drawingml/2006/table">
            <a:tbl>
              <a:tblPr/>
              <a:tblGrid>
                <a:gridCol w="2428875"/>
                <a:gridCol w="5857875"/>
                <a:gridCol w="5734050"/>
              </a:tblGrid>
              <a:tr h="552450">
                <a:tc>
                  <a:txBody>
                    <a:bodyPr lIns="114300" tIns="114300" rIns="114300" bIns="114300"/>
                    <a:lstStyle/>
                    <a:p>
                      <a:r>
                        <a:rPr sz="1800" b="1">
                          <a:solidFill>
                            <a:srgbClr val="352E28"/>
                          </a:solidFill>
                          <a:latin typeface="Malgun Gothic"/>
                          <a:ea typeface="Malgun Gothic"/>
                          <a:cs typeface="Malgun Gothic"/>
                        </a:rPr>
                        <a:t>항목</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확정 방향</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추가 입력·검토</a:t>
                      </a:r>
                    </a:p>
                  </a:txBody>
                  <a:tcPr marL="91440" marR="91440" marT="45720" marB="45720" anchor="ctr">
                    <a:solidFill>
                      <a:srgbClr val="E9DCC5"/>
                    </a:solidFill>
                  </a:tcPr>
                </a:tc>
              </a:tr>
              <a:tr h="1593850">
                <a:tc>
                  <a:txBody>
                    <a:bodyPr lIns="114300" tIns="114300" rIns="114300" bIns="114300"/>
                    <a:lstStyle/>
                    <a:p>
                      <a:r>
                        <a:rPr sz="1800" b="0">
                          <a:solidFill>
                            <a:srgbClr val="352E28"/>
                          </a:solidFill>
                          <a:latin typeface="Malgun Gothic"/>
                          <a:ea typeface="Malgun Gothic"/>
                          <a:cs typeface="Malgun Gothic"/>
                        </a:rPr>
                        <a:t>기존 HV 네트워크</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서비스망 / NAS·BK망 / 관리망 IP 재사용</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기존 IP·서브넷·VLAN·게이트웨이·포트 매핑 확보</a:t>
                      </a:r>
                    </a:p>
                  </a:txBody>
                  <a:tcPr marL="91440" marR="91440" marT="45720" marB="45720" anchor="ctr">
                    <a:solidFill>
                      <a:srgbClr val="FFFAF0"/>
                    </a:solidFill>
                  </a:tcPr>
                </a:tc>
              </a:tr>
              <a:tr h="1593850">
                <a:tc>
                  <a:txBody>
                    <a:bodyPr lIns="114300" tIns="114300" rIns="114300" bIns="114300"/>
                    <a:lstStyle/>
                    <a:p>
                      <a:r>
                        <a:rPr sz="1800" b="0">
                          <a:solidFill>
                            <a:srgbClr val="352E28"/>
                          </a:solidFill>
                          <a:latin typeface="Malgun Gothic"/>
                          <a:ea typeface="Malgun Gothic"/>
                          <a:cs typeface="Malgun Gothic"/>
                        </a:rPr>
                        <a:t>신규 IP</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외부 Master, 내부 Master·Bastion</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역할별 실제 연결망과 IP 수량 결정</a:t>
                      </a:r>
                    </a:p>
                  </a:txBody>
                  <a:tcPr marL="91440" marR="91440" marT="45720" marB="45720" anchor="ctr">
                    <a:solidFill>
                      <a:srgbClr val="F7F0E4"/>
                    </a:solidFill>
                  </a:tcPr>
                </a:tc>
              </a:tr>
              <a:tr h="1593850">
                <a:tc>
                  <a:txBody>
                    <a:bodyPr lIns="114300" tIns="114300" rIns="114300" bIns="114300"/>
                    <a:lstStyle/>
                    <a:p>
                      <a:r>
                        <a:rPr sz="1800" b="0">
                          <a:solidFill>
                            <a:srgbClr val="352E28"/>
                          </a:solidFill>
                          <a:latin typeface="Malgun Gothic"/>
                          <a:ea typeface="Malgun Gothic"/>
                          <a:cs typeface="Malgun Gothic"/>
                        </a:rPr>
                        <a:t>노드 이중화</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NIC 및 스위치 경로 확인 후 설계</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일반 NIC 수·속도, Bond 방식, 스위치 구성 미확정</a:t>
                      </a:r>
                    </a:p>
                  </a:txBody>
                  <a:tcPr marL="91440" marR="91440" marT="45720" marB="45720" anchor="ctr">
                    <a:solidFill>
                      <a:srgbClr val="FFFAF0"/>
                    </a:solidFill>
                  </a:tcPr>
                </a:tc>
              </a:tr>
            </a:tbl>
          </a:graphicData>
        </a:graphic>
      </p:graphicFrame>
    </p:spTree>
    <p:extLst>
      <p:ext uri="{BB962C8B-B14F-4D97-AF65-F5344CB8AC3E}">
        <p14:creationId xmlns:p14="http://schemas.microsoft.com/office/powerpoint/2010/main" val="1590718244"/>
      </p:ext>
    </p:extLst>
  </p:cSld>
</p:sld>
</file>

<file path=ppt/slides/slide11.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7A99B1A-85AB-4AD5-AD34-EF18F22F5B6B}"/>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네트워크·IP 및 스토리지 계획 (2/3)</a:t>
            </a:r>
          </a:p>
        </p:txBody>
      </p:sp>
      <p:sp>
        <p:nvSpPr>
          <p:cNvPr id="2" name="">
            <a:extLst xmlns:a="http://schemas.openxmlformats.org/drawingml/2006/main">
              <a:ext uri="{FF2B5EF4-FFF2-40B4-BE49-F238E27FC236}">
                <a16:creationId xmlns:a16="http://schemas.microsoft.com/office/drawing/2014/main" id="{6FAD2096-251D-43B9-9DA5-AB3D3D9DDEFD}"/>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3" name="">
            <a:extLst xmlns:a="http://schemas.openxmlformats.org/drawingml/2006/main">
              <a:ext uri="{FF2B5EF4-FFF2-40B4-BE49-F238E27FC236}">
                <a16:creationId xmlns:a16="http://schemas.microsoft.com/office/drawing/2014/main" id="{2C7CE56E-C04F-45BD-B778-4647EB842BBD}"/>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11</a:t>
            </a:r>
          </a:p>
        </p:txBody>
      </p:sp>
      <p:graphicFrame>
        <p:nvGraphicFramePr>
          <p:cNvPr id="4" name="">
            <a:extLst xmlns:a="http://schemas.openxmlformats.org/drawingml/2006/main">
              <a:ext uri="{FF2B5EF4-FFF2-40B4-BE49-F238E27FC236}">
                <a16:creationId xmlns:a16="http://schemas.microsoft.com/office/drawing/2014/main" id="{DD64D362-A476-4A10-86A1-CA96DF595A42}"/>
              </a:ext>
            </a:extLst>
          </p:cNvPr>
          <p:cNvGraphicFramePr/>
          <p:nvPr/>
        </p:nvGraphicFramePr>
        <p:xfrm>
          <a:off xmlns:a="http://schemas.openxmlformats.org/drawingml/2006/main" x="609600" y="1809750"/>
          <a:ext xmlns:a="http://schemas.openxmlformats.org/drawingml/2006/main" cx="14020800" cy="5334000"/>
        </p:xfrm>
        <a:graphic xmlns:a="http://schemas.openxmlformats.org/drawingml/2006/main">
          <a:graphicData uri="http://schemas.openxmlformats.org/drawingml/2006/table">
            <a:tbl>
              <a:tblPr/>
              <a:tblGrid>
                <a:gridCol w="2428875"/>
                <a:gridCol w="5857875"/>
                <a:gridCol w="5734050"/>
              </a:tblGrid>
              <a:tr h="552450">
                <a:tc>
                  <a:txBody>
                    <a:bodyPr lIns="114300" tIns="114300" rIns="114300" bIns="114300"/>
                    <a:lstStyle/>
                    <a:p>
                      <a:r>
                        <a:rPr sz="1800" b="1">
                          <a:solidFill>
                            <a:srgbClr val="352E28"/>
                          </a:solidFill>
                          <a:latin typeface="Malgun Gothic"/>
                          <a:ea typeface="Malgun Gothic"/>
                          <a:cs typeface="Malgun Gothic"/>
                        </a:rPr>
                        <a:t>항목</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확정 방향</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추가 입력·검토</a:t>
                      </a:r>
                    </a:p>
                  </a:txBody>
                  <a:tcPr marL="91440" marR="91440" marT="45720" marB="45720" anchor="ctr">
                    <a:solidFill>
                      <a:srgbClr val="E9DCC5"/>
                    </a:solidFill>
                  </a:tcPr>
                </a:tc>
              </a:tr>
              <a:tr h="1593850">
                <a:tc>
                  <a:txBody>
                    <a:bodyPr lIns="114300" tIns="114300" rIns="114300" bIns="114300"/>
                    <a:lstStyle/>
                    <a:p>
                      <a:r>
                        <a:rPr sz="1800" b="0">
                          <a:solidFill>
                            <a:srgbClr val="352E28"/>
                          </a:solidFill>
                          <a:latin typeface="Malgun Gothic"/>
                          <a:ea typeface="Malgun Gothic"/>
                          <a:cs typeface="Malgun Gothic"/>
                        </a:rPr>
                        <a:t>VM 네트워크</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예시 문서의 VM 풀 표현 방식 참고</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VM IP 유지 여부, NIC·NAD·브리지 및 VLAN 매핑 미확정</a:t>
                      </a:r>
                    </a:p>
                  </a:txBody>
                  <a:tcPr marL="91440" marR="91440" marT="45720" marB="45720" anchor="ctr">
                    <a:solidFill>
                      <a:srgbClr val="FFFAF0"/>
                    </a:solidFill>
                  </a:tcPr>
                </a:tc>
              </a:tr>
              <a:tr h="1593850">
                <a:tc>
                  <a:txBody>
                    <a:bodyPr lIns="114300" tIns="114300" rIns="114300" bIns="114300"/>
                    <a:lstStyle/>
                    <a:p>
                      <a:r>
                        <a:rPr sz="1800" b="0">
                          <a:solidFill>
                            <a:srgbClr val="352E28"/>
                          </a:solidFill>
                          <a:latin typeface="Malgun Gothic"/>
                          <a:ea typeface="Malgun Gothic"/>
                          <a:cs typeface="Malgun Gothic"/>
                        </a:rPr>
                        <a:t>원본 스토리지</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EMC · FC 연결 → LUN 할당 → VMFS 데이터스토어 유지</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기존 LUN·데이터스토어 매핑, 사용·할당 용량, FC 경로</a:t>
                      </a:r>
                    </a:p>
                  </a:txBody>
                  <a:tcPr marL="91440" marR="91440" marT="45720" marB="45720" anchor="ctr">
                    <a:solidFill>
                      <a:srgbClr val="F7F0E4"/>
                    </a:solidFill>
                  </a:tcPr>
                </a:tc>
              </a:tr>
              <a:tr h="1593850">
                <a:tc>
                  <a:txBody>
                    <a:bodyPr lIns="114300" tIns="114300" rIns="114300" bIns="114300"/>
                    <a:lstStyle/>
                    <a:p>
                      <a:r>
                        <a:rPr sz="1800" b="0">
                          <a:solidFill>
                            <a:srgbClr val="352E28"/>
                          </a:solidFill>
                          <a:latin typeface="Malgun Gothic"/>
                          <a:ea typeface="Malgun Gothic"/>
                          <a:cs typeface="Malgun Gothic"/>
                        </a:rPr>
                        <a:t>대상 스토리지</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동일 EMC · CSI 드라이버 설치 후 대상 볼륨 할당</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EMC 모델·펌웨어, CSI 지원 버전·연결 프로토콜, 풀·StorageClass·볼륨 모드</a:t>
                      </a:r>
                    </a:p>
                  </a:txBody>
                  <a:tcPr marL="91440" marR="91440" marT="45720" marB="45720" anchor="ctr">
                    <a:solidFill>
                      <a:srgbClr val="FFFAF0"/>
                    </a:solidFill>
                  </a:tcPr>
                </a:tc>
              </a:tr>
            </a:tbl>
          </a:graphicData>
        </a:graphic>
      </p:graphicFrame>
    </p:spTree>
    <p:extLst>
      <p:ext uri="{BB962C8B-B14F-4D97-AF65-F5344CB8AC3E}">
        <p14:creationId xmlns:p14="http://schemas.microsoft.com/office/powerpoint/2010/main" val="283338265"/>
      </p:ext>
    </p:extLst>
  </p:cSld>
</p:sld>
</file>

<file path=ppt/slides/slide12.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B2D88B7-051D-4768-A173-5C5F3AA13E14}"/>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네트워크·IP 및 스토리지 계획 (3/3)</a:t>
            </a:r>
          </a:p>
        </p:txBody>
      </p:sp>
      <p:sp>
        <p:nvSpPr>
          <p:cNvPr id="2" name="">
            <a:extLst xmlns:a="http://schemas.openxmlformats.org/drawingml/2006/main">
              <a:ext uri="{FF2B5EF4-FFF2-40B4-BE49-F238E27FC236}">
                <a16:creationId xmlns:a16="http://schemas.microsoft.com/office/drawing/2014/main" id="{AA51F615-8C0C-4D6D-AD88-51FBE3D7E2FD}"/>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3" name="">
            <a:extLst xmlns:a="http://schemas.openxmlformats.org/drawingml/2006/main">
              <a:ext uri="{FF2B5EF4-FFF2-40B4-BE49-F238E27FC236}">
                <a16:creationId xmlns:a16="http://schemas.microsoft.com/office/drawing/2014/main" id="{24F1DE65-CC56-4854-8F62-A309DCC227D4}"/>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12</a:t>
            </a:r>
          </a:p>
        </p:txBody>
      </p:sp>
      <p:graphicFrame>
        <p:nvGraphicFramePr>
          <p:cNvPr id="4" name="">
            <a:extLst xmlns:a="http://schemas.openxmlformats.org/drawingml/2006/main">
              <a:ext uri="{FF2B5EF4-FFF2-40B4-BE49-F238E27FC236}">
                <a16:creationId xmlns:a16="http://schemas.microsoft.com/office/drawing/2014/main" id="{33B70AD1-47CC-4D5A-8430-61F6AF93A4A4}"/>
              </a:ext>
            </a:extLst>
          </p:cNvPr>
          <p:cNvGraphicFramePr/>
          <p:nvPr/>
        </p:nvGraphicFramePr>
        <p:xfrm>
          <a:off xmlns:a="http://schemas.openxmlformats.org/drawingml/2006/main" x="609600" y="1809750"/>
          <a:ext xmlns:a="http://schemas.openxmlformats.org/drawingml/2006/main" cx="14020800" cy="5334000"/>
        </p:xfrm>
        <a:graphic xmlns:a="http://schemas.openxmlformats.org/drawingml/2006/main">
          <a:graphicData uri="http://schemas.openxmlformats.org/drawingml/2006/table">
            <a:tbl>
              <a:tblPr/>
              <a:tblGrid>
                <a:gridCol w="2428875"/>
                <a:gridCol w="5857875"/>
                <a:gridCol w="5734050"/>
              </a:tblGrid>
              <a:tr h="552450">
                <a:tc>
                  <a:txBody>
                    <a:bodyPr lIns="114300" tIns="114300" rIns="114300" bIns="114300"/>
                    <a:lstStyle/>
                    <a:p>
                      <a:r>
                        <a:rPr sz="1800" b="1">
                          <a:solidFill>
                            <a:srgbClr val="352E28"/>
                          </a:solidFill>
                          <a:latin typeface="Malgun Gothic"/>
                          <a:ea typeface="Malgun Gothic"/>
                          <a:cs typeface="Malgun Gothic"/>
                        </a:rPr>
                        <a:t>항목</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확정 방향</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추가 입력·검토</a:t>
                      </a:r>
                    </a:p>
                  </a:txBody>
                  <a:tcPr marL="91440" marR="91440" marT="45720" marB="45720" anchor="ctr">
                    <a:solidFill>
                      <a:srgbClr val="E9DCC5"/>
                    </a:solidFill>
                  </a:tcPr>
                </a:tc>
              </a:tr>
              <a:tr h="4781550">
                <a:tc>
                  <a:txBody>
                    <a:bodyPr lIns="114300" tIns="114300" rIns="114300" bIns="114300"/>
                    <a:lstStyle/>
                    <a:p>
                      <a:r>
                        <a:rPr sz="1800" b="0">
                          <a:solidFill>
                            <a:srgbClr val="352E28"/>
                          </a:solidFill>
                          <a:latin typeface="Malgun Gothic"/>
                          <a:ea typeface="Malgun Gothic"/>
                          <a:cs typeface="Malgun Gothic"/>
                        </a:rPr>
                        <a:t>별도 주소 항목</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UPI 구성에 맞춰 확정</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API·Ingress VIP, DNS·NTP, BMC 주소</a:t>
                      </a:r>
                    </a:p>
                  </a:txBody>
                  <a:tcPr marL="91440" marR="91440" marT="45720" marB="45720" anchor="ctr">
                    <a:solidFill>
                      <a:srgbClr val="FFFAF0"/>
                    </a:solidFill>
                  </a:tcPr>
                </a:tc>
              </a:tr>
            </a:tbl>
          </a:graphicData>
        </a:graphic>
      </p:graphicFrame>
    </p:spTree>
    <p:extLst>
      <p:ext uri="{BB962C8B-B14F-4D97-AF65-F5344CB8AC3E}">
        <p14:creationId xmlns:p14="http://schemas.microsoft.com/office/powerpoint/2010/main" val="1137179675"/>
      </p:ext>
    </p:extLst>
  </p:cSld>
</p:sld>
</file>

<file path=ppt/slides/slide13.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62B762C-FDFF-4ED5-B734-0DE96619FE1E}"/>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단계별 수행 계획 (1/4)</a:t>
            </a:r>
          </a:p>
        </p:txBody>
      </p:sp>
      <p:sp>
        <p:nvSpPr>
          <p:cNvPr id="2" name="">
            <a:extLst xmlns:a="http://schemas.openxmlformats.org/drawingml/2006/main">
              <a:ext uri="{FF2B5EF4-FFF2-40B4-BE49-F238E27FC236}">
                <a16:creationId xmlns:a16="http://schemas.microsoft.com/office/drawing/2014/main" id="{24940279-35DD-4F09-A521-714E31F5066B}"/>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3" name="">
            <a:extLst xmlns:a="http://schemas.openxmlformats.org/drawingml/2006/main">
              <a:ext uri="{FF2B5EF4-FFF2-40B4-BE49-F238E27FC236}">
                <a16:creationId xmlns:a16="http://schemas.microsoft.com/office/drawing/2014/main" id="{052EAC11-C237-4FE7-8ED6-D6FADF8A6847}"/>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13</a:t>
            </a:r>
          </a:p>
        </p:txBody>
      </p:sp>
      <p:graphicFrame>
        <p:nvGraphicFramePr>
          <p:cNvPr id="4" name="">
            <a:extLst xmlns:a="http://schemas.openxmlformats.org/drawingml/2006/main">
              <a:ext uri="{FF2B5EF4-FFF2-40B4-BE49-F238E27FC236}">
                <a16:creationId xmlns:a16="http://schemas.microsoft.com/office/drawing/2014/main" id="{D1540804-348A-4B16-84A8-385C3B9D4F36}"/>
              </a:ext>
            </a:extLst>
          </p:cNvPr>
          <p:cNvGraphicFramePr/>
          <p:nvPr/>
        </p:nvGraphicFramePr>
        <p:xfrm>
          <a:off xmlns:a="http://schemas.openxmlformats.org/drawingml/2006/main" x="609600" y="1809750"/>
          <a:ext xmlns:a="http://schemas.openxmlformats.org/drawingml/2006/main" cx="14020800" cy="5334000"/>
        </p:xfrm>
        <a:graphic xmlns:a="http://schemas.openxmlformats.org/drawingml/2006/main">
          <a:graphicData uri="http://schemas.openxmlformats.org/drawingml/2006/table">
            <a:tbl>
              <a:tblPr/>
              <a:tblGrid>
                <a:gridCol w="2428875"/>
                <a:gridCol w="5857875"/>
                <a:gridCol w="5734050"/>
              </a:tblGrid>
              <a:tr h="552450">
                <a:tc>
                  <a:txBody>
                    <a:bodyPr lIns="114300" tIns="114300" rIns="114300" bIns="114300"/>
                    <a:lstStyle/>
                    <a:p>
                      <a:r>
                        <a:rPr sz="1800" b="1">
                          <a:solidFill>
                            <a:srgbClr val="352E28"/>
                          </a:solidFill>
                          <a:latin typeface="Malgun Gothic"/>
                          <a:ea typeface="Malgun Gothic"/>
                          <a:cs typeface="Malgun Gothic"/>
                        </a:rPr>
                        <a:t>단계</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작업 내용</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진행 전 확인 / 완료 기준</a:t>
                      </a:r>
                    </a:p>
                  </a:txBody>
                  <a:tcPr marL="91440" marR="91440" marT="45720" marB="45720" anchor="ctr">
                    <a:solidFill>
                      <a:srgbClr val="E9DCC5"/>
                    </a:solidFill>
                  </a:tcPr>
                </a:tc>
              </a:tr>
              <a:tr h="1593850">
                <a:tc>
                  <a:txBody>
                    <a:bodyPr lIns="114300" tIns="114300" rIns="114300" bIns="114300"/>
                    <a:lstStyle/>
                    <a:p>
                      <a:r>
                        <a:rPr sz="1800" b="0">
                          <a:solidFill>
                            <a:srgbClr val="352E28"/>
                          </a:solidFill>
                          <a:latin typeface="Malgun Gothic"/>
                          <a:ea typeface="Malgun Gothic"/>
                          <a:cs typeface="Malgun Gothic"/>
                        </a:rPr>
                        <a:t>1. 현황·백업 확보</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HV·VM·네트워크·FC LUN·VMFS 데이터스토어 현황 및 설정 기록, 복구 가능한 백업 확보</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VM별 OS·NIC·디스크·부팅 설정 기록 및 백업, 콘솔 접근, 망별 HV#01 수용 자원 확인</a:t>
                      </a:r>
                    </a:p>
                  </a:txBody>
                  <a:tcPr marL="91440" marR="91440" marT="45720" marB="45720" anchor="ctr">
                    <a:solidFill>
                      <a:srgbClr val="FFFAF0"/>
                    </a:solidFill>
                  </a:tcPr>
                </a:tc>
              </a:tr>
              <a:tr h="1593850">
                <a:tc>
                  <a:txBody>
                    <a:bodyPr lIns="114300" tIns="114300" rIns="114300" bIns="114300"/>
                    <a:lstStyle/>
                    <a:p>
                      <a:r>
                        <a:rPr sz="1800" b="0">
                          <a:solidFill>
                            <a:srgbClr val="352E28"/>
                          </a:solidFill>
                          <a:latin typeface="Malgun Gothic"/>
                          <a:ea typeface="Malgun Gothic"/>
                          <a:cs typeface="Malgun Gothic"/>
                        </a:rPr>
                        <a:t>2. VMware VM 집약</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외부 VM 13식·내부 VM 26식을 각 망 HV#01로 집약</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VM 이동 방식 확정, 서비스 정상 확인, 나머지 HV의 VM 잔존 여부 확인</a:t>
                      </a:r>
                    </a:p>
                  </a:txBody>
                  <a:tcPr marL="91440" marR="91440" marT="45720" marB="45720" anchor="ctr">
                    <a:solidFill>
                      <a:srgbClr val="F7F0E4"/>
                    </a:solidFill>
                  </a:tcPr>
                </a:tc>
              </a:tr>
              <a:tr h="1593850">
                <a:tc>
                  <a:txBody>
                    <a:bodyPr lIns="114300" tIns="114300" rIns="114300" bIns="114300"/>
                    <a:lstStyle/>
                    <a:p>
                      <a:r>
                        <a:rPr sz="1800" b="0">
                          <a:solidFill>
                            <a:srgbClr val="352E28"/>
                          </a:solidFill>
                          <a:latin typeface="Malgun Gothic"/>
                          <a:ea typeface="Malgun Gothic"/>
                          <a:cs typeface="Malgun Gothic"/>
                        </a:rPr>
                        <a:t>3. 장비 재구성</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외부 HV#02 및 내부 선정 HV를 Worker1으로 구성합니다. 외부 Bastion 장비 출처와 내부 잔여 HV 용도는 확인 후 반영합니다.</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외부 HV 번호별 배정 확정, IP 중복 방지, 재구성 전 데이터·설정 보존</a:t>
                      </a:r>
                    </a:p>
                  </a:txBody>
                  <a:tcPr marL="91440" marR="91440" marT="45720" marB="45720" anchor="ctr">
                    <a:solidFill>
                      <a:srgbClr val="FFFAF0"/>
                    </a:solidFill>
                  </a:tcPr>
                </a:tc>
              </a:tr>
            </a:tbl>
          </a:graphicData>
        </a:graphic>
      </p:graphicFrame>
    </p:spTree>
    <p:extLst>
      <p:ext uri="{BB962C8B-B14F-4D97-AF65-F5344CB8AC3E}">
        <p14:creationId xmlns:p14="http://schemas.microsoft.com/office/powerpoint/2010/main" val="2036215380"/>
      </p:ext>
    </p:extLst>
  </p:cSld>
</p:sld>
</file>

<file path=ppt/slides/slide14.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31692EA-D3D4-4AE8-956A-9CCD898ED2C6}"/>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단계별 수행 계획 (2/4)</a:t>
            </a:r>
          </a:p>
        </p:txBody>
      </p:sp>
      <p:sp>
        <p:nvSpPr>
          <p:cNvPr id="2" name="">
            <a:extLst xmlns:a="http://schemas.openxmlformats.org/drawingml/2006/main">
              <a:ext uri="{FF2B5EF4-FFF2-40B4-BE49-F238E27FC236}">
                <a16:creationId xmlns:a16="http://schemas.microsoft.com/office/drawing/2014/main" id="{FE2883B4-93C2-4C6F-A8D9-EF9B1DE7D00D}"/>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3" name="">
            <a:extLst xmlns:a="http://schemas.openxmlformats.org/drawingml/2006/main">
              <a:ext uri="{FF2B5EF4-FFF2-40B4-BE49-F238E27FC236}">
                <a16:creationId xmlns:a16="http://schemas.microsoft.com/office/drawing/2014/main" id="{BFA0571D-7248-4E65-B4D7-E70E0834E1B4}"/>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14</a:t>
            </a:r>
          </a:p>
        </p:txBody>
      </p:sp>
      <p:graphicFrame>
        <p:nvGraphicFramePr>
          <p:cNvPr id="4" name="">
            <a:extLst xmlns:a="http://schemas.openxmlformats.org/drawingml/2006/main">
              <a:ext uri="{FF2B5EF4-FFF2-40B4-BE49-F238E27FC236}">
                <a16:creationId xmlns:a16="http://schemas.microsoft.com/office/drawing/2014/main" id="{22B1062E-1A49-4DF0-BB16-44674BC77DE5}"/>
              </a:ext>
            </a:extLst>
          </p:cNvPr>
          <p:cNvGraphicFramePr/>
          <p:nvPr/>
        </p:nvGraphicFramePr>
        <p:xfrm>
          <a:off xmlns:a="http://schemas.openxmlformats.org/drawingml/2006/main" x="609600" y="1809750"/>
          <a:ext xmlns:a="http://schemas.openxmlformats.org/drawingml/2006/main" cx="14020800" cy="5334000"/>
        </p:xfrm>
        <a:graphic xmlns:a="http://schemas.openxmlformats.org/drawingml/2006/main">
          <a:graphicData uri="http://schemas.openxmlformats.org/drawingml/2006/table">
            <a:tbl>
              <a:tblPr/>
              <a:tblGrid>
                <a:gridCol w="2428875"/>
                <a:gridCol w="5857875"/>
                <a:gridCol w="5734050"/>
              </a:tblGrid>
              <a:tr h="552450">
                <a:tc>
                  <a:txBody>
                    <a:bodyPr lIns="114300" tIns="114300" rIns="114300" bIns="114300"/>
                    <a:lstStyle/>
                    <a:p>
                      <a:r>
                        <a:rPr sz="1800" b="1">
                          <a:solidFill>
                            <a:srgbClr val="352E28"/>
                          </a:solidFill>
                          <a:latin typeface="Malgun Gothic"/>
                          <a:ea typeface="Malgun Gothic"/>
                          <a:cs typeface="Malgun Gothic"/>
                        </a:rPr>
                        <a:t>단계</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작업 내용</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진행 전 확인 / 완료 기준</a:t>
                      </a:r>
                    </a:p>
                  </a:txBody>
                  <a:tcPr marL="91440" marR="91440" marT="45720" marB="45720" anchor="ctr">
                    <a:solidFill>
                      <a:srgbClr val="E9DCC5"/>
                    </a:solidFill>
                  </a:tcPr>
                </a:tc>
              </a:tr>
              <a:tr h="1593850">
                <a:tc>
                  <a:txBody>
                    <a:bodyPr lIns="114300" tIns="114300" rIns="114300" bIns="114300"/>
                    <a:lstStyle/>
                    <a:p>
                      <a:r>
                        <a:rPr sz="1800" b="0">
                          <a:solidFill>
                            <a:srgbClr val="352E28"/>
                          </a:solidFill>
                          <a:latin typeface="Malgun Gothic"/>
                          <a:ea typeface="Malgun Gothic"/>
                          <a:cs typeface="Malgun Gothic"/>
                        </a:rPr>
                        <a:t>4. 신규 인프라 구축</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재활용 서버로 외부 Master, 내부 Master·Bastion 구성</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Master 실제 구성·UPI 설치 자원·호환 버전 및 신규 IP 확인</a:t>
                      </a:r>
                    </a:p>
                  </a:txBody>
                  <a:tcPr marL="91440" marR="91440" marT="45720" marB="45720" anchor="ctr">
                    <a:solidFill>
                      <a:srgbClr val="FFFAF0"/>
                    </a:solidFill>
                  </a:tcPr>
                </a:tc>
              </a:tr>
              <a:tr h="1593850">
                <a:tc>
                  <a:txBody>
                    <a:bodyPr lIns="114300" tIns="114300" rIns="114300" bIns="114300"/>
                    <a:lstStyle/>
                    <a:p>
                      <a:r>
                        <a:rPr sz="1800" b="0">
                          <a:solidFill>
                            <a:srgbClr val="352E28"/>
                          </a:solidFill>
                          <a:latin typeface="Malgun Gothic"/>
                          <a:ea typeface="Malgun Gothic"/>
                          <a:cs typeface="Malgun Gothic"/>
                        </a:rPr>
                        <a:t>5. OpenShift 기반 검증</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클러스터·가상화 기능·네트워크 구성, EMC CSI 드라이버 설치 및 StorageClass·대상 볼륨 할당 검증</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Worker1 단독 자원 수용 여부, CSI 볼륨·VM 디스크 기능, 동일 EMC 원본·대상 용량과 이관 중 I/O 부하 확인</a:t>
                      </a:r>
                    </a:p>
                  </a:txBody>
                  <a:tcPr marL="91440" marR="91440" marT="45720" marB="45720" anchor="ctr">
                    <a:solidFill>
                      <a:srgbClr val="F7F0E4"/>
                    </a:solidFill>
                  </a:tcPr>
                </a:tc>
              </a:tr>
              <a:tr h="1593850">
                <a:tc>
                  <a:txBody>
                    <a:bodyPr lIns="114300" tIns="114300" rIns="114300" bIns="114300"/>
                    <a:lstStyle/>
                    <a:p>
                      <a:r>
                        <a:rPr sz="1800" b="0">
                          <a:solidFill>
                            <a:srgbClr val="352E28"/>
                          </a:solidFill>
                          <a:latin typeface="Malgun Gothic"/>
                          <a:ea typeface="Malgun Gothic"/>
                          <a:cs typeface="Malgun Gothic"/>
                        </a:rPr>
                        <a:t>6. MTV 준비·시험 이관</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소스·대상 연결 및 망·스토리지 매핑 구성, 주요 OS·다중 NIC·디스크 유형별 시험 이관, 보정 절차와 소요 시간 기록</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MTV 버전·이관 방식 확정, 연결·권한·인증서·필요 통신 확인, 시험 결과 기록</a:t>
                      </a:r>
                    </a:p>
                  </a:txBody>
                  <a:tcPr marL="91440" marR="91440" marT="45720" marB="45720" anchor="ctr">
                    <a:solidFill>
                      <a:srgbClr val="FFFAF0"/>
                    </a:solidFill>
                  </a:tcPr>
                </a:tc>
              </a:tr>
            </a:tbl>
          </a:graphicData>
        </a:graphic>
      </p:graphicFrame>
    </p:spTree>
    <p:extLst>
      <p:ext uri="{BB962C8B-B14F-4D97-AF65-F5344CB8AC3E}">
        <p14:creationId xmlns:p14="http://schemas.microsoft.com/office/powerpoint/2010/main" val="332251730"/>
      </p:ext>
    </p:extLst>
  </p:cSld>
</p:sld>
</file>

<file path=ppt/slides/slide15.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35C126D-6E29-4021-998F-36DABBBF7826}"/>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단계별 수행 계획 (3/4)</a:t>
            </a:r>
          </a:p>
        </p:txBody>
      </p:sp>
      <p:sp>
        <p:nvSpPr>
          <p:cNvPr id="2" name="">
            <a:extLst xmlns:a="http://schemas.openxmlformats.org/drawingml/2006/main">
              <a:ext uri="{FF2B5EF4-FFF2-40B4-BE49-F238E27FC236}">
                <a16:creationId xmlns:a16="http://schemas.microsoft.com/office/drawing/2014/main" id="{0FE2840D-2805-41E5-B2C9-DDF4C692BEB1}"/>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3" name="">
            <a:extLst xmlns:a="http://schemas.openxmlformats.org/drawingml/2006/main">
              <a:ext uri="{FF2B5EF4-FFF2-40B4-BE49-F238E27FC236}">
                <a16:creationId xmlns:a16="http://schemas.microsoft.com/office/drawing/2014/main" id="{E233386E-81BF-4211-A9E0-3C3536365E5F}"/>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15</a:t>
            </a:r>
          </a:p>
        </p:txBody>
      </p:sp>
      <p:graphicFrame>
        <p:nvGraphicFramePr>
          <p:cNvPr id="4" name="">
            <a:extLst xmlns:a="http://schemas.openxmlformats.org/drawingml/2006/main">
              <a:ext uri="{FF2B5EF4-FFF2-40B4-BE49-F238E27FC236}">
                <a16:creationId xmlns:a16="http://schemas.microsoft.com/office/drawing/2014/main" id="{1599EBE8-7725-46EC-8A7D-871F554F2463}"/>
              </a:ext>
            </a:extLst>
          </p:cNvPr>
          <p:cNvGraphicFramePr/>
          <p:nvPr/>
        </p:nvGraphicFramePr>
        <p:xfrm>
          <a:off xmlns:a="http://schemas.openxmlformats.org/drawingml/2006/main" x="609600" y="1809750"/>
          <a:ext xmlns:a="http://schemas.openxmlformats.org/drawingml/2006/main" cx="14020800" cy="5334000"/>
        </p:xfrm>
        <a:graphic xmlns:a="http://schemas.openxmlformats.org/drawingml/2006/main">
          <a:graphicData uri="http://schemas.openxmlformats.org/drawingml/2006/table">
            <a:tbl>
              <a:tblPr/>
              <a:tblGrid>
                <a:gridCol w="2428875"/>
                <a:gridCol w="5857875"/>
                <a:gridCol w="5734050"/>
              </a:tblGrid>
              <a:tr h="552450">
                <a:tc>
                  <a:txBody>
                    <a:bodyPr lIns="114300" tIns="114300" rIns="114300" bIns="114300"/>
                    <a:lstStyle/>
                    <a:p>
                      <a:r>
                        <a:rPr sz="1800" b="1">
                          <a:solidFill>
                            <a:srgbClr val="352E28"/>
                          </a:solidFill>
                          <a:latin typeface="Malgun Gothic"/>
                          <a:ea typeface="Malgun Gothic"/>
                          <a:cs typeface="Malgun Gothic"/>
                        </a:rPr>
                        <a:t>단계</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작업 내용</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진행 전 확인 / 완료 기준</a:t>
                      </a:r>
                    </a:p>
                  </a:txBody>
                  <a:tcPr marL="91440" marR="91440" marT="45720" marB="45720" anchor="ctr">
                    <a:solidFill>
                      <a:srgbClr val="E9DCC5"/>
                    </a:solidFill>
                  </a:tcPr>
                </a:tc>
              </a:tr>
              <a:tr h="1593850">
                <a:tc>
                  <a:txBody>
                    <a:bodyPr lIns="114300" tIns="114300" rIns="114300" bIns="114300"/>
                    <a:lstStyle/>
                    <a:p>
                      <a:r>
                        <a:rPr sz="1800" b="0">
                          <a:solidFill>
                            <a:srgbClr val="352E28"/>
                          </a:solidFill>
                          <a:latin typeface="Malgun Gothic"/>
                          <a:ea typeface="Malgun Gothic"/>
                          <a:cs typeface="Malgun Gothic"/>
                        </a:rPr>
                        <a:t>7. 회차별 본 이관</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회차별 대상 선정 → 사전 검사 → 이관 및 원본 종료·최종 동기화 → 대상 기동 → NIC·디스크 보정 → 업무 검증</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동일 서비스 원본·대상의 동시 활성화 방지, 회차별 성공·실패·재작업 기록</a:t>
                      </a:r>
                    </a:p>
                  </a:txBody>
                  <a:tcPr marL="91440" marR="91440" marT="45720" marB="45720" anchor="ctr">
                    <a:solidFill>
                      <a:srgbClr val="FFFAF0"/>
                    </a:solidFill>
                  </a:tcPr>
                </a:tc>
              </a:tr>
              <a:tr h="1593850">
                <a:tc>
                  <a:txBody>
                    <a:bodyPr lIns="114300" tIns="114300" rIns="114300" bIns="114300"/>
                    <a:lstStyle/>
                    <a:p>
                      <a:r>
                        <a:rPr sz="1800" b="0">
                          <a:solidFill>
                            <a:srgbClr val="352E28"/>
                          </a:solidFill>
                          <a:latin typeface="Malgun Gothic"/>
                          <a:ea typeface="Malgun Gothic"/>
                          <a:cs typeface="Malgun Gothic"/>
                        </a:rPr>
                        <a:t>8. HV#01 전환 판단</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대상 서비스 검증, 원본 보관 및 복구 조건 확인</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원본 HV를 재구성해도 되는 시점 명시, 백업 및 데이터 복구 경로 확보</a:t>
                      </a:r>
                    </a:p>
                  </a:txBody>
                  <a:tcPr marL="91440" marR="91440" marT="45720" marB="45720" anchor="ctr">
                    <a:solidFill>
                      <a:srgbClr val="F7F0E4"/>
                    </a:solidFill>
                  </a:tcPr>
                </a:tc>
              </a:tr>
              <a:tr h="1593850">
                <a:tc>
                  <a:txBody>
                    <a:bodyPr lIns="114300" tIns="114300" rIns="114300" bIns="114300"/>
                    <a:lstStyle/>
                    <a:p>
                      <a:r>
                        <a:rPr sz="1800" b="0">
                          <a:solidFill>
                            <a:srgbClr val="352E28"/>
                          </a:solidFill>
                          <a:latin typeface="Malgun Gothic"/>
                          <a:ea typeface="Malgun Gothic"/>
                          <a:cs typeface="Malgun Gothic"/>
                        </a:rPr>
                        <a:t>9. Worker2 추가</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각 망 HV#01 재구성 → Worker2 편입, 기존 IP 재사용</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노드·네트워크·CSI 볼륨 접근 정상 확인, VM 배치·이동 검증 범위 협의</a:t>
                      </a:r>
                    </a:p>
                  </a:txBody>
                  <a:tcPr marL="91440" marR="91440" marT="45720" marB="45720" anchor="ctr">
                    <a:solidFill>
                      <a:srgbClr val="FFFAF0"/>
                    </a:solidFill>
                  </a:tcPr>
                </a:tc>
              </a:tr>
            </a:tbl>
          </a:graphicData>
        </a:graphic>
      </p:graphicFrame>
    </p:spTree>
    <p:extLst>
      <p:ext uri="{BB962C8B-B14F-4D97-AF65-F5344CB8AC3E}">
        <p14:creationId xmlns:p14="http://schemas.microsoft.com/office/powerpoint/2010/main" val="1339335497"/>
      </p:ext>
    </p:extLst>
  </p:cSld>
</p:sld>
</file>

<file path=ppt/slides/slide16.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2F4B85F-D5BC-490E-B8CF-FC0658FBE1D1}"/>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단계별 수행 계획 (4/4)</a:t>
            </a:r>
          </a:p>
        </p:txBody>
      </p:sp>
      <p:sp>
        <p:nvSpPr>
          <p:cNvPr id="2" name="">
            <a:extLst xmlns:a="http://schemas.openxmlformats.org/drawingml/2006/main">
              <a:ext uri="{FF2B5EF4-FFF2-40B4-BE49-F238E27FC236}">
                <a16:creationId xmlns:a16="http://schemas.microsoft.com/office/drawing/2014/main" id="{90250B58-948C-4ADF-9B94-EFCF480C767D}"/>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3" name="">
            <a:extLst xmlns:a="http://schemas.openxmlformats.org/drawingml/2006/main">
              <a:ext uri="{FF2B5EF4-FFF2-40B4-BE49-F238E27FC236}">
                <a16:creationId xmlns:a16="http://schemas.microsoft.com/office/drawing/2014/main" id="{01BD0646-FBED-47E7-A65B-AF05838C94ED}"/>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16</a:t>
            </a:r>
          </a:p>
        </p:txBody>
      </p:sp>
      <p:graphicFrame>
        <p:nvGraphicFramePr>
          <p:cNvPr id="4" name="">
            <a:extLst xmlns:a="http://schemas.openxmlformats.org/drawingml/2006/main">
              <a:ext uri="{FF2B5EF4-FFF2-40B4-BE49-F238E27FC236}">
                <a16:creationId xmlns:a16="http://schemas.microsoft.com/office/drawing/2014/main" id="{CBC8160F-74E9-496F-959E-81F494A73EFF}"/>
              </a:ext>
            </a:extLst>
          </p:cNvPr>
          <p:cNvGraphicFramePr/>
          <p:nvPr/>
        </p:nvGraphicFramePr>
        <p:xfrm>
          <a:off xmlns:a="http://schemas.openxmlformats.org/drawingml/2006/main" x="609600" y="1809750"/>
          <a:ext xmlns:a="http://schemas.openxmlformats.org/drawingml/2006/main" cx="14020800" cy="5334000"/>
        </p:xfrm>
        <a:graphic xmlns:a="http://schemas.openxmlformats.org/drawingml/2006/main">
          <a:graphicData uri="http://schemas.openxmlformats.org/drawingml/2006/table">
            <a:tbl>
              <a:tblPr/>
              <a:tblGrid>
                <a:gridCol w="2428875"/>
                <a:gridCol w="5857875"/>
                <a:gridCol w="5734050"/>
              </a:tblGrid>
              <a:tr h="552450">
                <a:tc>
                  <a:txBody>
                    <a:bodyPr lIns="114300" tIns="114300" rIns="114300" bIns="114300"/>
                    <a:lstStyle/>
                    <a:p>
                      <a:r>
                        <a:rPr sz="1800" b="1">
                          <a:solidFill>
                            <a:srgbClr val="352E28"/>
                          </a:solidFill>
                          <a:latin typeface="Malgun Gothic"/>
                          <a:ea typeface="Malgun Gothic"/>
                          <a:cs typeface="Malgun Gothic"/>
                        </a:rPr>
                        <a:t>단계</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작업 내용</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진행 전 확인 / 완료 기준</a:t>
                      </a:r>
                    </a:p>
                  </a:txBody>
                  <a:tcPr marL="91440" marR="91440" marT="45720" marB="45720" anchor="ctr">
                    <a:solidFill>
                      <a:srgbClr val="E9DCC5"/>
                    </a:solidFill>
                  </a:tcPr>
                </a:tc>
              </a:tr>
              <a:tr h="4781550">
                <a:tc>
                  <a:txBody>
                    <a:bodyPr lIns="114300" tIns="114300" rIns="114300" bIns="114300"/>
                    <a:lstStyle/>
                    <a:p>
                      <a:r>
                        <a:rPr sz="1800" b="0">
                          <a:solidFill>
                            <a:srgbClr val="352E28"/>
                          </a:solidFill>
                          <a:latin typeface="Malgun Gothic"/>
                          <a:ea typeface="Malgun Gothic"/>
                          <a:cs typeface="Malgun Gothic"/>
                        </a:rPr>
                        <a:t>10. 완료 기록</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최종 구성·IP·VM 이관 결과 및 잔여 작업 정리</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MTV 완료, OS 기동, 디스크·네트워크·업무·백업 정상 확인 및 합의된 검수 항목 충족, 결과서 갱신</a:t>
                      </a:r>
                    </a:p>
                  </a:txBody>
                  <a:tcPr marL="91440" marR="91440" marT="45720" marB="45720" anchor="ctr">
                    <a:solidFill>
                      <a:srgbClr val="FFFAF0"/>
                    </a:solidFill>
                  </a:tcPr>
                </a:tc>
              </a:tr>
            </a:tbl>
          </a:graphicData>
        </a:graphic>
      </p:graphicFrame>
    </p:spTree>
    <p:extLst>
      <p:ext uri="{BB962C8B-B14F-4D97-AF65-F5344CB8AC3E}">
        <p14:creationId xmlns:p14="http://schemas.microsoft.com/office/powerpoint/2010/main" val="1788179338"/>
      </p:ext>
    </p:extLst>
  </p:cSld>
</p:sld>
</file>

<file path=ppt/slides/slide17.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946EB0B-B309-424E-8286-5213B3A1291D}"/>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폐쇄망 UPI 설치 절차 (1/3)</a:t>
            </a:r>
          </a:p>
        </p:txBody>
      </p:sp>
      <p:sp>
        <p:nvSpPr>
          <p:cNvPr id="2" name="">
            <a:extLst xmlns:a="http://schemas.openxmlformats.org/drawingml/2006/main">
              <a:ext uri="{FF2B5EF4-FFF2-40B4-BE49-F238E27FC236}">
                <a16:creationId xmlns:a16="http://schemas.microsoft.com/office/drawing/2014/main" id="{03C7D289-5EC2-40EA-B000-30F7835E47ED}"/>
              </a:ext>
            </a:extLst>
          </p:cNvPr>
          <p:cNvSpPr>
            <a:spLocks xmlns:a="http://schemas.openxmlformats.org/drawingml/2006/main" noGrp="1"/>
          </p:cNvSpPr>
          <p:nvPr/>
        </p:nvSpPr>
        <p:spPr>
          <a:xfrm xmlns:a="http://schemas.openxmlformats.org/drawingml/2006/main">
            <a:off x="628650" y="1114425"/>
            <a:ext cx="1398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75685B"/>
                </a:solidFill>
                <a:latin typeface="Malgun Gothic"/>
                <a:ea typeface="Malgun Gothic"/>
                <a:cs typeface="Malgun Gothic"/>
              </a:defRPr>
            </a:defPPr>
          </a:lstStyle>
          <a:p xmlns:a="http://schemas.openxmlformats.org/drawingml/2006/main">
            <a:pPr algn="l">
              <a:defRPr sz="1575" b="0">
                <a:solidFill>
                  <a:srgbClr val="75685B"/>
                </a:solidFill>
                <a:latin typeface="Malgun Gothic"/>
                <a:ea typeface="Malgun Gothic"/>
                <a:cs typeface="Malgun Gothic"/>
              </a:defRPr>
            </a:pPr>
            <a:r>
              <a:rPr sz="1575" b="0">
                <a:solidFill>
                  <a:srgbClr val="75685B"/>
                </a:solidFill>
                <a:latin typeface="Malgun Gothic"/>
                <a:ea typeface="Malgun Gothic"/>
                <a:cs typeface="Malgun Gothic"/>
              </a:rPr>
              <a:t>단계별 수행 계획</a:t>
            </a:r>
          </a:p>
        </p:txBody>
      </p:sp>
      <p:sp>
        <p:nvSpPr>
          <p:cNvPr id="3" name="">
            <a:extLst xmlns:a="http://schemas.openxmlformats.org/drawingml/2006/main">
              <a:ext uri="{FF2B5EF4-FFF2-40B4-BE49-F238E27FC236}">
                <a16:creationId xmlns:a16="http://schemas.microsoft.com/office/drawing/2014/main" id="{F39133C5-6C7D-4685-AA77-5EC73536912D}"/>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4" name="">
            <a:extLst xmlns:a="http://schemas.openxmlformats.org/drawingml/2006/main">
              <a:ext uri="{FF2B5EF4-FFF2-40B4-BE49-F238E27FC236}">
                <a16:creationId xmlns:a16="http://schemas.microsoft.com/office/drawing/2014/main" id="{F288B49E-B15D-498C-BCC7-0E2FCC560C62}"/>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17</a:t>
            </a:r>
          </a:p>
        </p:txBody>
      </p:sp>
      <p:graphicFrame>
        <p:nvGraphicFramePr>
          <p:cNvPr id="5" name="">
            <a:extLst xmlns:a="http://schemas.openxmlformats.org/drawingml/2006/main">
              <a:ext uri="{FF2B5EF4-FFF2-40B4-BE49-F238E27FC236}">
                <a16:creationId xmlns:a16="http://schemas.microsoft.com/office/drawing/2014/main" id="{718D6365-430F-41FF-89A9-92BB5CADBBA4}"/>
              </a:ext>
            </a:extLst>
          </p:cNvPr>
          <p:cNvGraphicFramePr/>
          <p:nvPr/>
        </p:nvGraphicFramePr>
        <p:xfrm>
          <a:off xmlns:a="http://schemas.openxmlformats.org/drawingml/2006/main" x="609600" y="1809750"/>
          <a:ext xmlns:a="http://schemas.openxmlformats.org/drawingml/2006/main" cx="14020800" cy="5334000"/>
        </p:xfrm>
        <a:graphic xmlns:a="http://schemas.openxmlformats.org/drawingml/2006/main">
          <a:graphicData uri="http://schemas.openxmlformats.org/drawingml/2006/table">
            <a:tbl>
              <a:tblPr/>
              <a:tblGrid>
                <a:gridCol w="3048000"/>
                <a:gridCol w="10972800"/>
              </a:tblGrid>
              <a:tr h="552450">
                <a:tc>
                  <a:txBody>
                    <a:bodyPr lIns="114300" tIns="114300" rIns="114300" bIns="114300"/>
                    <a:lstStyle/>
                    <a:p>
                      <a:r>
                        <a:rPr sz="1800" b="1">
                          <a:solidFill>
                            <a:srgbClr val="352E28"/>
                          </a:solidFill>
                          <a:latin typeface="Malgun Gothic"/>
                          <a:ea typeface="Malgun Gothic"/>
                          <a:cs typeface="Malgun Gothic"/>
                        </a:rPr>
                        <a:t>단계</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작업 내용</a:t>
                      </a:r>
                    </a:p>
                  </a:txBody>
                  <a:tcPr marL="91440" marR="91440" marT="45720" marB="45720" anchor="ctr">
                    <a:solidFill>
                      <a:srgbClr val="E9DCC5"/>
                    </a:solidFill>
                  </a:tcPr>
                </a:tc>
              </a:tr>
              <a:tr h="1593850">
                <a:tc>
                  <a:txBody>
                    <a:bodyPr lIns="114300" tIns="114300" rIns="114300" bIns="114300"/>
                    <a:lstStyle/>
                    <a:p>
                      <a:r>
                        <a:rPr sz="1800" b="0">
                          <a:solidFill>
                            <a:srgbClr val="352E28"/>
                          </a:solidFill>
                          <a:latin typeface="Malgun Gothic"/>
                          <a:ea typeface="Malgun Gothic"/>
                          <a:cs typeface="Malgun Gothic"/>
                        </a:rPr>
                        <a:t>1. 사전 준비</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Bastion에 설치 도구와 CLI를 준비하고 DNS·NTP·API/Ingress 로드밸런서 및 네트워크를 구성합니다.</a:t>
                      </a:r>
                    </a:p>
                  </a:txBody>
                  <a:tcPr marL="91440" marR="91440" marT="45720" marB="45720" anchor="ctr">
                    <a:solidFill>
                      <a:srgbClr val="FFFAF0"/>
                    </a:solidFill>
                  </a:tcPr>
                </a:tc>
              </a:tr>
              <a:tr h="1593850">
                <a:tc>
                  <a:txBody>
                    <a:bodyPr lIns="114300" tIns="114300" rIns="114300" bIns="114300"/>
                    <a:lstStyle/>
                    <a:p>
                      <a:r>
                        <a:rPr sz="1800" b="0">
                          <a:solidFill>
                            <a:srgbClr val="352E28"/>
                          </a:solidFill>
                          <a:latin typeface="Malgun Gothic"/>
                          <a:ea typeface="Malgun Gothic"/>
                          <a:cs typeface="Malgun Gothic"/>
                        </a:rPr>
                        <a:t>2. 폐쇄망 미러 구성</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필요한 OCP·가상화·MTV·CSI 이미지를 내부 레지스트리에 반입하고 인증서·인증·미러 설정을 준비합니다.</a:t>
                      </a:r>
                    </a:p>
                  </a:txBody>
                  <a:tcPr marL="91440" marR="91440" marT="45720" marB="45720" anchor="ctr">
                    <a:solidFill>
                      <a:srgbClr val="F7F0E4"/>
                    </a:solidFill>
                  </a:tcPr>
                </a:tc>
              </a:tr>
              <a:tr h="1593850">
                <a:tc>
                  <a:txBody>
                    <a:bodyPr lIns="114300" tIns="114300" rIns="114300" bIns="114300"/>
                    <a:lstStyle/>
                    <a:p>
                      <a:r>
                        <a:rPr sz="1800" b="0">
                          <a:solidFill>
                            <a:srgbClr val="352E28"/>
                          </a:solidFill>
                          <a:latin typeface="Malgun Gothic"/>
                          <a:ea typeface="Malgun Gothic"/>
                          <a:cs typeface="Malgun Gothic"/>
                        </a:rPr>
                        <a:t>3. 설치 설정 생성</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클러스터 구성과 미러 정보를 반영하여 설치 설정 및 Bootstrap·Master·Worker용 Ignition 파일을 생성합니다.</a:t>
                      </a:r>
                    </a:p>
                  </a:txBody>
                  <a:tcPr marL="91440" marR="91440" marT="45720" marB="45720" anchor="ctr">
                    <a:solidFill>
                      <a:srgbClr val="FFFAF0"/>
                    </a:solidFill>
                  </a:tcPr>
                </a:tc>
              </a:tr>
            </a:tbl>
          </a:graphicData>
        </a:graphic>
      </p:graphicFrame>
    </p:spTree>
    <p:extLst>
      <p:ext uri="{BB962C8B-B14F-4D97-AF65-F5344CB8AC3E}">
        <p14:creationId xmlns:p14="http://schemas.microsoft.com/office/powerpoint/2010/main" val="1804821672"/>
      </p:ext>
    </p:extLst>
  </p:cSld>
</p:sld>
</file>

<file path=ppt/slides/slide18.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27177ED-E63E-4F10-B443-97ECE7BCF46F}"/>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폐쇄망 UPI 설치 절차 (2/3)</a:t>
            </a:r>
          </a:p>
        </p:txBody>
      </p:sp>
      <p:sp>
        <p:nvSpPr>
          <p:cNvPr id="2" name="">
            <a:extLst xmlns:a="http://schemas.openxmlformats.org/drawingml/2006/main">
              <a:ext uri="{FF2B5EF4-FFF2-40B4-BE49-F238E27FC236}">
                <a16:creationId xmlns:a16="http://schemas.microsoft.com/office/drawing/2014/main" id="{78520B74-7206-4429-A99D-25EF79889BB9}"/>
              </a:ext>
            </a:extLst>
          </p:cNvPr>
          <p:cNvSpPr>
            <a:spLocks xmlns:a="http://schemas.openxmlformats.org/drawingml/2006/main" noGrp="1"/>
          </p:cNvSpPr>
          <p:nvPr/>
        </p:nvSpPr>
        <p:spPr>
          <a:xfrm xmlns:a="http://schemas.openxmlformats.org/drawingml/2006/main">
            <a:off x="628650" y="1114425"/>
            <a:ext cx="1398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75685B"/>
                </a:solidFill>
                <a:latin typeface="Malgun Gothic"/>
                <a:ea typeface="Malgun Gothic"/>
                <a:cs typeface="Malgun Gothic"/>
              </a:defRPr>
            </a:defPPr>
          </a:lstStyle>
          <a:p xmlns:a="http://schemas.openxmlformats.org/drawingml/2006/main">
            <a:pPr algn="l">
              <a:defRPr sz="1575" b="0">
                <a:solidFill>
                  <a:srgbClr val="75685B"/>
                </a:solidFill>
                <a:latin typeface="Malgun Gothic"/>
                <a:ea typeface="Malgun Gothic"/>
                <a:cs typeface="Malgun Gothic"/>
              </a:defRPr>
            </a:pPr>
            <a:r>
              <a:rPr sz="1575" b="0">
                <a:solidFill>
                  <a:srgbClr val="75685B"/>
                </a:solidFill>
                <a:latin typeface="Malgun Gothic"/>
                <a:ea typeface="Malgun Gothic"/>
                <a:cs typeface="Malgun Gothic"/>
              </a:rPr>
              <a:t>단계별 수행 계획</a:t>
            </a:r>
          </a:p>
        </p:txBody>
      </p:sp>
      <p:sp>
        <p:nvSpPr>
          <p:cNvPr id="3" name="">
            <a:extLst xmlns:a="http://schemas.openxmlformats.org/drawingml/2006/main">
              <a:ext uri="{FF2B5EF4-FFF2-40B4-BE49-F238E27FC236}">
                <a16:creationId xmlns:a16="http://schemas.microsoft.com/office/drawing/2014/main" id="{8FDEA646-B95C-44F8-9B48-DE4B1F236A88}"/>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4" name="">
            <a:extLst xmlns:a="http://schemas.openxmlformats.org/drawingml/2006/main">
              <a:ext uri="{FF2B5EF4-FFF2-40B4-BE49-F238E27FC236}">
                <a16:creationId xmlns:a16="http://schemas.microsoft.com/office/drawing/2014/main" id="{22537E65-14EB-43A0-8800-460E7C932777}"/>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18</a:t>
            </a:r>
          </a:p>
        </p:txBody>
      </p:sp>
      <p:graphicFrame>
        <p:nvGraphicFramePr>
          <p:cNvPr id="5" name="">
            <a:extLst xmlns:a="http://schemas.openxmlformats.org/drawingml/2006/main">
              <a:ext uri="{FF2B5EF4-FFF2-40B4-BE49-F238E27FC236}">
                <a16:creationId xmlns:a16="http://schemas.microsoft.com/office/drawing/2014/main" id="{6A16FB07-0135-437C-9899-301A832EA0FC}"/>
              </a:ext>
            </a:extLst>
          </p:cNvPr>
          <p:cNvGraphicFramePr/>
          <p:nvPr/>
        </p:nvGraphicFramePr>
        <p:xfrm>
          <a:off xmlns:a="http://schemas.openxmlformats.org/drawingml/2006/main" x="609600" y="1809750"/>
          <a:ext xmlns:a="http://schemas.openxmlformats.org/drawingml/2006/main" cx="14020800" cy="5334000"/>
        </p:xfrm>
        <a:graphic xmlns:a="http://schemas.openxmlformats.org/drawingml/2006/main">
          <a:graphicData uri="http://schemas.openxmlformats.org/drawingml/2006/table">
            <a:tbl>
              <a:tblPr/>
              <a:tblGrid>
                <a:gridCol w="3048000"/>
                <a:gridCol w="10972800"/>
              </a:tblGrid>
              <a:tr h="552450">
                <a:tc>
                  <a:txBody>
                    <a:bodyPr lIns="114300" tIns="114300" rIns="114300" bIns="114300"/>
                    <a:lstStyle/>
                    <a:p>
                      <a:r>
                        <a:rPr sz="1800" b="1">
                          <a:solidFill>
                            <a:srgbClr val="352E28"/>
                          </a:solidFill>
                          <a:latin typeface="Malgun Gothic"/>
                          <a:ea typeface="Malgun Gothic"/>
                          <a:cs typeface="Malgun Gothic"/>
                        </a:rPr>
                        <a:t>단계</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작업 내용</a:t>
                      </a:r>
                    </a:p>
                  </a:txBody>
                  <a:tcPr marL="91440" marR="91440" marT="45720" marB="45720" anchor="ctr">
                    <a:solidFill>
                      <a:srgbClr val="E9DCC5"/>
                    </a:solidFill>
                  </a:tcPr>
                </a:tc>
              </a:tr>
              <a:tr h="1593850">
                <a:tc>
                  <a:txBody>
                    <a:bodyPr lIns="114300" tIns="114300" rIns="114300" bIns="114300"/>
                    <a:lstStyle/>
                    <a:p>
                      <a:r>
                        <a:rPr sz="1800" b="0">
                          <a:solidFill>
                            <a:srgbClr val="352E28"/>
                          </a:solidFill>
                          <a:latin typeface="Malgun Gothic"/>
                          <a:ea typeface="Malgun Gothic"/>
                          <a:cs typeface="Malgun Gothic"/>
                        </a:rPr>
                        <a:t>4. Bootstrap 및 노드 설치</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별도 Bootstrap 서버를 구동하고 대상 노드에 RHCOS와 해당 Ignition을 적용합니다. 각 망 HV#01은 MTV 원본으로 유지하며 최초 설치 대상에서 제외합니다.</a:t>
                      </a:r>
                    </a:p>
                  </a:txBody>
                  <a:tcPr marL="91440" marR="91440" marT="45720" marB="45720" anchor="ctr">
                    <a:solidFill>
                      <a:srgbClr val="FFFAF0"/>
                    </a:solidFill>
                  </a:tcPr>
                </a:tc>
              </a:tr>
              <a:tr h="1593850">
                <a:tc>
                  <a:txBody>
                    <a:bodyPr lIns="114300" tIns="114300" rIns="114300" bIns="114300"/>
                    <a:lstStyle/>
                    <a:p>
                      <a:r>
                        <a:rPr sz="1800" b="0">
                          <a:solidFill>
                            <a:srgbClr val="352E28"/>
                          </a:solidFill>
                          <a:latin typeface="Malgun Gothic"/>
                          <a:ea typeface="Malgun Gothic"/>
                          <a:cs typeface="Malgun Gothic"/>
                        </a:rPr>
                        <a:t>5. Bootstrap 완료 확인</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Bootstrap 완료를 확인한 뒤 로드밸런서에서 Bootstrap 대상을 제거하고 임시 서버를 종료·철거합니다.</a:t>
                      </a:r>
                    </a:p>
                  </a:txBody>
                  <a:tcPr marL="91440" marR="91440" marT="45720" marB="45720" anchor="ctr">
                    <a:solidFill>
                      <a:srgbClr val="F7F0E4"/>
                    </a:solidFill>
                  </a:tcPr>
                </a:tc>
              </a:tr>
              <a:tr h="1593850">
                <a:tc>
                  <a:txBody>
                    <a:bodyPr lIns="114300" tIns="114300" rIns="114300" bIns="114300"/>
                    <a:lstStyle/>
                    <a:p>
                      <a:r>
                        <a:rPr sz="1800" b="0">
                          <a:solidFill>
                            <a:srgbClr val="352E28"/>
                          </a:solidFill>
                          <a:latin typeface="Malgun Gothic"/>
                          <a:ea typeface="Malgun Gothic"/>
                          <a:cs typeface="Malgun Gothic"/>
                        </a:rPr>
                        <a:t>6. 클러스터 완료 검증</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노드·CSR·ClusterOperator 상태와 API·콘솔·미러 접근을 확인합니다. 이후 가상화·EMC CSI·MTV를 구성합니다.</a:t>
                      </a:r>
                    </a:p>
                  </a:txBody>
                  <a:tcPr marL="91440" marR="91440" marT="45720" marB="45720" anchor="ctr">
                    <a:solidFill>
                      <a:srgbClr val="FFFAF0"/>
                    </a:solidFill>
                  </a:tcPr>
                </a:tc>
              </a:tr>
            </a:tbl>
          </a:graphicData>
        </a:graphic>
      </p:graphicFrame>
    </p:spTree>
    <p:extLst>
      <p:ext uri="{BB962C8B-B14F-4D97-AF65-F5344CB8AC3E}">
        <p14:creationId xmlns:p14="http://schemas.microsoft.com/office/powerpoint/2010/main" val="1511133621"/>
      </p:ext>
    </p:extLst>
  </p:cSld>
</p:sld>
</file>

<file path=ppt/slides/slide19.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1F34273-6E15-4B3F-8896-0E41B180DDDD}"/>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폐쇄망 UPI 설치 절차 (3/3)</a:t>
            </a:r>
          </a:p>
        </p:txBody>
      </p:sp>
      <p:sp>
        <p:nvSpPr>
          <p:cNvPr id="2" name="">
            <a:extLst xmlns:a="http://schemas.openxmlformats.org/drawingml/2006/main">
              <a:ext uri="{FF2B5EF4-FFF2-40B4-BE49-F238E27FC236}">
                <a16:creationId xmlns:a16="http://schemas.microsoft.com/office/drawing/2014/main" id="{1307BF22-A28F-48D1-B8E0-3B543D975365}"/>
              </a:ext>
            </a:extLst>
          </p:cNvPr>
          <p:cNvSpPr>
            <a:spLocks xmlns:a="http://schemas.openxmlformats.org/drawingml/2006/main" noGrp="1"/>
          </p:cNvSpPr>
          <p:nvPr/>
        </p:nvSpPr>
        <p:spPr>
          <a:xfrm xmlns:a="http://schemas.openxmlformats.org/drawingml/2006/main">
            <a:off x="628650" y="1114425"/>
            <a:ext cx="1398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75685B"/>
                </a:solidFill>
                <a:latin typeface="Malgun Gothic"/>
                <a:ea typeface="Malgun Gothic"/>
                <a:cs typeface="Malgun Gothic"/>
              </a:defRPr>
            </a:defPPr>
          </a:lstStyle>
          <a:p xmlns:a="http://schemas.openxmlformats.org/drawingml/2006/main">
            <a:pPr algn="l">
              <a:defRPr sz="1575" b="0">
                <a:solidFill>
                  <a:srgbClr val="75685B"/>
                </a:solidFill>
                <a:latin typeface="Malgun Gothic"/>
                <a:ea typeface="Malgun Gothic"/>
                <a:cs typeface="Malgun Gothic"/>
              </a:defRPr>
            </a:pPr>
            <a:r>
              <a:rPr sz="1575" b="0">
                <a:solidFill>
                  <a:srgbClr val="75685B"/>
                </a:solidFill>
                <a:latin typeface="Malgun Gothic"/>
                <a:ea typeface="Malgun Gothic"/>
                <a:cs typeface="Malgun Gothic"/>
              </a:rPr>
              <a:t>단계별 수행 계획</a:t>
            </a:r>
          </a:p>
        </p:txBody>
      </p:sp>
      <p:sp>
        <p:nvSpPr>
          <p:cNvPr id="3" name="">
            <a:extLst xmlns:a="http://schemas.openxmlformats.org/drawingml/2006/main">
              <a:ext uri="{FF2B5EF4-FFF2-40B4-BE49-F238E27FC236}">
                <a16:creationId xmlns:a16="http://schemas.microsoft.com/office/drawing/2014/main" id="{C7819A38-F01A-4CA2-945E-EE404AD5E0CF}"/>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4" name="">
            <a:extLst xmlns:a="http://schemas.openxmlformats.org/drawingml/2006/main">
              <a:ext uri="{FF2B5EF4-FFF2-40B4-BE49-F238E27FC236}">
                <a16:creationId xmlns:a16="http://schemas.microsoft.com/office/drawing/2014/main" id="{5EFD08A2-2FE8-4B32-9D00-207451D649C9}"/>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19</a:t>
            </a:r>
          </a:p>
        </p:txBody>
      </p:sp>
      <p:graphicFrame>
        <p:nvGraphicFramePr>
          <p:cNvPr id="5" name="">
            <a:extLst xmlns:a="http://schemas.openxmlformats.org/drawingml/2006/main">
              <a:ext uri="{FF2B5EF4-FFF2-40B4-BE49-F238E27FC236}">
                <a16:creationId xmlns:a16="http://schemas.microsoft.com/office/drawing/2014/main" id="{F3A53699-9F8B-4078-9464-A4F744DA9E48}"/>
              </a:ext>
            </a:extLst>
          </p:cNvPr>
          <p:cNvGraphicFramePr/>
          <p:nvPr/>
        </p:nvGraphicFramePr>
        <p:xfrm>
          <a:off xmlns:a="http://schemas.openxmlformats.org/drawingml/2006/main" x="609600" y="1809750"/>
          <a:ext xmlns:a="http://schemas.openxmlformats.org/drawingml/2006/main" cx="14020800" cy="5334000"/>
        </p:xfrm>
        <a:graphic xmlns:a="http://schemas.openxmlformats.org/drawingml/2006/main">
          <a:graphicData uri="http://schemas.openxmlformats.org/drawingml/2006/table">
            <a:tbl>
              <a:tblPr/>
              <a:tblGrid>
                <a:gridCol w="3048000"/>
                <a:gridCol w="10972800"/>
              </a:tblGrid>
              <a:tr h="552450">
                <a:tc>
                  <a:txBody>
                    <a:bodyPr lIns="114300" tIns="114300" rIns="114300" bIns="114300"/>
                    <a:lstStyle/>
                    <a:p>
                      <a:r>
                        <a:rPr sz="1800" b="1">
                          <a:solidFill>
                            <a:srgbClr val="352E28"/>
                          </a:solidFill>
                          <a:latin typeface="Malgun Gothic"/>
                          <a:ea typeface="Malgun Gothic"/>
                          <a:cs typeface="Malgun Gothic"/>
                        </a:rPr>
                        <a:t>단계</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작업 내용</a:t>
                      </a:r>
                    </a:p>
                  </a:txBody>
                  <a:tcPr marL="91440" marR="91440" marT="45720" marB="45720" anchor="ctr">
                    <a:solidFill>
                      <a:srgbClr val="E9DCC5"/>
                    </a:solidFill>
                  </a:tcPr>
                </a:tc>
              </a:tr>
              <a:tr h="4781550">
                <a:tc>
                  <a:txBody>
                    <a:bodyPr lIns="114300" tIns="114300" rIns="114300" bIns="114300"/>
                    <a:lstStyle/>
                    <a:p>
                      <a:r>
                        <a:rPr sz="1800" b="0">
                          <a:solidFill>
                            <a:srgbClr val="352E28"/>
                          </a:solidFill>
                          <a:latin typeface="Malgun Gothic"/>
                          <a:ea typeface="Malgun Gothic"/>
                          <a:cs typeface="Malgun Gothic"/>
                        </a:rPr>
                        <a:t>7. MTV 이후 Worker2 편입</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원본 보관·원복 조건을 확인한 뒤 HV#01에 신규 노드용 설정을 적용하고 Worker2로 편입합니다.</a:t>
                      </a:r>
                    </a:p>
                  </a:txBody>
                  <a:tcPr marL="91440" marR="91440" marT="45720" marB="45720" anchor="ctr">
                    <a:solidFill>
                      <a:srgbClr val="FFFAF0"/>
                    </a:solidFill>
                  </a:tcPr>
                </a:tc>
              </a:tr>
            </a:tbl>
          </a:graphicData>
        </a:graphic>
      </p:graphicFrame>
    </p:spTree>
    <p:extLst>
      <p:ext uri="{BB962C8B-B14F-4D97-AF65-F5344CB8AC3E}">
        <p14:creationId xmlns:p14="http://schemas.microsoft.com/office/powerpoint/2010/main" val="1250649589"/>
      </p:ext>
    </p:extLst>
  </p:cSld>
</p:sld>
</file>

<file path=ppt/slides/slide20.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E54FD36-EAF8-4054-AED0-43C19F66AC9A}"/>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VM별 사전 점검 및 시험 이관 (1/3)</a:t>
            </a:r>
          </a:p>
        </p:txBody>
      </p:sp>
      <p:sp>
        <p:nvSpPr>
          <p:cNvPr id="2" name="">
            <a:extLst xmlns:a="http://schemas.openxmlformats.org/drawingml/2006/main">
              <a:ext uri="{FF2B5EF4-FFF2-40B4-BE49-F238E27FC236}">
                <a16:creationId xmlns:a16="http://schemas.microsoft.com/office/drawing/2014/main" id="{8BD2614B-C061-4E1D-8590-C4B8321B6561}"/>
              </a:ext>
            </a:extLst>
          </p:cNvPr>
          <p:cNvSpPr>
            <a:spLocks xmlns:a="http://schemas.openxmlformats.org/drawingml/2006/main" noGrp="1"/>
          </p:cNvSpPr>
          <p:nvPr/>
        </p:nvSpPr>
        <p:spPr>
          <a:xfrm xmlns:a="http://schemas.openxmlformats.org/drawingml/2006/main">
            <a:off x="628650" y="1114425"/>
            <a:ext cx="1398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75685B"/>
                </a:solidFill>
                <a:latin typeface="Malgun Gothic"/>
                <a:ea typeface="Malgun Gothic"/>
                <a:cs typeface="Malgun Gothic"/>
              </a:defRPr>
            </a:defPPr>
          </a:lstStyle>
          <a:p xmlns:a="http://schemas.openxmlformats.org/drawingml/2006/main">
            <a:pPr algn="l">
              <a:defRPr sz="1575" b="0">
                <a:solidFill>
                  <a:srgbClr val="75685B"/>
                </a:solidFill>
                <a:latin typeface="Malgun Gothic"/>
                <a:ea typeface="Malgun Gothic"/>
                <a:cs typeface="Malgun Gothic"/>
              </a:defRPr>
            </a:pPr>
            <a:r>
              <a:rPr sz="1575" b="0">
                <a:solidFill>
                  <a:srgbClr val="75685B"/>
                </a:solidFill>
                <a:latin typeface="Malgun Gothic"/>
                <a:ea typeface="Malgun Gothic"/>
                <a:cs typeface="Malgun Gothic"/>
              </a:rPr>
              <a:t>단계별 수행 계획</a:t>
            </a:r>
          </a:p>
        </p:txBody>
      </p:sp>
      <p:sp>
        <p:nvSpPr>
          <p:cNvPr id="3" name="">
            <a:extLst xmlns:a="http://schemas.openxmlformats.org/drawingml/2006/main">
              <a:ext uri="{FF2B5EF4-FFF2-40B4-BE49-F238E27FC236}">
                <a16:creationId xmlns:a16="http://schemas.microsoft.com/office/drawing/2014/main" id="{DB451CC7-084C-4861-BAFC-5C79944F5ED6}"/>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4" name="">
            <a:extLst xmlns:a="http://schemas.openxmlformats.org/drawingml/2006/main">
              <a:ext uri="{FF2B5EF4-FFF2-40B4-BE49-F238E27FC236}">
                <a16:creationId xmlns:a16="http://schemas.microsoft.com/office/drawing/2014/main" id="{9D8569AE-1516-491E-989D-0641C85F1566}"/>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20</a:t>
            </a:r>
          </a:p>
        </p:txBody>
      </p:sp>
      <p:graphicFrame>
        <p:nvGraphicFramePr>
          <p:cNvPr id="5" name="">
            <a:extLst xmlns:a="http://schemas.openxmlformats.org/drawingml/2006/main">
              <a:ext uri="{FF2B5EF4-FFF2-40B4-BE49-F238E27FC236}">
                <a16:creationId xmlns:a16="http://schemas.microsoft.com/office/drawing/2014/main" id="{765CBADA-8632-409B-8B59-4CE29300399F}"/>
              </a:ext>
            </a:extLst>
          </p:cNvPr>
          <p:cNvGraphicFramePr/>
          <p:nvPr/>
        </p:nvGraphicFramePr>
        <p:xfrm>
          <a:off xmlns:a="http://schemas.openxmlformats.org/drawingml/2006/main" x="609600" y="1809750"/>
          <a:ext xmlns:a="http://schemas.openxmlformats.org/drawingml/2006/main" cx="14020800" cy="5334000"/>
        </p:xfrm>
        <a:graphic xmlns:a="http://schemas.openxmlformats.org/drawingml/2006/main">
          <a:graphicData uri="http://schemas.openxmlformats.org/drawingml/2006/table">
            <a:tbl>
              <a:tblPr/>
              <a:tblGrid>
                <a:gridCol w="2428875"/>
                <a:gridCol w="5857875"/>
                <a:gridCol w="5734050"/>
              </a:tblGrid>
              <a:tr h="552450">
                <a:tc>
                  <a:txBody>
                    <a:bodyPr lIns="114300" tIns="114300" rIns="114300" bIns="114300"/>
                    <a:lstStyle/>
                    <a:p>
                      <a:r>
                        <a:rPr sz="1800" b="1">
                          <a:solidFill>
                            <a:srgbClr val="352E28"/>
                          </a:solidFill>
                          <a:latin typeface="Malgun Gothic"/>
                          <a:ea typeface="Malgun Gothic"/>
                          <a:cs typeface="Malgun Gothic"/>
                        </a:rPr>
                        <a:t>점검 항목</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사전 조사·준비</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시험 이관 및 조치 기준</a:t>
                      </a:r>
                    </a:p>
                  </a:txBody>
                  <a:tcPr marL="91440" marR="91440" marT="45720" marB="45720" anchor="ctr">
                    <a:solidFill>
                      <a:srgbClr val="E9DCC5"/>
                    </a:solidFill>
                  </a:tcPr>
                </a:tc>
              </a:tr>
              <a:tr h="1593850">
                <a:tc>
                  <a:txBody>
                    <a:bodyPr lIns="114300" tIns="114300" rIns="114300" bIns="114300"/>
                    <a:lstStyle/>
                    <a:p>
                      <a:r>
                        <a:rPr sz="1800" b="0">
                          <a:solidFill>
                            <a:srgbClr val="352E28"/>
                          </a:solidFill>
                          <a:latin typeface="Malgun Gothic"/>
                          <a:ea typeface="Malgun Gothic"/>
                          <a:cs typeface="Malgun Gothic"/>
                        </a:rPr>
                        <a:t>OS·커널 및 지원 조합</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OS·커널·아키텍처와 적용 MTV·가상화 버전의 지원 여부를 확인합니다.</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주요 OS 유형별 대표 VM을 선정하여 변환·기동 결과를 확인합니다.</a:t>
                      </a:r>
                    </a:p>
                  </a:txBody>
                  <a:tcPr marL="91440" marR="91440" marT="45720" marB="45720" anchor="ctr">
                    <a:solidFill>
                      <a:srgbClr val="FFFAF0"/>
                    </a:solidFill>
                  </a:tcPr>
                </a:tc>
              </a:tr>
              <a:tr h="1593850">
                <a:tc>
                  <a:txBody>
                    <a:bodyPr lIns="114300" tIns="114300" rIns="114300" bIns="114300"/>
                    <a:lstStyle/>
                    <a:p>
                      <a:r>
                        <a:rPr sz="1800" b="0">
                          <a:solidFill>
                            <a:srgbClr val="352E28"/>
                          </a:solidFill>
                          <a:latin typeface="Malgun Gothic"/>
                          <a:ea typeface="Malgun Gothic"/>
                          <a:cs typeface="Malgun Gothic"/>
                        </a:rPr>
                        <a:t>부팅 방식·VirtIO 드라이버</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BIOS/UEFI, 부팅 디스크와 드라이버 상태를 기록하고 콘솔·복구 접근을 확보합니다.</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부팅 및 디스크·NIC 인식 결과를 확인하고 OS별 보정 절차를 작성합니다.</a:t>
                      </a:r>
                    </a:p>
                  </a:txBody>
                  <a:tcPr marL="91440" marR="91440" marT="45720" marB="45720" anchor="ctr">
                    <a:solidFill>
                      <a:srgbClr val="F7F0E4"/>
                    </a:solidFill>
                  </a:tcPr>
                </a:tc>
              </a:tr>
              <a:tr h="1593850">
                <a:tc>
                  <a:txBody>
                    <a:bodyPr lIns="114300" tIns="114300" rIns="114300" bIns="114300"/>
                    <a:lstStyle/>
                    <a:p>
                      <a:r>
                        <a:rPr sz="1800" b="0">
                          <a:solidFill>
                            <a:srgbClr val="352E28"/>
                          </a:solidFill>
                          <a:latin typeface="Malgun Gothic"/>
                          <a:ea typeface="Malgun Gothic"/>
                          <a:cs typeface="Malgun Gothic"/>
                        </a:rPr>
                        <a:t>디스크·마운트</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디스크별 용량·용도, Linux fstab·UUID·LVM, Windows 드라이브 문자를 기록합니다.</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데이터 디스크 누락, 마운트 및 애플리케이션 경로 변경 여부를 확인합니다.</a:t>
                      </a:r>
                    </a:p>
                  </a:txBody>
                  <a:tcPr marL="91440" marR="91440" marT="45720" marB="45720" anchor="ctr">
                    <a:solidFill>
                      <a:srgbClr val="FFFAF0"/>
                    </a:solidFill>
                  </a:tcPr>
                </a:tc>
              </a:tr>
            </a:tbl>
          </a:graphicData>
        </a:graphic>
      </p:graphicFrame>
    </p:spTree>
    <p:extLst>
      <p:ext uri="{BB962C8B-B14F-4D97-AF65-F5344CB8AC3E}">
        <p14:creationId xmlns:p14="http://schemas.microsoft.com/office/powerpoint/2010/main" val="497695002"/>
      </p:ext>
    </p:extLst>
  </p:cSld>
</p:sld>
</file>

<file path=ppt/slides/slide21.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BCD2613-3FA7-4366-81F6-E191DBB0DA65}"/>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VM별 사전 점검 및 시험 이관 (2/3)</a:t>
            </a:r>
          </a:p>
        </p:txBody>
      </p:sp>
      <p:sp>
        <p:nvSpPr>
          <p:cNvPr id="2" name="">
            <a:extLst xmlns:a="http://schemas.openxmlformats.org/drawingml/2006/main">
              <a:ext uri="{FF2B5EF4-FFF2-40B4-BE49-F238E27FC236}">
                <a16:creationId xmlns:a16="http://schemas.microsoft.com/office/drawing/2014/main" id="{CA224D06-0C58-43D4-8B3F-1BA2DF2BEE8C}"/>
              </a:ext>
            </a:extLst>
          </p:cNvPr>
          <p:cNvSpPr>
            <a:spLocks xmlns:a="http://schemas.openxmlformats.org/drawingml/2006/main" noGrp="1"/>
          </p:cNvSpPr>
          <p:nvPr/>
        </p:nvSpPr>
        <p:spPr>
          <a:xfrm xmlns:a="http://schemas.openxmlformats.org/drawingml/2006/main">
            <a:off x="628650" y="1114425"/>
            <a:ext cx="1398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75685B"/>
                </a:solidFill>
                <a:latin typeface="Malgun Gothic"/>
                <a:ea typeface="Malgun Gothic"/>
                <a:cs typeface="Malgun Gothic"/>
              </a:defRPr>
            </a:defPPr>
          </a:lstStyle>
          <a:p xmlns:a="http://schemas.openxmlformats.org/drawingml/2006/main">
            <a:pPr algn="l">
              <a:defRPr sz="1575" b="0">
                <a:solidFill>
                  <a:srgbClr val="75685B"/>
                </a:solidFill>
                <a:latin typeface="Malgun Gothic"/>
                <a:ea typeface="Malgun Gothic"/>
                <a:cs typeface="Malgun Gothic"/>
              </a:defRPr>
            </a:pPr>
            <a:r>
              <a:rPr sz="1575" b="0">
                <a:solidFill>
                  <a:srgbClr val="75685B"/>
                </a:solidFill>
                <a:latin typeface="Malgun Gothic"/>
                <a:ea typeface="Malgun Gothic"/>
                <a:cs typeface="Malgun Gothic"/>
              </a:rPr>
              <a:t>단계별 수행 계획</a:t>
            </a:r>
          </a:p>
        </p:txBody>
      </p:sp>
      <p:sp>
        <p:nvSpPr>
          <p:cNvPr id="3" name="">
            <a:extLst xmlns:a="http://schemas.openxmlformats.org/drawingml/2006/main">
              <a:ext uri="{FF2B5EF4-FFF2-40B4-BE49-F238E27FC236}">
                <a16:creationId xmlns:a16="http://schemas.microsoft.com/office/drawing/2014/main" id="{CA9D2951-9471-4E39-B06B-CC600BF577F0}"/>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4" name="">
            <a:extLst xmlns:a="http://schemas.openxmlformats.org/drawingml/2006/main">
              <a:ext uri="{FF2B5EF4-FFF2-40B4-BE49-F238E27FC236}">
                <a16:creationId xmlns:a16="http://schemas.microsoft.com/office/drawing/2014/main" id="{B8F96D27-5CA3-425B-9D4D-219E58FAEE30}"/>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21</a:t>
            </a:r>
          </a:p>
        </p:txBody>
      </p:sp>
      <p:graphicFrame>
        <p:nvGraphicFramePr>
          <p:cNvPr id="5" name="">
            <a:extLst xmlns:a="http://schemas.openxmlformats.org/drawingml/2006/main">
              <a:ext uri="{FF2B5EF4-FFF2-40B4-BE49-F238E27FC236}">
                <a16:creationId xmlns:a16="http://schemas.microsoft.com/office/drawing/2014/main" id="{70D64A77-83B4-4F4E-8DFB-343D64A3F89C}"/>
              </a:ext>
            </a:extLst>
          </p:cNvPr>
          <p:cNvGraphicFramePr/>
          <p:nvPr/>
        </p:nvGraphicFramePr>
        <p:xfrm>
          <a:off xmlns:a="http://schemas.openxmlformats.org/drawingml/2006/main" x="609600" y="1809750"/>
          <a:ext xmlns:a="http://schemas.openxmlformats.org/drawingml/2006/main" cx="14020800" cy="5334000"/>
        </p:xfrm>
        <a:graphic xmlns:a="http://schemas.openxmlformats.org/drawingml/2006/main">
          <a:graphicData uri="http://schemas.openxmlformats.org/drawingml/2006/table">
            <a:tbl>
              <a:tblPr/>
              <a:tblGrid>
                <a:gridCol w="2428875"/>
                <a:gridCol w="5857875"/>
                <a:gridCol w="5734050"/>
              </a:tblGrid>
              <a:tr h="552450">
                <a:tc>
                  <a:txBody>
                    <a:bodyPr lIns="114300" tIns="114300" rIns="114300" bIns="114300"/>
                    <a:lstStyle/>
                    <a:p>
                      <a:r>
                        <a:rPr sz="1800" b="1">
                          <a:solidFill>
                            <a:srgbClr val="352E28"/>
                          </a:solidFill>
                          <a:latin typeface="Malgun Gothic"/>
                          <a:ea typeface="Malgun Gothic"/>
                          <a:cs typeface="Malgun Gothic"/>
                        </a:rPr>
                        <a:t>점검 항목</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사전 조사·준비</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시험 이관 및 조치 기준</a:t>
                      </a:r>
                    </a:p>
                  </a:txBody>
                  <a:tcPr marL="91440" marR="91440" marT="45720" marB="45720" anchor="ctr">
                    <a:solidFill>
                      <a:srgbClr val="E9DCC5"/>
                    </a:solidFill>
                  </a:tcPr>
                </a:tc>
              </a:tr>
              <a:tr h="1593850">
                <a:tc>
                  <a:txBody>
                    <a:bodyPr lIns="114300" tIns="114300" rIns="114300" bIns="114300"/>
                    <a:lstStyle/>
                    <a:p>
                      <a:r>
                        <a:rPr sz="1800" b="0">
                          <a:solidFill>
                            <a:srgbClr val="352E28"/>
                          </a:solidFill>
                          <a:latin typeface="Malgun Gothic"/>
                          <a:ea typeface="Malgun Gothic"/>
                          <a:cs typeface="Malgun Gothic"/>
                        </a:rPr>
                        <a:t>NIC·IP·라우팅</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NIC별 이름·MAC·Port Group·VLAN·IP/Prefix, 게이트웨이·DNS·정적 경로·MTU를 기록하고 설정을 백업합니다.</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NetworkMap과 실제 대상 NIC를 대조합니다. 이름 또는 순서만으로 서비스망·NAS/BK망을 판단하지 않습니다.</a:t>
                      </a:r>
                    </a:p>
                  </a:txBody>
                  <a:tcPr marL="91440" marR="91440" marT="45720" marB="45720" anchor="ctr">
                    <a:solidFill>
                      <a:srgbClr val="FFFAF0"/>
                    </a:solidFill>
                  </a:tcPr>
                </a:tc>
              </a:tr>
              <a:tr h="1593850">
                <a:tc>
                  <a:txBody>
                    <a:bodyPr lIns="114300" tIns="114300" rIns="114300" bIns="114300"/>
                    <a:lstStyle/>
                    <a:p>
                      <a:r>
                        <a:rPr sz="1800" b="0">
                          <a:solidFill>
                            <a:srgbClr val="352E28"/>
                          </a:solidFill>
                          <a:latin typeface="Malgun Gothic"/>
                          <a:ea typeface="Malgun Gothic"/>
                          <a:cs typeface="Malgun Gothic"/>
                        </a:rPr>
                        <a:t>암호화·보안 부팅</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Secure Boot·vTPM·BitLocker·LUKS 사용 여부와 지원 절차를 확인합니다. 복구 키는 승인된 보관 위치에 확보합니다.</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해당 기능을 사용하는 VM은 적용 버전의 지원 절차를 검증합니다. 보고서에는 비밀 키를 기재하지 않습니다.</a:t>
                      </a:r>
                    </a:p>
                  </a:txBody>
                  <a:tcPr marL="91440" marR="91440" marT="45720" marB="45720" anchor="ctr">
                    <a:solidFill>
                      <a:srgbClr val="F7F0E4"/>
                    </a:solidFill>
                  </a:tcPr>
                </a:tc>
              </a:tr>
              <a:tr h="1593850">
                <a:tc>
                  <a:txBody>
                    <a:bodyPr lIns="114300" tIns="114300" rIns="114300" bIns="114300"/>
                    <a:lstStyle/>
                    <a:p>
                      <a:r>
                        <a:rPr sz="1800" b="0">
                          <a:solidFill>
                            <a:srgbClr val="352E28"/>
                          </a:solidFill>
                          <a:latin typeface="Malgun Gothic"/>
                          <a:ea typeface="Malgun Gothic"/>
                          <a:cs typeface="Malgun Gothic"/>
                        </a:rPr>
                        <a:t>게스트 도구·에이전트</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VMware Tools, QEMU Guest Agent, 보안·백업·모니터링 에이전트 현황을 기록합니다.</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변환 후 도구 처리 결과와 대상 에이전트 설치·동작을 확인합니다. VMware Tools 사전 제거를 일괄 지시하지 않습니다.</a:t>
                      </a:r>
                    </a:p>
                  </a:txBody>
                  <a:tcPr marL="91440" marR="91440" marT="45720" marB="45720" anchor="ctr">
                    <a:solidFill>
                      <a:srgbClr val="FFFAF0"/>
                    </a:solidFill>
                  </a:tcPr>
                </a:tc>
              </a:tr>
            </a:tbl>
          </a:graphicData>
        </a:graphic>
      </p:graphicFrame>
    </p:spTree>
    <p:extLst>
      <p:ext uri="{BB962C8B-B14F-4D97-AF65-F5344CB8AC3E}">
        <p14:creationId xmlns:p14="http://schemas.microsoft.com/office/powerpoint/2010/main" val="314475403"/>
      </p:ext>
    </p:extLst>
  </p:cSld>
</p:sld>
</file>

<file path=ppt/slides/slide22.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9FB7C10-90C6-40C0-AE90-4F7908922C3E}"/>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VM별 사전 점검 및 시험 이관 (3/3)</a:t>
            </a:r>
          </a:p>
        </p:txBody>
      </p:sp>
      <p:sp>
        <p:nvSpPr>
          <p:cNvPr id="2" name="">
            <a:extLst xmlns:a="http://schemas.openxmlformats.org/drawingml/2006/main">
              <a:ext uri="{FF2B5EF4-FFF2-40B4-BE49-F238E27FC236}">
                <a16:creationId xmlns:a16="http://schemas.microsoft.com/office/drawing/2014/main" id="{B0245F2F-92FE-4690-8684-828536C69F46}"/>
              </a:ext>
            </a:extLst>
          </p:cNvPr>
          <p:cNvSpPr>
            <a:spLocks xmlns:a="http://schemas.openxmlformats.org/drawingml/2006/main" noGrp="1"/>
          </p:cNvSpPr>
          <p:nvPr/>
        </p:nvSpPr>
        <p:spPr>
          <a:xfrm xmlns:a="http://schemas.openxmlformats.org/drawingml/2006/main">
            <a:off x="628650" y="1114425"/>
            <a:ext cx="1398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75685B"/>
                </a:solidFill>
                <a:latin typeface="Malgun Gothic"/>
                <a:ea typeface="Malgun Gothic"/>
                <a:cs typeface="Malgun Gothic"/>
              </a:defRPr>
            </a:defPPr>
          </a:lstStyle>
          <a:p xmlns:a="http://schemas.openxmlformats.org/drawingml/2006/main">
            <a:pPr algn="l">
              <a:defRPr sz="1575" b="0">
                <a:solidFill>
                  <a:srgbClr val="75685B"/>
                </a:solidFill>
                <a:latin typeface="Malgun Gothic"/>
                <a:ea typeface="Malgun Gothic"/>
                <a:cs typeface="Malgun Gothic"/>
              </a:defRPr>
            </a:pPr>
            <a:r>
              <a:rPr sz="1575" b="0">
                <a:solidFill>
                  <a:srgbClr val="75685B"/>
                </a:solidFill>
                <a:latin typeface="Malgun Gothic"/>
                <a:ea typeface="Malgun Gothic"/>
                <a:cs typeface="Malgun Gothic"/>
              </a:rPr>
              <a:t>단계별 수행 계획</a:t>
            </a:r>
          </a:p>
        </p:txBody>
      </p:sp>
      <p:sp>
        <p:nvSpPr>
          <p:cNvPr id="3" name="">
            <a:extLst xmlns:a="http://schemas.openxmlformats.org/drawingml/2006/main">
              <a:ext uri="{FF2B5EF4-FFF2-40B4-BE49-F238E27FC236}">
                <a16:creationId xmlns:a16="http://schemas.microsoft.com/office/drawing/2014/main" id="{F0B23CE3-D0BD-40C7-BA26-4B1EE03672BB}"/>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4" name="">
            <a:extLst xmlns:a="http://schemas.openxmlformats.org/drawingml/2006/main">
              <a:ext uri="{FF2B5EF4-FFF2-40B4-BE49-F238E27FC236}">
                <a16:creationId xmlns:a16="http://schemas.microsoft.com/office/drawing/2014/main" id="{0D861308-2889-44C4-815F-F4BF0B9082E5}"/>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22</a:t>
            </a:r>
          </a:p>
        </p:txBody>
      </p:sp>
      <p:graphicFrame>
        <p:nvGraphicFramePr>
          <p:cNvPr id="5" name="">
            <a:extLst xmlns:a="http://schemas.openxmlformats.org/drawingml/2006/main">
              <a:ext uri="{FF2B5EF4-FFF2-40B4-BE49-F238E27FC236}">
                <a16:creationId xmlns:a16="http://schemas.microsoft.com/office/drawing/2014/main" id="{3927DA84-5B68-4969-B68A-4B43F53791D0}"/>
              </a:ext>
            </a:extLst>
          </p:cNvPr>
          <p:cNvGraphicFramePr/>
          <p:nvPr/>
        </p:nvGraphicFramePr>
        <p:xfrm>
          <a:off xmlns:a="http://schemas.openxmlformats.org/drawingml/2006/main" x="609600" y="1809750"/>
          <a:ext xmlns:a="http://schemas.openxmlformats.org/drawingml/2006/main" cx="14020800" cy="5334000"/>
        </p:xfrm>
        <a:graphic xmlns:a="http://schemas.openxmlformats.org/drawingml/2006/main">
          <a:graphicData uri="http://schemas.openxmlformats.org/drawingml/2006/table">
            <a:tbl>
              <a:tblPr/>
              <a:tblGrid>
                <a:gridCol w="2428875"/>
                <a:gridCol w="5857875"/>
                <a:gridCol w="5734050"/>
              </a:tblGrid>
              <a:tr h="552450">
                <a:tc>
                  <a:txBody>
                    <a:bodyPr lIns="114300" tIns="114300" rIns="114300" bIns="114300"/>
                    <a:lstStyle/>
                    <a:p>
                      <a:r>
                        <a:rPr sz="1800" b="1">
                          <a:solidFill>
                            <a:srgbClr val="352E28"/>
                          </a:solidFill>
                          <a:latin typeface="Malgun Gothic"/>
                          <a:ea typeface="Malgun Gothic"/>
                          <a:cs typeface="Malgun Gothic"/>
                        </a:rPr>
                        <a:t>점검 항목</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사전 조사·준비</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시험 이관 및 조치 기준</a:t>
                      </a:r>
                    </a:p>
                  </a:txBody>
                  <a:tcPr marL="91440" marR="91440" marT="45720" marB="45720" anchor="ctr">
                    <a:solidFill>
                      <a:srgbClr val="E9DCC5"/>
                    </a:solidFill>
                  </a:tcPr>
                </a:tc>
              </a:tr>
              <a:tr h="1593850">
                <a:tc>
                  <a:txBody>
                    <a:bodyPr lIns="114300" tIns="114300" rIns="114300" bIns="114300"/>
                    <a:lstStyle/>
                    <a:p>
                      <a:r>
                        <a:rPr sz="1800" b="0">
                          <a:solidFill>
                            <a:srgbClr val="352E28"/>
                          </a:solidFill>
                          <a:latin typeface="Malgun Gothic"/>
                          <a:ea typeface="Malgun Gothic"/>
                          <a:cs typeface="Malgun Gothic"/>
                        </a:rPr>
                        <a:t>스냅샷·웜 이관 조건</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기존 스냅샷, CBT 상태 및 필요한 여유 공간을 확인합니다. Windows 웜 이관은 VSS 등 사전 조건을 확인합니다.</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사전 복사와 최종 변경분 반영이 정상 완료되는지 확인합니다.</a:t>
                      </a:r>
                    </a:p>
                  </a:txBody>
                  <a:tcPr marL="91440" marR="91440" marT="45720" marB="45720" anchor="ctr">
                    <a:solidFill>
                      <a:srgbClr val="FFFAF0"/>
                    </a:solidFill>
                  </a:tcPr>
                </a:tc>
              </a:tr>
              <a:tr h="1593850">
                <a:tc>
                  <a:txBody>
                    <a:bodyPr lIns="114300" tIns="114300" rIns="114300" bIns="114300"/>
                    <a:lstStyle/>
                    <a:p>
                      <a:r>
                        <a:rPr sz="1800" b="0">
                          <a:solidFill>
                            <a:srgbClr val="352E28"/>
                          </a:solidFill>
                          <a:latin typeface="Malgun Gothic"/>
                          <a:ea typeface="Malgun Gothic"/>
                          <a:cs typeface="Malgun Gothic"/>
                        </a:rPr>
                        <a:t>라이선스·시간·서비스</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하드웨어 정보 종속 라이선스, DNS·시간 동기화, 서비스 자동 기동·배치와 외부 연계를 조사합니다.</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재인증·재등록 필요 여부와 실제 업무 동작을 확인합니다.</a:t>
                      </a:r>
                    </a:p>
                  </a:txBody>
                  <a:tcPr marL="91440" marR="91440" marT="45720" marB="45720" anchor="ctr">
                    <a:solidFill>
                      <a:srgbClr val="F7F0E4"/>
                    </a:solidFill>
                  </a:tcPr>
                </a:tc>
              </a:tr>
              <a:tr h="1593850">
                <a:tc>
                  <a:txBody>
                    <a:bodyPr lIns="114300" tIns="114300" rIns="114300" bIns="114300"/>
                    <a:lstStyle/>
                    <a:p>
                      <a:r>
                        <a:rPr sz="1800" b="0">
                          <a:solidFill>
                            <a:srgbClr val="352E28"/>
                          </a:solidFill>
                          <a:latin typeface="Malgun Gothic"/>
                          <a:ea typeface="Malgun Gothic"/>
                          <a:cs typeface="Malgun Gothic"/>
                        </a:rPr>
                        <a:t>Worker1·EMC 수용 능력</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망별 Worker1 단독 운영 기간의 CPU·메모리와 원본·대상 스토리지 동시 사용량을 확인합니다.</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이관 복사와 운영 I/O가 겹치는 조건에서 응답시간·디스크 지연을 확인하고 회차·동시 이관 수를 결정합니다.</a:t>
                      </a:r>
                    </a:p>
                  </a:txBody>
                  <a:tcPr marL="91440" marR="91440" marT="45720" marB="45720" anchor="ctr">
                    <a:solidFill>
                      <a:srgbClr val="FFFAF0"/>
                    </a:solidFill>
                  </a:tcPr>
                </a:tc>
              </a:tr>
            </a:tbl>
          </a:graphicData>
        </a:graphic>
      </p:graphicFrame>
    </p:spTree>
    <p:extLst>
      <p:ext uri="{BB962C8B-B14F-4D97-AF65-F5344CB8AC3E}">
        <p14:creationId xmlns:p14="http://schemas.microsoft.com/office/powerpoint/2010/main" val="924318575"/>
      </p:ext>
    </p:extLst>
  </p:cSld>
</p:sld>
</file>

<file path=ppt/slides/slide23.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6DC39E5-4CAF-4AD1-B0ED-A300E8707799}"/>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VM 인터페이스 변경 대응 절차 (1/2)</a:t>
            </a:r>
          </a:p>
        </p:txBody>
      </p:sp>
      <p:sp>
        <p:nvSpPr>
          <p:cNvPr id="2" name="">
            <a:extLst xmlns:a="http://schemas.openxmlformats.org/drawingml/2006/main">
              <a:ext uri="{FF2B5EF4-FFF2-40B4-BE49-F238E27FC236}">
                <a16:creationId xmlns:a16="http://schemas.microsoft.com/office/drawing/2014/main" id="{9CE97423-9F72-40E3-A5B2-F4B4E28A9482}"/>
              </a:ext>
            </a:extLst>
          </p:cNvPr>
          <p:cNvSpPr>
            <a:spLocks xmlns:a="http://schemas.openxmlformats.org/drawingml/2006/main" noGrp="1"/>
          </p:cNvSpPr>
          <p:nvPr/>
        </p:nvSpPr>
        <p:spPr>
          <a:xfrm xmlns:a="http://schemas.openxmlformats.org/drawingml/2006/main">
            <a:off x="628650" y="1114425"/>
            <a:ext cx="1398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75685B"/>
                </a:solidFill>
                <a:latin typeface="Malgun Gothic"/>
                <a:ea typeface="Malgun Gothic"/>
                <a:cs typeface="Malgun Gothic"/>
              </a:defRPr>
            </a:defPPr>
          </a:lstStyle>
          <a:p xmlns:a="http://schemas.openxmlformats.org/drawingml/2006/main">
            <a:pPr algn="l">
              <a:defRPr sz="1575" b="0">
                <a:solidFill>
                  <a:srgbClr val="75685B"/>
                </a:solidFill>
                <a:latin typeface="Malgun Gothic"/>
                <a:ea typeface="Malgun Gothic"/>
                <a:cs typeface="Malgun Gothic"/>
              </a:defRPr>
            </a:pPr>
            <a:r>
              <a:rPr sz="1575" b="0">
                <a:solidFill>
                  <a:srgbClr val="75685B"/>
                </a:solidFill>
                <a:latin typeface="Malgun Gothic"/>
                <a:ea typeface="Malgun Gothic"/>
                <a:cs typeface="Malgun Gothic"/>
              </a:rPr>
              <a:t>단계별 수행 계획</a:t>
            </a:r>
          </a:p>
        </p:txBody>
      </p:sp>
      <p:sp>
        <p:nvSpPr>
          <p:cNvPr id="3" name="">
            <a:extLst xmlns:a="http://schemas.openxmlformats.org/drawingml/2006/main">
              <a:ext uri="{FF2B5EF4-FFF2-40B4-BE49-F238E27FC236}">
                <a16:creationId xmlns:a16="http://schemas.microsoft.com/office/drawing/2014/main" id="{F6EBD3B0-A13F-453B-8477-3B455C24630D}"/>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4" name="">
            <a:extLst xmlns:a="http://schemas.openxmlformats.org/drawingml/2006/main">
              <a:ext uri="{FF2B5EF4-FFF2-40B4-BE49-F238E27FC236}">
                <a16:creationId xmlns:a16="http://schemas.microsoft.com/office/drawing/2014/main" id="{C3C2CB81-E7FA-413D-A584-66D4B77C73FF}"/>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23</a:t>
            </a:r>
          </a:p>
        </p:txBody>
      </p:sp>
      <p:graphicFrame>
        <p:nvGraphicFramePr>
          <p:cNvPr id="5" name="">
            <a:extLst xmlns:a="http://schemas.openxmlformats.org/drawingml/2006/main">
              <a:ext uri="{FF2B5EF4-FFF2-40B4-BE49-F238E27FC236}">
                <a16:creationId xmlns:a16="http://schemas.microsoft.com/office/drawing/2014/main" id="{0BBE16C1-86E6-46E7-A4F6-F110321A2C7C}"/>
              </a:ext>
            </a:extLst>
          </p:cNvPr>
          <p:cNvGraphicFramePr/>
          <p:nvPr/>
        </p:nvGraphicFramePr>
        <p:xfrm>
          <a:off xmlns:a="http://schemas.openxmlformats.org/drawingml/2006/main" x="609600" y="1809750"/>
          <a:ext xmlns:a="http://schemas.openxmlformats.org/drawingml/2006/main" cx="14020800" cy="5334000"/>
        </p:xfrm>
        <a:graphic xmlns:a="http://schemas.openxmlformats.org/drawingml/2006/main">
          <a:graphicData uri="http://schemas.openxmlformats.org/drawingml/2006/table">
            <a:tbl>
              <a:tblPr/>
              <a:tblGrid>
                <a:gridCol w="3048000"/>
                <a:gridCol w="10972800"/>
              </a:tblGrid>
              <a:tr h="552450">
                <a:tc>
                  <a:txBody>
                    <a:bodyPr lIns="114300" tIns="114300" rIns="114300" bIns="114300"/>
                    <a:lstStyle/>
                    <a:p>
                      <a:r>
                        <a:rPr sz="1800" b="1">
                          <a:solidFill>
                            <a:srgbClr val="352E28"/>
                          </a:solidFill>
                          <a:latin typeface="Malgun Gothic"/>
                          <a:ea typeface="Malgun Gothic"/>
                          <a:cs typeface="Malgun Gothic"/>
                        </a:rPr>
                        <a:t>순서</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수행 내용</a:t>
                      </a:r>
                    </a:p>
                  </a:txBody>
                  <a:tcPr marL="91440" marR="91440" marT="45720" marB="45720" anchor="ctr">
                    <a:solidFill>
                      <a:srgbClr val="E9DCC5"/>
                    </a:solidFill>
                  </a:tcPr>
                </a:tc>
              </a:tr>
              <a:tr h="1593850">
                <a:tc>
                  <a:txBody>
                    <a:bodyPr lIns="114300" tIns="114300" rIns="114300" bIns="114300"/>
                    <a:lstStyle/>
                    <a:p>
                      <a:r>
                        <a:rPr sz="1800" b="0">
                          <a:solidFill>
                            <a:srgbClr val="352E28"/>
                          </a:solidFill>
                          <a:latin typeface="Malgun Gothic"/>
                          <a:ea typeface="Malgun Gothic"/>
                          <a:cs typeface="Malgun Gothic"/>
                        </a:rPr>
                        <a:t>1. 사전 기록·백업</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VM별 NIC 매핑표와 IP·경로 정보를 확보하고 게스트 네트워크 설정을 백업합니다.</a:t>
                      </a:r>
                    </a:p>
                  </a:txBody>
                  <a:tcPr marL="91440" marR="91440" marT="45720" marB="45720" anchor="ctr">
                    <a:solidFill>
                      <a:srgbClr val="FFFAF0"/>
                    </a:solidFill>
                  </a:tcPr>
                </a:tc>
              </a:tr>
              <a:tr h="1593850">
                <a:tc>
                  <a:txBody>
                    <a:bodyPr lIns="114300" tIns="114300" rIns="114300" bIns="114300"/>
                    <a:lstStyle/>
                    <a:p>
                      <a:r>
                        <a:rPr sz="1800" b="0">
                          <a:solidFill>
                            <a:srgbClr val="352E28"/>
                          </a:solidFill>
                          <a:latin typeface="Malgun Gothic"/>
                          <a:ea typeface="Malgun Gothic"/>
                          <a:cs typeface="Malgun Gothic"/>
                        </a:rPr>
                        <a:t>2. 이관·전환</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원본 VM 종료와 최종 데이터 반영 이후 대상 VM을 운영망에서 기동합니다. 동일 IP의 원본·대상이 동시에 활성화되지 않도록 합니다.</a:t>
                      </a:r>
                    </a:p>
                  </a:txBody>
                  <a:tcPr marL="91440" marR="91440" marT="45720" marB="45720" anchor="ctr">
                    <a:solidFill>
                      <a:srgbClr val="F7F0E4"/>
                    </a:solidFill>
                  </a:tcPr>
                </a:tc>
              </a:tr>
              <a:tr h="1593850">
                <a:tc>
                  <a:txBody>
                    <a:bodyPr lIns="114300" tIns="114300" rIns="114300" bIns="114300"/>
                    <a:lstStyle/>
                    <a:p>
                      <a:r>
                        <a:rPr sz="1800" b="0">
                          <a:solidFill>
                            <a:srgbClr val="352E28"/>
                          </a:solidFill>
                          <a:latin typeface="Malgun Gothic"/>
                          <a:ea typeface="Malgun Gothic"/>
                          <a:cs typeface="Malgun Gothic"/>
                        </a:rPr>
                        <a:t>3. 콘솔 확인</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대상 VM 콘솔에서 NIC 이름·MAC·IP 적용 상태를 확인하고 NetworkMap 및 사전 기록과 대조합니다.</a:t>
                      </a:r>
                    </a:p>
                  </a:txBody>
                  <a:tcPr marL="91440" marR="91440" marT="45720" marB="45720" anchor="ctr">
                    <a:solidFill>
                      <a:srgbClr val="FFFAF0"/>
                    </a:solidFill>
                  </a:tcPr>
                </a:tc>
              </a:tr>
            </a:tbl>
          </a:graphicData>
        </a:graphic>
      </p:graphicFrame>
    </p:spTree>
    <p:extLst>
      <p:ext uri="{BB962C8B-B14F-4D97-AF65-F5344CB8AC3E}">
        <p14:creationId xmlns:p14="http://schemas.microsoft.com/office/powerpoint/2010/main" val="86363969"/>
      </p:ext>
    </p:extLst>
  </p:cSld>
</p:sld>
</file>

<file path=ppt/slides/slide24.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65F12A6-FD86-4E82-8E13-EB7BD503350F}"/>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VM 인터페이스 변경 대응 절차 (2/2)</a:t>
            </a:r>
          </a:p>
        </p:txBody>
      </p:sp>
      <p:sp>
        <p:nvSpPr>
          <p:cNvPr id="2" name="">
            <a:extLst xmlns:a="http://schemas.openxmlformats.org/drawingml/2006/main">
              <a:ext uri="{FF2B5EF4-FFF2-40B4-BE49-F238E27FC236}">
                <a16:creationId xmlns:a16="http://schemas.microsoft.com/office/drawing/2014/main" id="{BD88629E-5957-45A7-9574-7B103A4545A1}"/>
              </a:ext>
            </a:extLst>
          </p:cNvPr>
          <p:cNvSpPr>
            <a:spLocks xmlns:a="http://schemas.openxmlformats.org/drawingml/2006/main" noGrp="1"/>
          </p:cNvSpPr>
          <p:nvPr/>
        </p:nvSpPr>
        <p:spPr>
          <a:xfrm xmlns:a="http://schemas.openxmlformats.org/drawingml/2006/main">
            <a:off x="628650" y="1114425"/>
            <a:ext cx="1398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75685B"/>
                </a:solidFill>
                <a:latin typeface="Malgun Gothic"/>
                <a:ea typeface="Malgun Gothic"/>
                <a:cs typeface="Malgun Gothic"/>
              </a:defRPr>
            </a:defPPr>
          </a:lstStyle>
          <a:p xmlns:a="http://schemas.openxmlformats.org/drawingml/2006/main">
            <a:pPr algn="l">
              <a:defRPr sz="1575" b="0">
                <a:solidFill>
                  <a:srgbClr val="75685B"/>
                </a:solidFill>
                <a:latin typeface="Malgun Gothic"/>
                <a:ea typeface="Malgun Gothic"/>
                <a:cs typeface="Malgun Gothic"/>
              </a:defRPr>
            </a:pPr>
            <a:r>
              <a:rPr sz="1575" b="0">
                <a:solidFill>
                  <a:srgbClr val="75685B"/>
                </a:solidFill>
                <a:latin typeface="Malgun Gothic"/>
                <a:ea typeface="Malgun Gothic"/>
                <a:cs typeface="Malgun Gothic"/>
              </a:rPr>
              <a:t>단계별 수행 계획</a:t>
            </a:r>
          </a:p>
        </p:txBody>
      </p:sp>
      <p:sp>
        <p:nvSpPr>
          <p:cNvPr id="3" name="">
            <a:extLst xmlns:a="http://schemas.openxmlformats.org/drawingml/2006/main">
              <a:ext uri="{FF2B5EF4-FFF2-40B4-BE49-F238E27FC236}">
                <a16:creationId xmlns:a16="http://schemas.microsoft.com/office/drawing/2014/main" id="{3ECA0FEF-AF34-4766-9C29-824830CC0604}"/>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4" name="">
            <a:extLst xmlns:a="http://schemas.openxmlformats.org/drawingml/2006/main">
              <a:ext uri="{FF2B5EF4-FFF2-40B4-BE49-F238E27FC236}">
                <a16:creationId xmlns:a16="http://schemas.microsoft.com/office/drawing/2014/main" id="{BA498D84-3128-4890-BEE7-C9DB6FF8B9EF}"/>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24</a:t>
            </a:r>
          </a:p>
        </p:txBody>
      </p:sp>
      <p:graphicFrame>
        <p:nvGraphicFramePr>
          <p:cNvPr id="5" name="">
            <a:extLst xmlns:a="http://schemas.openxmlformats.org/drawingml/2006/main">
              <a:ext uri="{FF2B5EF4-FFF2-40B4-BE49-F238E27FC236}">
                <a16:creationId xmlns:a16="http://schemas.microsoft.com/office/drawing/2014/main" id="{7077D685-CE14-4276-96E1-BA510621B60D}"/>
              </a:ext>
            </a:extLst>
          </p:cNvPr>
          <p:cNvGraphicFramePr/>
          <p:nvPr/>
        </p:nvGraphicFramePr>
        <p:xfrm>
          <a:off xmlns:a="http://schemas.openxmlformats.org/drawingml/2006/main" x="609600" y="1809750"/>
          <a:ext xmlns:a="http://schemas.openxmlformats.org/drawingml/2006/main" cx="14020800" cy="5334000"/>
        </p:xfrm>
        <a:graphic xmlns:a="http://schemas.openxmlformats.org/drawingml/2006/main">
          <a:graphicData uri="http://schemas.openxmlformats.org/drawingml/2006/table">
            <a:tbl>
              <a:tblPr/>
              <a:tblGrid>
                <a:gridCol w="3048000"/>
                <a:gridCol w="10972800"/>
              </a:tblGrid>
              <a:tr h="552450">
                <a:tc>
                  <a:txBody>
                    <a:bodyPr lIns="114300" tIns="114300" rIns="114300" bIns="114300"/>
                    <a:lstStyle/>
                    <a:p>
                      <a:r>
                        <a:rPr sz="1800" b="1">
                          <a:solidFill>
                            <a:srgbClr val="352E28"/>
                          </a:solidFill>
                          <a:latin typeface="Malgun Gothic"/>
                          <a:ea typeface="Malgun Gothic"/>
                          <a:cs typeface="Malgun Gothic"/>
                        </a:rPr>
                        <a:t>순서</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수행 내용</a:t>
                      </a:r>
                    </a:p>
                  </a:txBody>
                  <a:tcPr marL="91440" marR="91440" marT="45720" marB="45720" anchor="ctr">
                    <a:solidFill>
                      <a:srgbClr val="E9DCC5"/>
                    </a:solidFill>
                  </a:tcPr>
                </a:tc>
              </a:tr>
              <a:tr h="2390775">
                <a:tc>
                  <a:txBody>
                    <a:bodyPr lIns="114300" tIns="114300" rIns="114300" bIns="114300"/>
                    <a:lstStyle/>
                    <a:p>
                      <a:r>
                        <a:rPr sz="1800" b="0">
                          <a:solidFill>
                            <a:srgbClr val="352E28"/>
                          </a:solidFill>
                          <a:latin typeface="Malgun Gothic"/>
                          <a:ea typeface="Malgun Gothic"/>
                          <a:cs typeface="Malgun Gothic"/>
                        </a:rPr>
                        <a:t>4. 설정 보정</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필요한 경우 이름·MAC에 종속된 설정을 올바른 대상 NIC에 연결합니다. 기존 IP를 유지하는 계획에 따라 IP·게이트웨이·경로를 보정합니다.</a:t>
                      </a:r>
                    </a:p>
                  </a:txBody>
                  <a:tcPr marL="91440" marR="91440" marT="45720" marB="45720" anchor="ctr">
                    <a:solidFill>
                      <a:srgbClr val="FFFAF0"/>
                    </a:solidFill>
                  </a:tcPr>
                </a:tc>
              </a:tr>
              <a:tr h="2390775">
                <a:tc>
                  <a:txBody>
                    <a:bodyPr lIns="114300" tIns="114300" rIns="114300" bIns="114300"/>
                    <a:lstStyle/>
                    <a:p>
                      <a:r>
                        <a:rPr sz="1800" b="0">
                          <a:solidFill>
                            <a:srgbClr val="352E28"/>
                          </a:solidFill>
                          <a:latin typeface="Malgun Gothic"/>
                          <a:ea typeface="Malgun Gothic"/>
                          <a:cs typeface="Malgun Gothic"/>
                        </a:rPr>
                        <a:t>5. 검증·판단</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서비스·NAS/BK망별 통신과 업무를 확인합니다. 보정이 지연되는 경우 합의한 원복 기준에 따라 조치합니다.</a:t>
                      </a:r>
                    </a:p>
                  </a:txBody>
                  <a:tcPr marL="91440" marR="91440" marT="45720" marB="45720" anchor="ctr">
                    <a:solidFill>
                      <a:srgbClr val="F7F0E4"/>
                    </a:solidFill>
                  </a:tcPr>
                </a:tc>
              </a:tr>
            </a:tbl>
          </a:graphicData>
        </a:graphic>
      </p:graphicFrame>
    </p:spTree>
    <p:extLst>
      <p:ext uri="{BB962C8B-B14F-4D97-AF65-F5344CB8AC3E}">
        <p14:creationId xmlns:p14="http://schemas.microsoft.com/office/powerpoint/2010/main" val="2096668060"/>
      </p:ext>
    </p:extLst>
  </p:cSld>
</p:sld>
</file>

<file path=ppt/slides/slide25.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EC28FDF-29C7-433B-8E96-8CED93EB4D0B}"/>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VM별 NIC 매핑표 양식</a:t>
            </a:r>
          </a:p>
        </p:txBody>
      </p:sp>
      <p:sp>
        <p:nvSpPr>
          <p:cNvPr id="2" name="">
            <a:extLst xmlns:a="http://schemas.openxmlformats.org/drawingml/2006/main">
              <a:ext uri="{FF2B5EF4-FFF2-40B4-BE49-F238E27FC236}">
                <a16:creationId xmlns:a16="http://schemas.microsoft.com/office/drawing/2014/main" id="{3590FFE7-998A-4B14-8BBE-D5815578D919}"/>
              </a:ext>
            </a:extLst>
          </p:cNvPr>
          <p:cNvSpPr>
            <a:spLocks xmlns:a="http://schemas.openxmlformats.org/drawingml/2006/main" noGrp="1"/>
          </p:cNvSpPr>
          <p:nvPr/>
        </p:nvSpPr>
        <p:spPr>
          <a:xfrm xmlns:a="http://schemas.openxmlformats.org/drawingml/2006/main">
            <a:off x="628650" y="1114425"/>
            <a:ext cx="1398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75685B"/>
                </a:solidFill>
                <a:latin typeface="Malgun Gothic"/>
                <a:ea typeface="Malgun Gothic"/>
                <a:cs typeface="Malgun Gothic"/>
              </a:defRPr>
            </a:defPPr>
          </a:lstStyle>
          <a:p xmlns:a="http://schemas.openxmlformats.org/drawingml/2006/main">
            <a:pPr algn="l">
              <a:defRPr sz="1575" b="0">
                <a:solidFill>
                  <a:srgbClr val="75685B"/>
                </a:solidFill>
                <a:latin typeface="Malgun Gothic"/>
                <a:ea typeface="Malgun Gothic"/>
                <a:cs typeface="Malgun Gothic"/>
              </a:defRPr>
            </a:pPr>
            <a:r>
              <a:rPr sz="1575" b="0">
                <a:solidFill>
                  <a:srgbClr val="75685B"/>
                </a:solidFill>
                <a:latin typeface="Malgun Gothic"/>
                <a:ea typeface="Malgun Gothic"/>
                <a:cs typeface="Malgun Gothic"/>
              </a:rPr>
              <a:t>단계별 수행 계획</a:t>
            </a:r>
          </a:p>
        </p:txBody>
      </p:sp>
      <p:sp>
        <p:nvSpPr>
          <p:cNvPr id="3" name="">
            <a:extLst xmlns:a="http://schemas.openxmlformats.org/drawingml/2006/main">
              <a:ext uri="{FF2B5EF4-FFF2-40B4-BE49-F238E27FC236}">
                <a16:creationId xmlns:a16="http://schemas.microsoft.com/office/drawing/2014/main" id="{1F3C877F-AC0E-4182-9E16-B6879BD454AB}"/>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4" name="">
            <a:extLst xmlns:a="http://schemas.openxmlformats.org/drawingml/2006/main">
              <a:ext uri="{FF2B5EF4-FFF2-40B4-BE49-F238E27FC236}">
                <a16:creationId xmlns:a16="http://schemas.microsoft.com/office/drawing/2014/main" id="{EF270E62-3B24-41D3-86A1-070A8110754C}"/>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25</a:t>
            </a:r>
          </a:p>
        </p:txBody>
      </p:sp>
      <p:graphicFrame>
        <p:nvGraphicFramePr>
          <p:cNvPr id="5" name="">
            <a:extLst xmlns:a="http://schemas.openxmlformats.org/drawingml/2006/main">
              <a:ext uri="{FF2B5EF4-FFF2-40B4-BE49-F238E27FC236}">
                <a16:creationId xmlns:a16="http://schemas.microsoft.com/office/drawing/2014/main" id="{CD12A0A9-D074-43EE-A552-87DE80DFFB48}"/>
              </a:ext>
            </a:extLst>
          </p:cNvPr>
          <p:cNvGraphicFramePr/>
          <p:nvPr/>
        </p:nvGraphicFramePr>
        <p:xfrm>
          <a:off xmlns:a="http://schemas.openxmlformats.org/drawingml/2006/main" x="609600" y="1809750"/>
          <a:ext xmlns:a="http://schemas.openxmlformats.org/drawingml/2006/main" cx="14020800" cy="5334000"/>
        </p:xfrm>
        <a:graphic xmlns:a="http://schemas.openxmlformats.org/drawingml/2006/main">
          <a:graphicData uri="http://schemas.openxmlformats.org/drawingml/2006/table">
            <a:tbl>
              <a:tblPr/>
              <a:tblGrid>
                <a:gridCol w="2002971"/>
                <a:gridCol w="2002971"/>
                <a:gridCol w="2002971"/>
                <a:gridCol w="2002971"/>
                <a:gridCol w="2002971"/>
                <a:gridCol w="2002971"/>
                <a:gridCol w="2002971"/>
              </a:tblGrid>
              <a:tr h="552450">
                <a:tc>
                  <a:txBody>
                    <a:bodyPr lIns="114300" tIns="114300" rIns="114300" bIns="114300"/>
                    <a:lstStyle/>
                    <a:p>
                      <a:r>
                        <a:rPr sz="1575" b="1">
                          <a:solidFill>
                            <a:srgbClr val="352E28"/>
                          </a:solidFill>
                          <a:latin typeface="Malgun Gothic"/>
                          <a:ea typeface="Malgun Gothic"/>
                          <a:cs typeface="Malgun Gothic"/>
                        </a:rPr>
                        <a:t>VM명</a:t>
                      </a:r>
                    </a:p>
                  </a:txBody>
                  <a:tcPr marL="91440" marR="91440" marT="45720" marB="45720" anchor="ctr">
                    <a:solidFill>
                      <a:srgbClr val="E9DCC5"/>
                    </a:solidFill>
                  </a:tcPr>
                </a:tc>
                <a:tc>
                  <a:txBody>
                    <a:bodyPr lIns="114300" tIns="114300" rIns="114300" bIns="114300"/>
                    <a:lstStyle/>
                    <a:p>
                      <a:r>
                        <a:rPr sz="1575" b="1">
                          <a:solidFill>
                            <a:srgbClr val="352E28"/>
                          </a:solidFill>
                          <a:latin typeface="Malgun Gothic"/>
                          <a:ea typeface="Malgun Gothic"/>
                          <a:cs typeface="Malgun Gothic"/>
                        </a:rPr>
                        <a:t>용도</a:t>
                      </a:r>
                    </a:p>
                  </a:txBody>
                  <a:tcPr marL="91440" marR="91440" marT="45720" marB="45720" anchor="ctr">
                    <a:solidFill>
                      <a:srgbClr val="E9DCC5"/>
                    </a:solidFill>
                  </a:tcPr>
                </a:tc>
                <a:tc>
                  <a:txBody>
                    <a:bodyPr lIns="114300" tIns="114300" rIns="114300" bIns="114300"/>
                    <a:lstStyle/>
                    <a:p>
                      <a:r>
                        <a:rPr sz="1575" b="1">
                          <a:solidFill>
                            <a:srgbClr val="352E28"/>
                          </a:solidFill>
                          <a:latin typeface="Malgun Gothic"/>
                          <a:ea typeface="Malgun Gothic"/>
                          <a:cs typeface="Malgun Gothic"/>
                        </a:rPr>
                        <a:t>기존 NIC / MAC</a:t>
                      </a:r>
                    </a:p>
                  </a:txBody>
                  <a:tcPr marL="91440" marR="91440" marT="45720" marB="45720" anchor="ctr">
                    <a:solidFill>
                      <a:srgbClr val="E9DCC5"/>
                    </a:solidFill>
                  </a:tcPr>
                </a:tc>
                <a:tc>
                  <a:txBody>
                    <a:bodyPr lIns="114300" tIns="114300" rIns="114300" bIns="114300"/>
                    <a:lstStyle/>
                    <a:p>
                      <a:r>
                        <a:rPr sz="1575" b="1">
                          <a:solidFill>
                            <a:srgbClr val="352E28"/>
                          </a:solidFill>
                          <a:latin typeface="Malgun Gothic"/>
                          <a:ea typeface="Malgun Gothic"/>
                          <a:cs typeface="Malgun Gothic"/>
                        </a:rPr>
                        <a:t>기존 Port Group / VLAN</a:t>
                      </a:r>
                    </a:p>
                  </a:txBody>
                  <a:tcPr marL="91440" marR="91440" marT="45720" marB="45720" anchor="ctr">
                    <a:solidFill>
                      <a:srgbClr val="E9DCC5"/>
                    </a:solidFill>
                  </a:tcPr>
                </a:tc>
                <a:tc>
                  <a:txBody>
                    <a:bodyPr lIns="114300" tIns="114300" rIns="114300" bIns="114300"/>
                    <a:lstStyle/>
                    <a:p>
                      <a:r>
                        <a:rPr sz="1575" b="1">
                          <a:solidFill>
                            <a:srgbClr val="352E28"/>
                          </a:solidFill>
                          <a:latin typeface="Malgun Gothic"/>
                          <a:ea typeface="Malgun Gothic"/>
                          <a:cs typeface="Malgun Gothic"/>
                        </a:rPr>
                        <a:t>IP 상세정보</a:t>
                      </a:r>
                    </a:p>
                  </a:txBody>
                  <a:tcPr marL="91440" marR="91440" marT="45720" marB="45720" anchor="ctr">
                    <a:solidFill>
                      <a:srgbClr val="E9DCC5"/>
                    </a:solidFill>
                  </a:tcPr>
                </a:tc>
                <a:tc>
                  <a:txBody>
                    <a:bodyPr lIns="114300" tIns="114300" rIns="114300" bIns="114300"/>
                    <a:lstStyle/>
                    <a:p>
                      <a:r>
                        <a:rPr sz="1575" b="1">
                          <a:solidFill>
                            <a:srgbClr val="352E28"/>
                          </a:solidFill>
                          <a:latin typeface="Malgun Gothic"/>
                          <a:ea typeface="Malgun Gothic"/>
                          <a:cs typeface="Malgun Gothic"/>
                        </a:rPr>
                        <a:t>대상 NetworkMap·네트워크</a:t>
                      </a:r>
                    </a:p>
                  </a:txBody>
                  <a:tcPr marL="91440" marR="91440" marT="45720" marB="45720" anchor="ctr">
                    <a:solidFill>
                      <a:srgbClr val="E9DCC5"/>
                    </a:solidFill>
                  </a:tcPr>
                </a:tc>
                <a:tc>
                  <a:txBody>
                    <a:bodyPr lIns="114300" tIns="114300" rIns="114300" bIns="114300"/>
                    <a:lstStyle/>
                    <a:p>
                      <a:r>
                        <a:rPr sz="1575" b="1">
                          <a:solidFill>
                            <a:srgbClr val="352E28"/>
                          </a:solidFill>
                          <a:latin typeface="Malgun Gothic"/>
                          <a:ea typeface="Malgun Gothic"/>
                          <a:cs typeface="Malgun Gothic"/>
                        </a:rPr>
                        <a:t>이관 후 NIC / MAC</a:t>
                      </a:r>
                    </a:p>
                  </a:txBody>
                  <a:tcPr marL="91440" marR="91440" marT="45720" marB="45720" anchor="ctr">
                    <a:solidFill>
                      <a:srgbClr val="E9DCC5"/>
                    </a:solidFill>
                  </a:tcPr>
                </a:tc>
              </a:tr>
              <a:tr h="2390775">
                <a:tc>
                  <a:txBody>
                    <a:bodyPr lIns="114300" tIns="114300" rIns="114300" bIns="114300"/>
                    <a:lstStyle/>
                    <a:p>
                      <a:r>
                        <a:rPr sz="1575" b="0">
                          <a:solidFill>
                            <a:srgbClr val="352E28"/>
                          </a:solidFill>
                          <a:latin typeface="Malgun Gothic"/>
                          <a:ea typeface="Malgun Gothic"/>
                          <a:cs typeface="Malgun Gothic"/>
                        </a:rPr>
                        <a:t>기입</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서비스망</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기입</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기입</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국데터 SGIS 구성 참조</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기입</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이관 후 확인</a:t>
                      </a:r>
                    </a:p>
                  </a:txBody>
                  <a:tcPr marL="91440" marR="91440" marT="45720" marB="45720" anchor="ctr">
                    <a:solidFill>
                      <a:srgbClr val="FFFAF0"/>
                    </a:solidFill>
                  </a:tcPr>
                </a:tc>
              </a:tr>
              <a:tr h="2390775">
                <a:tc>
                  <a:txBody>
                    <a:bodyPr lIns="114300" tIns="114300" rIns="114300" bIns="114300"/>
                    <a:lstStyle/>
                    <a:p>
                      <a:r>
                        <a:rPr sz="1575" b="0">
                          <a:solidFill>
                            <a:srgbClr val="352E28"/>
                          </a:solidFill>
                          <a:latin typeface="Malgun Gothic"/>
                          <a:ea typeface="Malgun Gothic"/>
                          <a:cs typeface="Malgun Gothic"/>
                        </a:rPr>
                        <a:t>기입</a:t>
                      </a:r>
                    </a:p>
                  </a:txBody>
                  <a:tcPr marL="91440" marR="91440" marT="45720" marB="45720" anchor="ctr">
                    <a:solidFill>
                      <a:srgbClr val="F7F0E4"/>
                    </a:solidFill>
                  </a:tcPr>
                </a:tc>
                <a:tc>
                  <a:txBody>
                    <a:bodyPr lIns="114300" tIns="114300" rIns="114300" bIns="114300"/>
                    <a:lstStyle/>
                    <a:p>
                      <a:r>
                        <a:rPr sz="1575" b="0">
                          <a:solidFill>
                            <a:srgbClr val="352E28"/>
                          </a:solidFill>
                          <a:latin typeface="Malgun Gothic"/>
                          <a:ea typeface="Malgun Gothic"/>
                          <a:cs typeface="Malgun Gothic"/>
                        </a:rPr>
                        <a:t>NAS/BK망</a:t>
                      </a:r>
                    </a:p>
                  </a:txBody>
                  <a:tcPr marL="91440" marR="91440" marT="45720" marB="45720" anchor="ctr">
                    <a:solidFill>
                      <a:srgbClr val="F7F0E4"/>
                    </a:solidFill>
                  </a:tcPr>
                </a:tc>
                <a:tc>
                  <a:txBody>
                    <a:bodyPr lIns="114300" tIns="114300" rIns="114300" bIns="114300"/>
                    <a:lstStyle/>
                    <a:p>
                      <a:r>
                        <a:rPr sz="1575" b="0">
                          <a:solidFill>
                            <a:srgbClr val="352E28"/>
                          </a:solidFill>
                          <a:latin typeface="Malgun Gothic"/>
                          <a:ea typeface="Malgun Gothic"/>
                          <a:cs typeface="Malgun Gothic"/>
                        </a:rPr>
                        <a:t>기입</a:t>
                      </a:r>
                    </a:p>
                  </a:txBody>
                  <a:tcPr marL="91440" marR="91440" marT="45720" marB="45720" anchor="ctr">
                    <a:solidFill>
                      <a:srgbClr val="F7F0E4"/>
                    </a:solidFill>
                  </a:tcPr>
                </a:tc>
                <a:tc>
                  <a:txBody>
                    <a:bodyPr lIns="114300" tIns="114300" rIns="114300" bIns="114300"/>
                    <a:lstStyle/>
                    <a:p>
                      <a:r>
                        <a:rPr sz="1575" b="0">
                          <a:solidFill>
                            <a:srgbClr val="352E28"/>
                          </a:solidFill>
                          <a:latin typeface="Malgun Gothic"/>
                          <a:ea typeface="Malgun Gothic"/>
                          <a:cs typeface="Malgun Gothic"/>
                        </a:rPr>
                        <a:t>기입</a:t>
                      </a:r>
                    </a:p>
                  </a:txBody>
                  <a:tcPr marL="91440" marR="91440" marT="45720" marB="45720" anchor="ctr">
                    <a:solidFill>
                      <a:srgbClr val="F7F0E4"/>
                    </a:solidFill>
                  </a:tcPr>
                </a:tc>
                <a:tc>
                  <a:txBody>
                    <a:bodyPr lIns="114300" tIns="114300" rIns="114300" bIns="114300"/>
                    <a:lstStyle/>
                    <a:p>
                      <a:r>
                        <a:rPr sz="1575" b="0">
                          <a:solidFill>
                            <a:srgbClr val="352E28"/>
                          </a:solidFill>
                          <a:latin typeface="Malgun Gothic"/>
                          <a:ea typeface="Malgun Gothic"/>
                          <a:cs typeface="Malgun Gothic"/>
                        </a:rPr>
                        <a:t>국데터 SGIS 구성 참조</a:t>
                      </a:r>
                    </a:p>
                  </a:txBody>
                  <a:tcPr marL="91440" marR="91440" marT="45720" marB="45720" anchor="ctr">
                    <a:solidFill>
                      <a:srgbClr val="F7F0E4"/>
                    </a:solidFill>
                  </a:tcPr>
                </a:tc>
                <a:tc>
                  <a:txBody>
                    <a:bodyPr lIns="114300" tIns="114300" rIns="114300" bIns="114300"/>
                    <a:lstStyle/>
                    <a:p>
                      <a:r>
                        <a:rPr sz="1575" b="0">
                          <a:solidFill>
                            <a:srgbClr val="352E28"/>
                          </a:solidFill>
                          <a:latin typeface="Malgun Gothic"/>
                          <a:ea typeface="Malgun Gothic"/>
                          <a:cs typeface="Malgun Gothic"/>
                        </a:rPr>
                        <a:t>기입</a:t>
                      </a:r>
                    </a:p>
                  </a:txBody>
                  <a:tcPr marL="91440" marR="91440" marT="45720" marB="45720" anchor="ctr">
                    <a:solidFill>
                      <a:srgbClr val="F7F0E4"/>
                    </a:solidFill>
                  </a:tcPr>
                </a:tc>
                <a:tc>
                  <a:txBody>
                    <a:bodyPr lIns="114300" tIns="114300" rIns="114300" bIns="114300"/>
                    <a:lstStyle/>
                    <a:p>
                      <a:r>
                        <a:rPr sz="1575" b="0">
                          <a:solidFill>
                            <a:srgbClr val="352E28"/>
                          </a:solidFill>
                          <a:latin typeface="Malgun Gothic"/>
                          <a:ea typeface="Malgun Gothic"/>
                          <a:cs typeface="Malgun Gothic"/>
                        </a:rPr>
                        <a:t>이관 후 확인</a:t>
                      </a:r>
                    </a:p>
                  </a:txBody>
                  <a:tcPr marL="91440" marR="91440" marT="45720" marB="45720" anchor="ctr">
                    <a:solidFill>
                      <a:srgbClr val="F7F0E4"/>
                    </a:solidFill>
                  </a:tcPr>
                </a:tc>
              </a:tr>
            </a:tbl>
          </a:graphicData>
        </a:graphic>
      </p:graphicFrame>
    </p:spTree>
    <p:extLst>
      <p:ext uri="{BB962C8B-B14F-4D97-AF65-F5344CB8AC3E}">
        <p14:creationId xmlns:p14="http://schemas.microsoft.com/office/powerpoint/2010/main" val="2112299783"/>
      </p:ext>
    </p:extLst>
  </p:cSld>
</p:sld>
</file>

<file path=ppt/slides/slide26.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51545EC-1319-4F10-9187-3CAAC468BBCF}"/>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이관 방식별 서비스 전환 순서</a:t>
            </a:r>
          </a:p>
        </p:txBody>
      </p:sp>
      <p:sp>
        <p:nvSpPr>
          <p:cNvPr id="2" name="">
            <a:extLst xmlns:a="http://schemas.openxmlformats.org/drawingml/2006/main">
              <a:ext uri="{FF2B5EF4-FFF2-40B4-BE49-F238E27FC236}">
                <a16:creationId xmlns:a16="http://schemas.microsoft.com/office/drawing/2014/main" id="{14DD4DCA-6C67-4CD7-828F-D4A1B6C0EBC2}"/>
              </a:ext>
            </a:extLst>
          </p:cNvPr>
          <p:cNvSpPr>
            <a:spLocks xmlns:a="http://schemas.openxmlformats.org/drawingml/2006/main" noGrp="1"/>
          </p:cNvSpPr>
          <p:nvPr/>
        </p:nvSpPr>
        <p:spPr>
          <a:xfrm xmlns:a="http://schemas.openxmlformats.org/drawingml/2006/main">
            <a:off x="628650" y="1114425"/>
            <a:ext cx="1398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75685B"/>
                </a:solidFill>
                <a:latin typeface="Malgun Gothic"/>
                <a:ea typeface="Malgun Gothic"/>
                <a:cs typeface="Malgun Gothic"/>
              </a:defRPr>
            </a:defPPr>
          </a:lstStyle>
          <a:p xmlns:a="http://schemas.openxmlformats.org/drawingml/2006/main">
            <a:pPr algn="l">
              <a:defRPr sz="1575" b="0">
                <a:solidFill>
                  <a:srgbClr val="75685B"/>
                </a:solidFill>
                <a:latin typeface="Malgun Gothic"/>
                <a:ea typeface="Malgun Gothic"/>
                <a:cs typeface="Malgun Gothic"/>
              </a:defRPr>
            </a:pPr>
            <a:r>
              <a:rPr sz="1575" b="0">
                <a:solidFill>
                  <a:srgbClr val="75685B"/>
                </a:solidFill>
                <a:latin typeface="Malgun Gothic"/>
                <a:ea typeface="Malgun Gothic"/>
                <a:cs typeface="Malgun Gothic"/>
              </a:rPr>
              <a:t>단계별 수행 계획</a:t>
            </a:r>
          </a:p>
        </p:txBody>
      </p:sp>
      <p:sp>
        <p:nvSpPr>
          <p:cNvPr id="3" name="">
            <a:extLst xmlns:a="http://schemas.openxmlformats.org/drawingml/2006/main">
              <a:ext uri="{FF2B5EF4-FFF2-40B4-BE49-F238E27FC236}">
                <a16:creationId xmlns:a16="http://schemas.microsoft.com/office/drawing/2014/main" id="{35277425-6462-4331-9BB5-79325435A560}"/>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4" name="">
            <a:extLst xmlns:a="http://schemas.openxmlformats.org/drawingml/2006/main">
              <a:ext uri="{FF2B5EF4-FFF2-40B4-BE49-F238E27FC236}">
                <a16:creationId xmlns:a16="http://schemas.microsoft.com/office/drawing/2014/main" id="{D0ECA524-28F1-4EE9-8410-01FE8DBD1940}"/>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26</a:t>
            </a:r>
          </a:p>
        </p:txBody>
      </p:sp>
      <p:graphicFrame>
        <p:nvGraphicFramePr>
          <p:cNvPr id="5" name="">
            <a:extLst xmlns:a="http://schemas.openxmlformats.org/drawingml/2006/main">
              <a:ext uri="{FF2B5EF4-FFF2-40B4-BE49-F238E27FC236}">
                <a16:creationId xmlns:a16="http://schemas.microsoft.com/office/drawing/2014/main" id="{814025A2-4A61-465F-A7DB-846CC9D30A5B}"/>
              </a:ext>
            </a:extLst>
          </p:cNvPr>
          <p:cNvGraphicFramePr/>
          <p:nvPr/>
        </p:nvGraphicFramePr>
        <p:xfrm>
          <a:off xmlns:a="http://schemas.openxmlformats.org/drawingml/2006/main" x="609600" y="1809750"/>
          <a:ext xmlns:a="http://schemas.openxmlformats.org/drawingml/2006/main" cx="14020800" cy="5334000"/>
        </p:xfrm>
        <a:graphic xmlns:a="http://schemas.openxmlformats.org/drawingml/2006/main">
          <a:graphicData uri="http://schemas.openxmlformats.org/drawingml/2006/table">
            <a:tbl>
              <a:tblPr/>
              <a:tblGrid>
                <a:gridCol w="3048000"/>
                <a:gridCol w="10972800"/>
              </a:tblGrid>
              <a:tr h="552450">
                <a:tc>
                  <a:txBody>
                    <a:bodyPr lIns="114300" tIns="114300" rIns="114300" bIns="114300"/>
                    <a:lstStyle/>
                    <a:p>
                      <a:r>
                        <a:rPr sz="1800" b="1">
                          <a:solidFill>
                            <a:srgbClr val="352E28"/>
                          </a:solidFill>
                          <a:latin typeface="Malgun Gothic"/>
                          <a:ea typeface="Malgun Gothic"/>
                          <a:cs typeface="Malgun Gothic"/>
                        </a:rPr>
                        <a:t>방식</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작업 순서</a:t>
                      </a:r>
                    </a:p>
                  </a:txBody>
                  <a:tcPr marL="91440" marR="91440" marT="45720" marB="45720" anchor="ctr">
                    <a:solidFill>
                      <a:srgbClr val="E9DCC5"/>
                    </a:solidFill>
                  </a:tcPr>
                </a:tc>
              </a:tr>
              <a:tr h="2390775">
                <a:tc>
                  <a:txBody>
                    <a:bodyPr lIns="114300" tIns="114300" rIns="114300" bIns="114300"/>
                    <a:lstStyle/>
                    <a:p>
                      <a:r>
                        <a:rPr sz="1800" b="0">
                          <a:solidFill>
                            <a:srgbClr val="352E28"/>
                          </a:solidFill>
                          <a:latin typeface="Malgun Gothic"/>
                          <a:ea typeface="Malgun Gothic"/>
                          <a:cs typeface="Malgun Gothic"/>
                        </a:rPr>
                        <a:t>콜드 이관</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원본 VM 종료 → 데이터 복사·변환 → 대상 VM 기동 → 네트워크·업무 검증</a:t>
                      </a:r>
                    </a:p>
                  </a:txBody>
                  <a:tcPr marL="91440" marR="91440" marT="45720" marB="45720" anchor="ctr">
                    <a:solidFill>
                      <a:srgbClr val="FFFAF0"/>
                    </a:solidFill>
                  </a:tcPr>
                </a:tc>
              </a:tr>
              <a:tr h="2390775">
                <a:tc>
                  <a:txBody>
                    <a:bodyPr lIns="114300" tIns="114300" rIns="114300" bIns="114300"/>
                    <a:lstStyle/>
                    <a:p>
                      <a:r>
                        <a:rPr sz="1800" b="0">
                          <a:solidFill>
                            <a:srgbClr val="352E28"/>
                          </a:solidFill>
                          <a:latin typeface="Malgun Gothic"/>
                          <a:ea typeface="Malgun Gothic"/>
                          <a:cs typeface="Malgun Gothic"/>
                        </a:rPr>
                        <a:t>웜 이관</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원본 운영 중 사전 복사 → 전환 시 원본 VM 종료 → 최종 변경분 복사·변환 → 대상 VM 기동 → 네트워크·업무 검증</a:t>
                      </a:r>
                    </a:p>
                  </a:txBody>
                  <a:tcPr marL="91440" marR="91440" marT="45720" marB="45720" anchor="ctr">
                    <a:solidFill>
                      <a:srgbClr val="F7F0E4"/>
                    </a:solidFill>
                  </a:tcPr>
                </a:tc>
              </a:tr>
            </a:tbl>
          </a:graphicData>
        </a:graphic>
      </p:graphicFrame>
    </p:spTree>
    <p:extLst>
      <p:ext uri="{BB962C8B-B14F-4D97-AF65-F5344CB8AC3E}">
        <p14:creationId xmlns:p14="http://schemas.microsoft.com/office/powerpoint/2010/main" val="1393501859"/>
      </p:ext>
    </p:extLst>
  </p:cSld>
</p:sld>
</file>

<file path=ppt/slides/slide27.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F22A009-501F-41B2-88D6-E2525BF1B82B}"/>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회차별 이관 관리표</a:t>
            </a:r>
          </a:p>
        </p:txBody>
      </p:sp>
      <p:sp>
        <p:nvSpPr>
          <p:cNvPr id="2" name="">
            <a:extLst xmlns:a="http://schemas.openxmlformats.org/drawingml/2006/main">
              <a:ext uri="{FF2B5EF4-FFF2-40B4-BE49-F238E27FC236}">
                <a16:creationId xmlns:a16="http://schemas.microsoft.com/office/drawing/2014/main" id="{99558472-D88F-49D0-A8B3-037E5E84EC13}"/>
              </a:ext>
            </a:extLst>
          </p:cNvPr>
          <p:cNvSpPr>
            <a:spLocks xmlns:a="http://schemas.openxmlformats.org/drawingml/2006/main" noGrp="1"/>
          </p:cNvSpPr>
          <p:nvPr/>
        </p:nvSpPr>
        <p:spPr>
          <a:xfrm xmlns:a="http://schemas.openxmlformats.org/drawingml/2006/main">
            <a:off x="628650" y="1114425"/>
            <a:ext cx="1398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75685B"/>
                </a:solidFill>
                <a:latin typeface="Malgun Gothic"/>
                <a:ea typeface="Malgun Gothic"/>
                <a:cs typeface="Malgun Gothic"/>
              </a:defRPr>
            </a:defPPr>
          </a:lstStyle>
          <a:p xmlns:a="http://schemas.openxmlformats.org/drawingml/2006/main">
            <a:pPr algn="l">
              <a:defRPr sz="1575" b="0">
                <a:solidFill>
                  <a:srgbClr val="75685B"/>
                </a:solidFill>
                <a:latin typeface="Malgun Gothic"/>
                <a:ea typeface="Malgun Gothic"/>
                <a:cs typeface="Malgun Gothic"/>
              </a:defRPr>
            </a:pPr>
            <a:r>
              <a:rPr sz="1575" b="0">
                <a:solidFill>
                  <a:srgbClr val="75685B"/>
                </a:solidFill>
                <a:latin typeface="Malgun Gothic"/>
                <a:ea typeface="Malgun Gothic"/>
                <a:cs typeface="Malgun Gothic"/>
              </a:rPr>
              <a:t>단계별 수행 계획</a:t>
            </a:r>
          </a:p>
        </p:txBody>
      </p:sp>
      <p:sp>
        <p:nvSpPr>
          <p:cNvPr id="3" name="">
            <a:extLst xmlns:a="http://schemas.openxmlformats.org/drawingml/2006/main">
              <a:ext uri="{FF2B5EF4-FFF2-40B4-BE49-F238E27FC236}">
                <a16:creationId xmlns:a16="http://schemas.microsoft.com/office/drawing/2014/main" id="{30BF26F4-F0AC-4CB9-A572-10BF3B5977BC}"/>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4" name="">
            <a:extLst xmlns:a="http://schemas.openxmlformats.org/drawingml/2006/main">
              <a:ext uri="{FF2B5EF4-FFF2-40B4-BE49-F238E27FC236}">
                <a16:creationId xmlns:a16="http://schemas.microsoft.com/office/drawing/2014/main" id="{02F4A163-60F6-446D-B7E1-B275B867A693}"/>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27</a:t>
            </a:r>
          </a:p>
        </p:txBody>
      </p:sp>
      <p:graphicFrame>
        <p:nvGraphicFramePr>
          <p:cNvPr id="5" name="">
            <a:extLst xmlns:a="http://schemas.openxmlformats.org/drawingml/2006/main">
              <a:ext uri="{FF2B5EF4-FFF2-40B4-BE49-F238E27FC236}">
                <a16:creationId xmlns:a16="http://schemas.microsoft.com/office/drawing/2014/main" id="{84B79EEE-EBF7-4E60-9DCD-D8F5A8F8F2E0}"/>
              </a:ext>
            </a:extLst>
          </p:cNvPr>
          <p:cNvGraphicFramePr/>
          <p:nvPr/>
        </p:nvGraphicFramePr>
        <p:xfrm>
          <a:off xmlns:a="http://schemas.openxmlformats.org/drawingml/2006/main" x="609600" y="1809750"/>
          <a:ext xmlns:a="http://schemas.openxmlformats.org/drawingml/2006/main" cx="14020800" cy="5334000"/>
        </p:xfrm>
        <a:graphic xmlns:a="http://schemas.openxmlformats.org/drawingml/2006/main">
          <a:graphicData uri="http://schemas.openxmlformats.org/drawingml/2006/table">
            <a:tbl>
              <a:tblPr/>
              <a:tblGrid>
                <a:gridCol w="2002971"/>
                <a:gridCol w="2002971"/>
                <a:gridCol w="2002971"/>
                <a:gridCol w="2002971"/>
                <a:gridCol w="2002971"/>
                <a:gridCol w="2002971"/>
                <a:gridCol w="2002971"/>
              </a:tblGrid>
              <a:tr h="552450">
                <a:tc>
                  <a:txBody>
                    <a:bodyPr lIns="114300" tIns="114300" rIns="114300" bIns="114300"/>
                    <a:lstStyle/>
                    <a:p>
                      <a:r>
                        <a:rPr sz="1575" b="1">
                          <a:solidFill>
                            <a:srgbClr val="352E28"/>
                          </a:solidFill>
                          <a:latin typeface="Malgun Gothic"/>
                          <a:ea typeface="Malgun Gothic"/>
                          <a:cs typeface="Malgun Gothic"/>
                        </a:rPr>
                        <a:t>회차</a:t>
                      </a:r>
                    </a:p>
                  </a:txBody>
                  <a:tcPr marL="91440" marR="91440" marT="45720" marB="45720" anchor="ctr">
                    <a:solidFill>
                      <a:srgbClr val="E9DCC5"/>
                    </a:solidFill>
                  </a:tcPr>
                </a:tc>
                <a:tc>
                  <a:txBody>
                    <a:bodyPr lIns="114300" tIns="114300" rIns="114300" bIns="114300"/>
                    <a:lstStyle/>
                    <a:p>
                      <a:r>
                        <a:rPr sz="1575" b="1">
                          <a:solidFill>
                            <a:srgbClr val="352E28"/>
                          </a:solidFill>
                          <a:latin typeface="Malgun Gothic"/>
                          <a:ea typeface="Malgun Gothic"/>
                          <a:cs typeface="Malgun Gothic"/>
                        </a:rPr>
                        <a:t>예정일</a:t>
                      </a:r>
                    </a:p>
                  </a:txBody>
                  <a:tcPr marL="91440" marR="91440" marT="45720" marB="45720" anchor="ctr">
                    <a:solidFill>
                      <a:srgbClr val="E9DCC5"/>
                    </a:solidFill>
                  </a:tcPr>
                </a:tc>
                <a:tc>
                  <a:txBody>
                    <a:bodyPr lIns="114300" tIns="114300" rIns="114300" bIns="114300"/>
                    <a:lstStyle/>
                    <a:p>
                      <a:r>
                        <a:rPr sz="1575" b="1">
                          <a:solidFill>
                            <a:srgbClr val="352E28"/>
                          </a:solidFill>
                          <a:latin typeface="Malgun Gothic"/>
                          <a:ea typeface="Malgun Gothic"/>
                          <a:cs typeface="Malgun Gothic"/>
                        </a:rPr>
                        <a:t>망</a:t>
                      </a:r>
                    </a:p>
                  </a:txBody>
                  <a:tcPr marL="91440" marR="91440" marT="45720" marB="45720" anchor="ctr">
                    <a:solidFill>
                      <a:srgbClr val="E9DCC5"/>
                    </a:solidFill>
                  </a:tcPr>
                </a:tc>
                <a:tc>
                  <a:txBody>
                    <a:bodyPr lIns="114300" tIns="114300" rIns="114300" bIns="114300"/>
                    <a:lstStyle/>
                    <a:p>
                      <a:r>
                        <a:rPr sz="1575" b="1">
                          <a:solidFill>
                            <a:srgbClr val="352E28"/>
                          </a:solidFill>
                          <a:latin typeface="Malgun Gothic"/>
                          <a:ea typeface="Malgun Gothic"/>
                          <a:cs typeface="Malgun Gothic"/>
                        </a:rPr>
                        <a:t>대상 VM</a:t>
                      </a:r>
                    </a:p>
                  </a:txBody>
                  <a:tcPr marL="91440" marR="91440" marT="45720" marB="45720" anchor="ctr">
                    <a:solidFill>
                      <a:srgbClr val="E9DCC5"/>
                    </a:solidFill>
                  </a:tcPr>
                </a:tc>
                <a:tc>
                  <a:txBody>
                    <a:bodyPr lIns="114300" tIns="114300" rIns="114300" bIns="114300"/>
                    <a:lstStyle/>
                    <a:p>
                      <a:r>
                        <a:rPr sz="1575" b="1">
                          <a:solidFill>
                            <a:srgbClr val="352E28"/>
                          </a:solidFill>
                          <a:latin typeface="Malgun Gothic"/>
                          <a:ea typeface="Malgun Gothic"/>
                          <a:cs typeface="Malgun Gothic"/>
                        </a:rPr>
                        <a:t>방식</a:t>
                      </a:r>
                    </a:p>
                  </a:txBody>
                  <a:tcPr marL="91440" marR="91440" marT="45720" marB="45720" anchor="ctr">
                    <a:solidFill>
                      <a:srgbClr val="E9DCC5"/>
                    </a:solidFill>
                  </a:tcPr>
                </a:tc>
                <a:tc>
                  <a:txBody>
                    <a:bodyPr lIns="114300" tIns="114300" rIns="114300" bIns="114300"/>
                    <a:lstStyle/>
                    <a:p>
                      <a:r>
                        <a:rPr sz="1575" b="1">
                          <a:solidFill>
                            <a:srgbClr val="352E28"/>
                          </a:solidFill>
                          <a:latin typeface="Malgun Gothic"/>
                          <a:ea typeface="Malgun Gothic"/>
                          <a:cs typeface="Malgun Gothic"/>
                        </a:rPr>
                        <a:t>검증 결과</a:t>
                      </a:r>
                    </a:p>
                  </a:txBody>
                  <a:tcPr marL="91440" marR="91440" marT="45720" marB="45720" anchor="ctr">
                    <a:solidFill>
                      <a:srgbClr val="E9DCC5"/>
                    </a:solidFill>
                  </a:tcPr>
                </a:tc>
                <a:tc>
                  <a:txBody>
                    <a:bodyPr lIns="114300" tIns="114300" rIns="114300" bIns="114300"/>
                    <a:lstStyle/>
                    <a:p>
                      <a:r>
                        <a:rPr sz="1575" b="1">
                          <a:solidFill>
                            <a:srgbClr val="352E28"/>
                          </a:solidFill>
                          <a:latin typeface="Malgun Gothic"/>
                          <a:ea typeface="Malgun Gothic"/>
                          <a:cs typeface="Malgun Gothic"/>
                        </a:rPr>
                        <a:t>상태</a:t>
                      </a:r>
                    </a:p>
                  </a:txBody>
                  <a:tcPr marL="91440" marR="91440" marT="45720" marB="45720" anchor="ctr">
                    <a:solidFill>
                      <a:srgbClr val="E9DCC5"/>
                    </a:solidFill>
                  </a:tcPr>
                </a:tc>
              </a:tr>
              <a:tr h="1593850">
                <a:tc>
                  <a:txBody>
                    <a:bodyPr lIns="114300" tIns="114300" rIns="114300" bIns="114300"/>
                    <a:lstStyle/>
                    <a:p>
                      <a:r>
                        <a:rPr sz="1575" b="0">
                          <a:solidFill>
                            <a:srgbClr val="352E28"/>
                          </a:solidFill>
                          <a:latin typeface="Malgun Gothic"/>
                          <a:ea typeface="Malgun Gothic"/>
                          <a:cs typeface="Malgun Gothic"/>
                        </a:rPr>
                        <a:t>시험</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미정</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외부 / 내부</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선정 필요</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미정</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미수행</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계획</a:t>
                      </a:r>
                    </a:p>
                  </a:txBody>
                  <a:tcPr marL="91440" marR="91440" marT="45720" marB="45720" anchor="ctr">
                    <a:solidFill>
                      <a:srgbClr val="FFFAF0"/>
                    </a:solidFill>
                  </a:tcPr>
                </a:tc>
              </a:tr>
              <a:tr h="1593850">
                <a:tc>
                  <a:txBody>
                    <a:bodyPr lIns="114300" tIns="114300" rIns="114300" bIns="114300"/>
                    <a:lstStyle/>
                    <a:p>
                      <a:r>
                        <a:rPr sz="1575" b="0">
                          <a:solidFill>
                            <a:srgbClr val="352E28"/>
                          </a:solidFill>
                          <a:latin typeface="Malgun Gothic"/>
                          <a:ea typeface="Malgun Gothic"/>
                          <a:cs typeface="Malgun Gothic"/>
                        </a:rPr>
                        <a:t>본 이관 1차</a:t>
                      </a:r>
                    </a:p>
                  </a:txBody>
                  <a:tcPr marL="91440" marR="91440" marT="45720" marB="45720" anchor="ctr">
                    <a:solidFill>
                      <a:srgbClr val="F7F0E4"/>
                    </a:solidFill>
                  </a:tcPr>
                </a:tc>
                <a:tc>
                  <a:txBody>
                    <a:bodyPr lIns="114300" tIns="114300" rIns="114300" bIns="114300"/>
                    <a:lstStyle/>
                    <a:p>
                      <a:r>
                        <a:rPr sz="1575" b="0">
                          <a:solidFill>
                            <a:srgbClr val="352E28"/>
                          </a:solidFill>
                          <a:latin typeface="Malgun Gothic"/>
                          <a:ea typeface="Malgun Gothic"/>
                          <a:cs typeface="Malgun Gothic"/>
                        </a:rPr>
                        <a:t>미정</a:t>
                      </a:r>
                    </a:p>
                  </a:txBody>
                  <a:tcPr marL="91440" marR="91440" marT="45720" marB="45720" anchor="ctr">
                    <a:solidFill>
                      <a:srgbClr val="F7F0E4"/>
                    </a:solidFill>
                  </a:tcPr>
                </a:tc>
                <a:tc>
                  <a:txBody>
                    <a:bodyPr lIns="114300" tIns="114300" rIns="114300" bIns="114300"/>
                    <a:lstStyle/>
                    <a:p>
                      <a:r>
                        <a:rPr sz="1575" b="0">
                          <a:solidFill>
                            <a:srgbClr val="352E28"/>
                          </a:solidFill>
                          <a:latin typeface="Malgun Gothic"/>
                          <a:ea typeface="Malgun Gothic"/>
                          <a:cs typeface="Malgun Gothic"/>
                        </a:rPr>
                        <a:t>선정 필요</a:t>
                      </a:r>
                    </a:p>
                  </a:txBody>
                  <a:tcPr marL="91440" marR="91440" marT="45720" marB="45720" anchor="ctr">
                    <a:solidFill>
                      <a:srgbClr val="F7F0E4"/>
                    </a:solidFill>
                  </a:tcPr>
                </a:tc>
                <a:tc>
                  <a:txBody>
                    <a:bodyPr lIns="114300" tIns="114300" rIns="114300" bIns="114300"/>
                    <a:lstStyle/>
                    <a:p>
                      <a:r>
                        <a:rPr sz="1575" b="0">
                          <a:solidFill>
                            <a:srgbClr val="352E28"/>
                          </a:solidFill>
                          <a:latin typeface="Malgun Gothic"/>
                          <a:ea typeface="Malgun Gothic"/>
                          <a:cs typeface="Malgun Gothic"/>
                        </a:rPr>
                        <a:t>선정 필요</a:t>
                      </a:r>
                    </a:p>
                  </a:txBody>
                  <a:tcPr marL="91440" marR="91440" marT="45720" marB="45720" anchor="ctr">
                    <a:solidFill>
                      <a:srgbClr val="F7F0E4"/>
                    </a:solidFill>
                  </a:tcPr>
                </a:tc>
                <a:tc>
                  <a:txBody>
                    <a:bodyPr lIns="114300" tIns="114300" rIns="114300" bIns="114300"/>
                    <a:lstStyle/>
                    <a:p>
                      <a:r>
                        <a:rPr sz="1575" b="0">
                          <a:solidFill>
                            <a:srgbClr val="352E28"/>
                          </a:solidFill>
                          <a:latin typeface="Malgun Gothic"/>
                          <a:ea typeface="Malgun Gothic"/>
                          <a:cs typeface="Malgun Gothic"/>
                        </a:rPr>
                        <a:t>미정</a:t>
                      </a:r>
                    </a:p>
                  </a:txBody>
                  <a:tcPr marL="91440" marR="91440" marT="45720" marB="45720" anchor="ctr">
                    <a:solidFill>
                      <a:srgbClr val="F7F0E4"/>
                    </a:solidFill>
                  </a:tcPr>
                </a:tc>
                <a:tc>
                  <a:txBody>
                    <a:bodyPr lIns="114300" tIns="114300" rIns="114300" bIns="114300"/>
                    <a:lstStyle/>
                    <a:p>
                      <a:r>
                        <a:rPr sz="1575" b="0">
                          <a:solidFill>
                            <a:srgbClr val="352E28"/>
                          </a:solidFill>
                          <a:latin typeface="Malgun Gothic"/>
                          <a:ea typeface="Malgun Gothic"/>
                          <a:cs typeface="Malgun Gothic"/>
                        </a:rPr>
                        <a:t>미수행</a:t>
                      </a:r>
                    </a:p>
                  </a:txBody>
                  <a:tcPr marL="91440" marR="91440" marT="45720" marB="45720" anchor="ctr">
                    <a:solidFill>
                      <a:srgbClr val="F7F0E4"/>
                    </a:solidFill>
                  </a:tcPr>
                </a:tc>
                <a:tc>
                  <a:txBody>
                    <a:bodyPr lIns="114300" tIns="114300" rIns="114300" bIns="114300"/>
                    <a:lstStyle/>
                    <a:p>
                      <a:r>
                        <a:rPr sz="1575" b="0">
                          <a:solidFill>
                            <a:srgbClr val="352E28"/>
                          </a:solidFill>
                          <a:latin typeface="Malgun Gothic"/>
                          <a:ea typeface="Malgun Gothic"/>
                          <a:cs typeface="Malgun Gothic"/>
                        </a:rPr>
                        <a:t>계획</a:t>
                      </a:r>
                    </a:p>
                  </a:txBody>
                  <a:tcPr marL="91440" marR="91440" marT="45720" marB="45720" anchor="ctr">
                    <a:solidFill>
                      <a:srgbClr val="F7F0E4"/>
                    </a:solidFill>
                  </a:tcPr>
                </a:tc>
              </a:tr>
              <a:tr h="1593850">
                <a:tc>
                  <a:txBody>
                    <a:bodyPr lIns="114300" tIns="114300" rIns="114300" bIns="114300"/>
                    <a:lstStyle/>
                    <a:p>
                      <a:r>
                        <a:rPr sz="1575" b="0">
                          <a:solidFill>
                            <a:srgbClr val="352E28"/>
                          </a:solidFill>
                          <a:latin typeface="Malgun Gothic"/>
                          <a:ea typeface="Malgun Gothic"/>
                          <a:cs typeface="Malgun Gothic"/>
                        </a:rPr>
                        <a:t>추가 회차</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미정</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선정 필요</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선정 필요</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미정</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미수행</a:t>
                      </a:r>
                    </a:p>
                  </a:txBody>
                  <a:tcPr marL="91440" marR="91440" marT="45720" marB="45720" anchor="ctr">
                    <a:solidFill>
                      <a:srgbClr val="FFFAF0"/>
                    </a:solidFill>
                  </a:tcPr>
                </a:tc>
                <a:tc>
                  <a:txBody>
                    <a:bodyPr lIns="114300" tIns="114300" rIns="114300" bIns="114300"/>
                    <a:lstStyle/>
                    <a:p>
                      <a:r>
                        <a:rPr sz="1575" b="0">
                          <a:solidFill>
                            <a:srgbClr val="352E28"/>
                          </a:solidFill>
                          <a:latin typeface="Malgun Gothic"/>
                          <a:ea typeface="Malgun Gothic"/>
                          <a:cs typeface="Malgun Gothic"/>
                        </a:rPr>
                        <a:t>필요 시 추가</a:t>
                      </a:r>
                    </a:p>
                  </a:txBody>
                  <a:tcPr marL="91440" marR="91440" marT="45720" marB="45720" anchor="ctr">
                    <a:solidFill>
                      <a:srgbClr val="FFFAF0"/>
                    </a:solidFill>
                  </a:tcPr>
                </a:tc>
              </a:tr>
            </a:tbl>
          </a:graphicData>
        </a:graphic>
      </p:graphicFrame>
    </p:spTree>
    <p:extLst>
      <p:ext uri="{BB962C8B-B14F-4D97-AF65-F5344CB8AC3E}">
        <p14:creationId xmlns:p14="http://schemas.microsoft.com/office/powerpoint/2010/main" val="1930350778"/>
      </p:ext>
    </p:extLst>
  </p:cSld>
</p:sld>
</file>

<file path=ppt/slides/slide28.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A92C4CE-5682-49DC-BA31-58F7D33B9AB8}"/>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검증 및 복구 계획 (1/2)</a:t>
            </a:r>
          </a:p>
        </p:txBody>
      </p:sp>
      <p:sp>
        <p:nvSpPr>
          <p:cNvPr id="2" name="">
            <a:extLst xmlns:a="http://schemas.openxmlformats.org/drawingml/2006/main">
              <a:ext uri="{FF2B5EF4-FFF2-40B4-BE49-F238E27FC236}">
                <a16:creationId xmlns:a16="http://schemas.microsoft.com/office/drawing/2014/main" id="{64599A8A-F6DF-4FBA-8183-E4EC151C4B61}"/>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3" name="">
            <a:extLst xmlns:a="http://schemas.openxmlformats.org/drawingml/2006/main">
              <a:ext uri="{FF2B5EF4-FFF2-40B4-BE49-F238E27FC236}">
                <a16:creationId xmlns:a16="http://schemas.microsoft.com/office/drawing/2014/main" id="{F27147AA-46C1-4E3F-9836-52E75165B7A5}"/>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28</a:t>
            </a:r>
          </a:p>
        </p:txBody>
      </p:sp>
      <p:graphicFrame>
        <p:nvGraphicFramePr>
          <p:cNvPr id="4" name="">
            <a:extLst xmlns:a="http://schemas.openxmlformats.org/drawingml/2006/main">
              <a:ext uri="{FF2B5EF4-FFF2-40B4-BE49-F238E27FC236}">
                <a16:creationId xmlns:a16="http://schemas.microsoft.com/office/drawing/2014/main" id="{7701A86C-CA28-4EE4-8903-987075BE318F}"/>
              </a:ext>
            </a:extLst>
          </p:cNvPr>
          <p:cNvGraphicFramePr/>
          <p:nvPr/>
        </p:nvGraphicFramePr>
        <p:xfrm>
          <a:off xmlns:a="http://schemas.openxmlformats.org/drawingml/2006/main" x="609600" y="1809750"/>
          <a:ext xmlns:a="http://schemas.openxmlformats.org/drawingml/2006/main" cx="14020800" cy="5334000"/>
        </p:xfrm>
        <a:graphic xmlns:a="http://schemas.openxmlformats.org/drawingml/2006/main">
          <a:graphicData uri="http://schemas.openxmlformats.org/drawingml/2006/table">
            <a:tbl>
              <a:tblPr/>
              <a:tblGrid>
                <a:gridCol w="2428875"/>
                <a:gridCol w="5857875"/>
                <a:gridCol w="5734050"/>
              </a:tblGrid>
              <a:tr h="552450">
                <a:tc>
                  <a:txBody>
                    <a:bodyPr lIns="114300" tIns="114300" rIns="114300" bIns="114300"/>
                    <a:lstStyle/>
                    <a:p>
                      <a:r>
                        <a:rPr sz="1800" b="1">
                          <a:solidFill>
                            <a:srgbClr val="352E28"/>
                          </a:solidFill>
                          <a:latin typeface="Malgun Gothic"/>
                          <a:ea typeface="Malgun Gothic"/>
                          <a:cs typeface="Malgun Gothic"/>
                        </a:rPr>
                        <a:t>검증 구분</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확인 항목</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결과 기록</a:t>
                      </a:r>
                    </a:p>
                  </a:txBody>
                  <a:tcPr marL="91440" marR="91440" marT="45720" marB="45720" anchor="ctr">
                    <a:solidFill>
                      <a:srgbClr val="E9DCC5"/>
                    </a:solidFill>
                  </a:tcPr>
                </a:tc>
              </a:tr>
              <a:tr h="1593850">
                <a:tc>
                  <a:txBody>
                    <a:bodyPr lIns="114300" tIns="114300" rIns="114300" bIns="114300"/>
                    <a:lstStyle/>
                    <a:p>
                      <a:r>
                        <a:rPr sz="1800" b="0">
                          <a:solidFill>
                            <a:srgbClr val="352E28"/>
                          </a:solidFill>
                          <a:latin typeface="Malgun Gothic"/>
                          <a:ea typeface="Malgun Gothic"/>
                          <a:cs typeface="Malgun Gothic"/>
                        </a:rPr>
                        <a:t>VM 집약</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VM 수량, CPU·메모리 여유, 디스크·네트워크 접근, 업무 정상 여부</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작업 전후 비교</a:t>
                      </a:r>
                    </a:p>
                  </a:txBody>
                  <a:tcPr marL="91440" marR="91440" marT="45720" marB="45720" anchor="ctr">
                    <a:solidFill>
                      <a:srgbClr val="FFFAF0"/>
                    </a:solidFill>
                  </a:tcPr>
                </a:tc>
              </a:tr>
              <a:tr h="1593850">
                <a:tc>
                  <a:txBody>
                    <a:bodyPr lIns="114300" tIns="114300" rIns="114300" bIns="114300"/>
                    <a:lstStyle/>
                    <a:p>
                      <a:r>
                        <a:rPr sz="1800" b="0">
                          <a:solidFill>
                            <a:srgbClr val="352E28"/>
                          </a:solidFill>
                          <a:latin typeface="Malgun Gothic"/>
                          <a:ea typeface="Malgun Gothic"/>
                          <a:cs typeface="Malgun Gothic"/>
                        </a:rPr>
                        <a:t>OpenShift</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노드 상태, 플랫폼 구성요소 상태, DNS·NTP, 관리 접근</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구축 결과</a:t>
                      </a:r>
                    </a:p>
                  </a:txBody>
                  <a:tcPr marL="91440" marR="91440" marT="45720" marB="45720" anchor="ctr">
                    <a:solidFill>
                      <a:srgbClr val="F7F0E4"/>
                    </a:solidFill>
                  </a:tcPr>
                </a:tc>
              </a:tr>
              <a:tr h="1593850">
                <a:tc>
                  <a:txBody>
                    <a:bodyPr lIns="114300" tIns="114300" rIns="114300" bIns="114300"/>
                    <a:lstStyle/>
                    <a:p>
                      <a:r>
                        <a:rPr sz="1800" b="0">
                          <a:solidFill>
                            <a:srgbClr val="352E28"/>
                          </a:solidFill>
                          <a:latin typeface="Malgun Gothic"/>
                          <a:ea typeface="Malgun Gothic"/>
                          <a:cs typeface="Malgun Gothic"/>
                        </a:rPr>
                        <a:t>네트워크</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망별 IP/VLAN, 게이트웨이·경로, 서비스·관리·NAS/BK 접근</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연결 확인 결과</a:t>
                      </a:r>
                    </a:p>
                  </a:txBody>
                  <a:tcPr marL="91440" marR="91440" marT="45720" marB="45720" anchor="ctr">
                    <a:solidFill>
                      <a:srgbClr val="FFFAF0"/>
                    </a:solidFill>
                  </a:tcPr>
                </a:tc>
              </a:tr>
            </a:tbl>
          </a:graphicData>
        </a:graphic>
      </p:graphicFrame>
    </p:spTree>
    <p:extLst>
      <p:ext uri="{BB962C8B-B14F-4D97-AF65-F5344CB8AC3E}">
        <p14:creationId xmlns:p14="http://schemas.microsoft.com/office/powerpoint/2010/main" val="986277429"/>
      </p:ext>
    </p:extLst>
  </p:cSld>
</p:sld>
</file>

<file path=ppt/slides/slide29.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70C7779-DFEA-4AD8-9834-77890493EC0A}"/>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검증 및 복구 계획 (2/2)</a:t>
            </a:r>
          </a:p>
        </p:txBody>
      </p:sp>
      <p:sp>
        <p:nvSpPr>
          <p:cNvPr id="2" name="">
            <a:extLst xmlns:a="http://schemas.openxmlformats.org/drawingml/2006/main">
              <a:ext uri="{FF2B5EF4-FFF2-40B4-BE49-F238E27FC236}">
                <a16:creationId xmlns:a16="http://schemas.microsoft.com/office/drawing/2014/main" id="{8D1B128C-2E1E-47D3-8139-541D3E2D0680}"/>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3" name="">
            <a:extLst xmlns:a="http://schemas.openxmlformats.org/drawingml/2006/main">
              <a:ext uri="{FF2B5EF4-FFF2-40B4-BE49-F238E27FC236}">
                <a16:creationId xmlns:a16="http://schemas.microsoft.com/office/drawing/2014/main" id="{22676996-B3F6-4D96-8A43-5FAC578C01D9}"/>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29</a:t>
            </a:r>
          </a:p>
        </p:txBody>
      </p:sp>
      <p:graphicFrame>
        <p:nvGraphicFramePr>
          <p:cNvPr id="4" name="">
            <a:extLst xmlns:a="http://schemas.openxmlformats.org/drawingml/2006/main">
              <a:ext uri="{FF2B5EF4-FFF2-40B4-BE49-F238E27FC236}">
                <a16:creationId xmlns:a16="http://schemas.microsoft.com/office/drawing/2014/main" id="{BD3438B5-1673-476A-A790-04AC608CA9FB}"/>
              </a:ext>
            </a:extLst>
          </p:cNvPr>
          <p:cNvGraphicFramePr/>
          <p:nvPr/>
        </p:nvGraphicFramePr>
        <p:xfrm>
          <a:off xmlns:a="http://schemas.openxmlformats.org/drawingml/2006/main" x="609600" y="1809750"/>
          <a:ext xmlns:a="http://schemas.openxmlformats.org/drawingml/2006/main" cx="14020800" cy="5334000"/>
        </p:xfrm>
        <a:graphic xmlns:a="http://schemas.openxmlformats.org/drawingml/2006/main">
          <a:graphicData uri="http://schemas.openxmlformats.org/drawingml/2006/table">
            <a:tbl>
              <a:tblPr/>
              <a:tblGrid>
                <a:gridCol w="2428875"/>
                <a:gridCol w="5857875"/>
                <a:gridCol w="5734050"/>
              </a:tblGrid>
              <a:tr h="552450">
                <a:tc>
                  <a:txBody>
                    <a:bodyPr lIns="114300" tIns="114300" rIns="114300" bIns="114300"/>
                    <a:lstStyle/>
                    <a:p>
                      <a:r>
                        <a:rPr sz="1800" b="1">
                          <a:solidFill>
                            <a:srgbClr val="352E28"/>
                          </a:solidFill>
                          <a:latin typeface="Malgun Gothic"/>
                          <a:ea typeface="Malgun Gothic"/>
                          <a:cs typeface="Malgun Gothic"/>
                        </a:rPr>
                        <a:t>검증 구분</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확인 항목</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결과 기록</a:t>
                      </a:r>
                    </a:p>
                  </a:txBody>
                  <a:tcPr marL="91440" marR="91440" marT="45720" marB="45720" anchor="ctr">
                    <a:solidFill>
                      <a:srgbClr val="E9DCC5"/>
                    </a:solidFill>
                  </a:tcPr>
                </a:tc>
              </a:tr>
              <a:tr h="1593850">
                <a:tc>
                  <a:txBody>
                    <a:bodyPr lIns="114300" tIns="114300" rIns="114300" bIns="114300"/>
                    <a:lstStyle/>
                    <a:p>
                      <a:r>
                        <a:rPr sz="1800" b="0">
                          <a:solidFill>
                            <a:srgbClr val="352E28"/>
                          </a:solidFill>
                          <a:latin typeface="Malgun Gothic"/>
                          <a:ea typeface="Malgun Gothic"/>
                          <a:cs typeface="Malgun Gothic"/>
                        </a:rPr>
                        <a:t>EMC / CSI</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원본 FC LUN·VMFS 데이터스토어 정상 유지, CSI 상태, 대상 볼륨 생성·연결·읽기·쓰기, 여유 용량, 필요한 VM 기능</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스토리지 시험 결과</a:t>
                      </a:r>
                    </a:p>
                  </a:txBody>
                  <a:tcPr marL="91440" marR="91440" marT="45720" marB="45720" anchor="ctr">
                    <a:solidFill>
                      <a:srgbClr val="FFFAF0"/>
                    </a:solidFill>
                  </a:tcPr>
                </a:tc>
              </a:tr>
              <a:tr h="1593850">
                <a:tc>
                  <a:txBody>
                    <a:bodyPr lIns="114300" tIns="114300" rIns="114300" bIns="114300"/>
                    <a:lstStyle/>
                    <a:p>
                      <a:r>
                        <a:rPr sz="1800" b="0">
                          <a:solidFill>
                            <a:srgbClr val="352E28"/>
                          </a:solidFill>
                          <a:latin typeface="Malgun Gothic"/>
                          <a:ea typeface="Malgun Gothic"/>
                          <a:cs typeface="Malgun Gothic"/>
                        </a:rPr>
                        <a:t>VM 이관</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부팅, 디스크·NIC, IP, 시간 동기화, 애플리케이션·데이터 정합성</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VM별 검증표</a:t>
                      </a:r>
                    </a:p>
                  </a:txBody>
                  <a:tcPr marL="91440" marR="91440" marT="45720" marB="45720" anchor="ctr">
                    <a:solidFill>
                      <a:srgbClr val="F7F0E4"/>
                    </a:solidFill>
                  </a:tcPr>
                </a:tc>
              </a:tr>
              <a:tr h="1593850">
                <a:tc>
                  <a:txBody>
                    <a:bodyPr lIns="114300" tIns="114300" rIns="114300" bIns="114300"/>
                    <a:lstStyle/>
                    <a:p>
                      <a:r>
                        <a:rPr sz="1800" b="0">
                          <a:solidFill>
                            <a:srgbClr val="352E28"/>
                          </a:solidFill>
                          <a:latin typeface="Malgun Gothic"/>
                          <a:ea typeface="Malgun Gothic"/>
                          <a:cs typeface="Malgun Gothic"/>
                        </a:rPr>
                        <a:t>Worker2 추가</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노드 편입, 네트워크·스토리지, 합의한 VM 배치·이동 검증</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최종 구성 결과</a:t>
                      </a:r>
                    </a:p>
                  </a:txBody>
                  <a:tcPr marL="91440" marR="91440" marT="45720" marB="45720" anchor="ctr">
                    <a:solidFill>
                      <a:srgbClr val="FFFAF0"/>
                    </a:solidFill>
                  </a:tcPr>
                </a:tc>
              </a:tr>
            </a:tbl>
          </a:graphicData>
        </a:graphic>
      </p:graphicFrame>
    </p:spTree>
    <p:extLst>
      <p:ext uri="{BB962C8B-B14F-4D97-AF65-F5344CB8AC3E}">
        <p14:creationId xmlns:p14="http://schemas.microsoft.com/office/powerpoint/2010/main" val="1602167852"/>
      </p:ext>
    </p:extLst>
  </p:cSld>
</p:sld>
</file>

<file path=ppt/slides/slide30.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C368828-1CF6-4A84-80D6-3FC8D78FD420}"/>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VM별 이관 완료 점검표 (1/3)</a:t>
            </a:r>
          </a:p>
        </p:txBody>
      </p:sp>
      <p:sp>
        <p:nvSpPr>
          <p:cNvPr id="2" name="">
            <a:extLst xmlns:a="http://schemas.openxmlformats.org/drawingml/2006/main">
              <a:ext uri="{FF2B5EF4-FFF2-40B4-BE49-F238E27FC236}">
                <a16:creationId xmlns:a16="http://schemas.microsoft.com/office/drawing/2014/main" id="{E794635B-D59B-4B18-AEEC-B56EB34B69D5}"/>
              </a:ext>
            </a:extLst>
          </p:cNvPr>
          <p:cNvSpPr>
            <a:spLocks xmlns:a="http://schemas.openxmlformats.org/drawingml/2006/main" noGrp="1"/>
          </p:cNvSpPr>
          <p:nvPr/>
        </p:nvSpPr>
        <p:spPr>
          <a:xfrm xmlns:a="http://schemas.openxmlformats.org/drawingml/2006/main">
            <a:off x="628650" y="1114425"/>
            <a:ext cx="1398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75685B"/>
                </a:solidFill>
                <a:latin typeface="Malgun Gothic"/>
                <a:ea typeface="Malgun Gothic"/>
                <a:cs typeface="Malgun Gothic"/>
              </a:defRPr>
            </a:defPPr>
          </a:lstStyle>
          <a:p xmlns:a="http://schemas.openxmlformats.org/drawingml/2006/main">
            <a:pPr algn="l">
              <a:defRPr sz="1575" b="0">
                <a:solidFill>
                  <a:srgbClr val="75685B"/>
                </a:solidFill>
                <a:latin typeface="Malgun Gothic"/>
                <a:ea typeface="Malgun Gothic"/>
                <a:cs typeface="Malgun Gothic"/>
              </a:defRPr>
            </a:pPr>
            <a:r>
              <a:rPr sz="1575" b="0">
                <a:solidFill>
                  <a:srgbClr val="75685B"/>
                </a:solidFill>
                <a:latin typeface="Malgun Gothic"/>
                <a:ea typeface="Malgun Gothic"/>
                <a:cs typeface="Malgun Gothic"/>
              </a:rPr>
              <a:t>검증 및 복구 계획</a:t>
            </a:r>
          </a:p>
        </p:txBody>
      </p:sp>
      <p:sp>
        <p:nvSpPr>
          <p:cNvPr id="3" name="">
            <a:extLst xmlns:a="http://schemas.openxmlformats.org/drawingml/2006/main">
              <a:ext uri="{FF2B5EF4-FFF2-40B4-BE49-F238E27FC236}">
                <a16:creationId xmlns:a16="http://schemas.microsoft.com/office/drawing/2014/main" id="{00E5E28C-ED0E-4131-B21C-4F1E32C1211A}"/>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4" name="">
            <a:extLst xmlns:a="http://schemas.openxmlformats.org/drawingml/2006/main">
              <a:ext uri="{FF2B5EF4-FFF2-40B4-BE49-F238E27FC236}">
                <a16:creationId xmlns:a16="http://schemas.microsoft.com/office/drawing/2014/main" id="{5C507795-4279-45BE-A3B3-F4C12CDF9986}"/>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30</a:t>
            </a:r>
          </a:p>
        </p:txBody>
      </p:sp>
      <p:graphicFrame>
        <p:nvGraphicFramePr>
          <p:cNvPr id="5" name="">
            <a:extLst xmlns:a="http://schemas.openxmlformats.org/drawingml/2006/main">
              <a:ext uri="{FF2B5EF4-FFF2-40B4-BE49-F238E27FC236}">
                <a16:creationId xmlns:a16="http://schemas.microsoft.com/office/drawing/2014/main" id="{347929CE-94AA-48FB-8626-8384E391CFD7}"/>
              </a:ext>
            </a:extLst>
          </p:cNvPr>
          <p:cNvGraphicFramePr/>
          <p:nvPr/>
        </p:nvGraphicFramePr>
        <p:xfrm>
          <a:off xmlns:a="http://schemas.openxmlformats.org/drawingml/2006/main" x="609600" y="1809750"/>
          <a:ext xmlns:a="http://schemas.openxmlformats.org/drawingml/2006/main" cx="14020800" cy="5334000"/>
        </p:xfrm>
        <a:graphic xmlns:a="http://schemas.openxmlformats.org/drawingml/2006/main">
          <a:graphicData uri="http://schemas.openxmlformats.org/drawingml/2006/table">
            <a:tbl>
              <a:tblPr/>
              <a:tblGrid>
                <a:gridCol w="2428875"/>
                <a:gridCol w="5857875"/>
                <a:gridCol w="5734050"/>
              </a:tblGrid>
              <a:tr h="552450">
                <a:tc>
                  <a:txBody>
                    <a:bodyPr lIns="114300" tIns="114300" rIns="114300" bIns="114300"/>
                    <a:lstStyle/>
                    <a:p>
                      <a:r>
                        <a:rPr sz="1800" b="1">
                          <a:solidFill>
                            <a:srgbClr val="352E28"/>
                          </a:solidFill>
                          <a:latin typeface="Malgun Gothic"/>
                          <a:ea typeface="Malgun Gothic"/>
                          <a:cs typeface="Malgun Gothic"/>
                        </a:rPr>
                        <a:t>검증 항목</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완료 확인 기준</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결과 / 근거</a:t>
                      </a:r>
                    </a:p>
                  </a:txBody>
                  <a:tcPr marL="91440" marR="91440" marT="45720" marB="45720" anchor="ctr">
                    <a:solidFill>
                      <a:srgbClr val="E9DCC5"/>
                    </a:solidFill>
                  </a:tcPr>
                </a:tc>
              </a:tr>
              <a:tr h="1593850">
                <a:tc>
                  <a:txBody>
                    <a:bodyPr lIns="114300" tIns="114300" rIns="114300" bIns="114300"/>
                    <a:lstStyle/>
                    <a:p>
                      <a:r>
                        <a:rPr sz="1800" b="0">
                          <a:solidFill>
                            <a:srgbClr val="352E28"/>
                          </a:solidFill>
                          <a:latin typeface="Malgun Gothic"/>
                          <a:ea typeface="Malgun Gothic"/>
                          <a:cs typeface="Malgun Gothic"/>
                        </a:rPr>
                        <a:t>기동·디스크</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정상 부팅, 대상 디스크·용량·마운트·드라이브 문자 및 데이터 경로를 확인합니다.</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미수행</a:t>
                      </a:r>
                    </a:p>
                  </a:txBody>
                  <a:tcPr marL="91440" marR="91440" marT="45720" marB="45720" anchor="ctr">
                    <a:solidFill>
                      <a:srgbClr val="FFFAF0"/>
                    </a:solidFill>
                  </a:tcPr>
                </a:tc>
              </a:tr>
              <a:tr h="1593850">
                <a:tc>
                  <a:txBody>
                    <a:bodyPr lIns="114300" tIns="114300" rIns="114300" bIns="114300"/>
                    <a:lstStyle/>
                    <a:p>
                      <a:r>
                        <a:rPr sz="1800" b="0">
                          <a:solidFill>
                            <a:srgbClr val="352E28"/>
                          </a:solidFill>
                          <a:latin typeface="Malgun Gothic"/>
                          <a:ea typeface="Malgun Gothic"/>
                          <a:cs typeface="Malgun Gothic"/>
                        </a:rPr>
                        <a:t>NIC·IP·경로</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NIC별 연결망, IP·게이트웨이·DNS·정적 경로·MTU 및 원본과의 주소 중복 여부를 확인합니다.</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미수행</a:t>
                      </a:r>
                    </a:p>
                  </a:txBody>
                  <a:tcPr marL="91440" marR="91440" marT="45720" marB="45720" anchor="ctr">
                    <a:solidFill>
                      <a:srgbClr val="F7F0E4"/>
                    </a:solidFill>
                  </a:tcPr>
                </a:tc>
              </a:tr>
              <a:tr h="1593850">
                <a:tc>
                  <a:txBody>
                    <a:bodyPr lIns="114300" tIns="114300" rIns="114300" bIns="114300"/>
                    <a:lstStyle/>
                    <a:p>
                      <a:r>
                        <a:rPr sz="1800" b="0">
                          <a:solidFill>
                            <a:srgbClr val="352E28"/>
                          </a:solidFill>
                          <a:latin typeface="Malgun Gothic"/>
                          <a:ea typeface="Malgun Gothic"/>
                          <a:cs typeface="Malgun Gothic"/>
                        </a:rPr>
                        <a:t>업무·DB·망 연계</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서비스 자동 기동, 대표 업무 처리, 기존 DB 접속과 망 연계 송수신을 확인합니다. DB 레거시 풀은 재구성하지 않습니다.</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미수행</a:t>
                      </a:r>
                    </a:p>
                  </a:txBody>
                  <a:tcPr marL="91440" marR="91440" marT="45720" marB="45720" anchor="ctr">
                    <a:solidFill>
                      <a:srgbClr val="FFFAF0"/>
                    </a:solidFill>
                  </a:tcPr>
                </a:tc>
              </a:tr>
            </a:tbl>
          </a:graphicData>
        </a:graphic>
      </p:graphicFrame>
    </p:spTree>
    <p:extLst>
      <p:ext uri="{BB962C8B-B14F-4D97-AF65-F5344CB8AC3E}">
        <p14:creationId xmlns:p14="http://schemas.microsoft.com/office/powerpoint/2010/main" val="1905702695"/>
      </p:ext>
    </p:extLst>
  </p:cSld>
</p:sld>
</file>

<file path=ppt/slides/slide31.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E3B3DE6-561E-4E0F-ABA7-ADDA582B6B49}"/>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VM별 이관 완료 점검표 (2/3)</a:t>
            </a:r>
          </a:p>
        </p:txBody>
      </p:sp>
      <p:sp>
        <p:nvSpPr>
          <p:cNvPr id="2" name="">
            <a:extLst xmlns:a="http://schemas.openxmlformats.org/drawingml/2006/main">
              <a:ext uri="{FF2B5EF4-FFF2-40B4-BE49-F238E27FC236}">
                <a16:creationId xmlns:a16="http://schemas.microsoft.com/office/drawing/2014/main" id="{1BDC9DB9-8E2F-42E9-95F3-8FA1DFC10CB8}"/>
              </a:ext>
            </a:extLst>
          </p:cNvPr>
          <p:cNvSpPr>
            <a:spLocks xmlns:a="http://schemas.openxmlformats.org/drawingml/2006/main" noGrp="1"/>
          </p:cNvSpPr>
          <p:nvPr/>
        </p:nvSpPr>
        <p:spPr>
          <a:xfrm xmlns:a="http://schemas.openxmlformats.org/drawingml/2006/main">
            <a:off x="628650" y="1114425"/>
            <a:ext cx="1398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75685B"/>
                </a:solidFill>
                <a:latin typeface="Malgun Gothic"/>
                <a:ea typeface="Malgun Gothic"/>
                <a:cs typeface="Malgun Gothic"/>
              </a:defRPr>
            </a:defPPr>
          </a:lstStyle>
          <a:p xmlns:a="http://schemas.openxmlformats.org/drawingml/2006/main">
            <a:pPr algn="l">
              <a:defRPr sz="1575" b="0">
                <a:solidFill>
                  <a:srgbClr val="75685B"/>
                </a:solidFill>
                <a:latin typeface="Malgun Gothic"/>
                <a:ea typeface="Malgun Gothic"/>
                <a:cs typeface="Malgun Gothic"/>
              </a:defRPr>
            </a:pPr>
            <a:r>
              <a:rPr sz="1575" b="0">
                <a:solidFill>
                  <a:srgbClr val="75685B"/>
                </a:solidFill>
                <a:latin typeface="Malgun Gothic"/>
                <a:ea typeface="Malgun Gothic"/>
                <a:cs typeface="Malgun Gothic"/>
              </a:rPr>
              <a:t>검증 및 복구 계획</a:t>
            </a:r>
          </a:p>
        </p:txBody>
      </p:sp>
      <p:sp>
        <p:nvSpPr>
          <p:cNvPr id="3" name="">
            <a:extLst xmlns:a="http://schemas.openxmlformats.org/drawingml/2006/main">
              <a:ext uri="{FF2B5EF4-FFF2-40B4-BE49-F238E27FC236}">
                <a16:creationId xmlns:a16="http://schemas.microsoft.com/office/drawing/2014/main" id="{4885CE19-7E5E-46E9-B666-F2A68E772CE8}"/>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4" name="">
            <a:extLst xmlns:a="http://schemas.openxmlformats.org/drawingml/2006/main">
              <a:ext uri="{FF2B5EF4-FFF2-40B4-BE49-F238E27FC236}">
                <a16:creationId xmlns:a16="http://schemas.microsoft.com/office/drawing/2014/main" id="{088EC2B0-0EBD-4077-AC37-78C537053B23}"/>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31</a:t>
            </a:r>
          </a:p>
        </p:txBody>
      </p:sp>
      <p:graphicFrame>
        <p:nvGraphicFramePr>
          <p:cNvPr id="5" name="">
            <a:extLst xmlns:a="http://schemas.openxmlformats.org/drawingml/2006/main">
              <a:ext uri="{FF2B5EF4-FFF2-40B4-BE49-F238E27FC236}">
                <a16:creationId xmlns:a16="http://schemas.microsoft.com/office/drawing/2014/main" id="{79B04C01-85B4-4437-8E53-93BF2425B5DB}"/>
              </a:ext>
            </a:extLst>
          </p:cNvPr>
          <p:cNvGraphicFramePr/>
          <p:nvPr/>
        </p:nvGraphicFramePr>
        <p:xfrm>
          <a:off xmlns:a="http://schemas.openxmlformats.org/drawingml/2006/main" x="609600" y="1809750"/>
          <a:ext xmlns:a="http://schemas.openxmlformats.org/drawingml/2006/main" cx="14020800" cy="5334000"/>
        </p:xfrm>
        <a:graphic xmlns:a="http://schemas.openxmlformats.org/drawingml/2006/main">
          <a:graphicData uri="http://schemas.openxmlformats.org/drawingml/2006/table">
            <a:tbl>
              <a:tblPr/>
              <a:tblGrid>
                <a:gridCol w="2428875"/>
                <a:gridCol w="5857875"/>
                <a:gridCol w="5734050"/>
              </a:tblGrid>
              <a:tr h="552450">
                <a:tc>
                  <a:txBody>
                    <a:bodyPr lIns="114300" tIns="114300" rIns="114300" bIns="114300"/>
                    <a:lstStyle/>
                    <a:p>
                      <a:r>
                        <a:rPr sz="1800" b="1">
                          <a:solidFill>
                            <a:srgbClr val="352E28"/>
                          </a:solidFill>
                          <a:latin typeface="Malgun Gothic"/>
                          <a:ea typeface="Malgun Gothic"/>
                          <a:cs typeface="Malgun Gothic"/>
                        </a:rPr>
                        <a:t>검증 항목</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완료 확인 기준</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결과 / 근거</a:t>
                      </a:r>
                    </a:p>
                  </a:txBody>
                  <a:tcPr marL="91440" marR="91440" marT="45720" marB="45720" anchor="ctr">
                    <a:solidFill>
                      <a:srgbClr val="E9DCC5"/>
                    </a:solidFill>
                  </a:tcPr>
                </a:tc>
              </a:tr>
              <a:tr h="1593850">
                <a:tc>
                  <a:txBody>
                    <a:bodyPr lIns="114300" tIns="114300" rIns="114300" bIns="114300"/>
                    <a:lstStyle/>
                    <a:p>
                      <a:r>
                        <a:rPr sz="1800" b="0">
                          <a:solidFill>
                            <a:srgbClr val="352E28"/>
                          </a:solidFill>
                          <a:latin typeface="Malgun Gothic"/>
                          <a:ea typeface="Malgun Gothic"/>
                          <a:cs typeface="Malgun Gothic"/>
                        </a:rPr>
                        <a:t>시간·라이선스·보안</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시간 동기화, 라이선스 유효성 및 보안 에이전트 동작을 확인합니다.</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미수행</a:t>
                      </a:r>
                    </a:p>
                  </a:txBody>
                  <a:tcPr marL="91440" marR="91440" marT="45720" marB="45720" anchor="ctr">
                    <a:solidFill>
                      <a:srgbClr val="FFFAF0"/>
                    </a:solidFill>
                  </a:tcPr>
                </a:tc>
              </a:tr>
              <a:tr h="1593850">
                <a:tc>
                  <a:txBody>
                    <a:bodyPr lIns="114300" tIns="114300" rIns="114300" bIns="114300"/>
                    <a:lstStyle/>
                    <a:p>
                      <a:r>
                        <a:rPr sz="1800" b="0">
                          <a:solidFill>
                            <a:srgbClr val="352E28"/>
                          </a:solidFill>
                          <a:latin typeface="Malgun Gothic"/>
                          <a:ea typeface="Malgun Gothic"/>
                          <a:cs typeface="Malgun Gothic"/>
                        </a:rPr>
                        <a:t>게스트 에이전트·운영 연동</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게스트 에이전트, 모니터링 수집·알람 및 적용 가능한 백업 작업의 정상 완료를 확인합니다.</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미수행</a:t>
                      </a:r>
                    </a:p>
                  </a:txBody>
                  <a:tcPr marL="91440" marR="91440" marT="45720" marB="45720" anchor="ctr">
                    <a:solidFill>
                      <a:srgbClr val="F7F0E4"/>
                    </a:solidFill>
                  </a:tcPr>
                </a:tc>
              </a:tr>
              <a:tr h="1593850">
                <a:tc>
                  <a:txBody>
                    <a:bodyPr lIns="114300" tIns="114300" rIns="114300" bIns="114300"/>
                    <a:lstStyle/>
                    <a:p>
                      <a:r>
                        <a:rPr sz="1800" b="0">
                          <a:solidFill>
                            <a:srgbClr val="352E28"/>
                          </a:solidFill>
                          <a:latin typeface="Malgun Gothic"/>
                          <a:ea typeface="Malgun Gothic"/>
                          <a:cs typeface="Malgun Gothic"/>
                        </a:rPr>
                        <a:t>성능·정합성</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이관 전후 응답시간·디스크 지연과 합의한 데이터 정합성 기준을 확인합니다.</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미수행</a:t>
                      </a:r>
                    </a:p>
                  </a:txBody>
                  <a:tcPr marL="91440" marR="91440" marT="45720" marB="45720" anchor="ctr">
                    <a:solidFill>
                      <a:srgbClr val="FFFAF0"/>
                    </a:solidFill>
                  </a:tcPr>
                </a:tc>
              </a:tr>
            </a:tbl>
          </a:graphicData>
        </a:graphic>
      </p:graphicFrame>
    </p:spTree>
    <p:extLst>
      <p:ext uri="{BB962C8B-B14F-4D97-AF65-F5344CB8AC3E}">
        <p14:creationId xmlns:p14="http://schemas.microsoft.com/office/powerpoint/2010/main" val="21059679"/>
      </p:ext>
    </p:extLst>
  </p:cSld>
</p:sld>
</file>

<file path=ppt/slides/slide32.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BE8AE38-DAD8-4206-BAB2-6CFB7AAE55DF}"/>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VM별 이관 완료 점검표 (3/3)</a:t>
            </a:r>
          </a:p>
        </p:txBody>
      </p:sp>
      <p:sp>
        <p:nvSpPr>
          <p:cNvPr id="2" name="">
            <a:extLst xmlns:a="http://schemas.openxmlformats.org/drawingml/2006/main">
              <a:ext uri="{FF2B5EF4-FFF2-40B4-BE49-F238E27FC236}">
                <a16:creationId xmlns:a16="http://schemas.microsoft.com/office/drawing/2014/main" id="{713C94DA-6D9B-43E0-AE45-C2586DF125D7}"/>
              </a:ext>
            </a:extLst>
          </p:cNvPr>
          <p:cNvSpPr>
            <a:spLocks xmlns:a="http://schemas.openxmlformats.org/drawingml/2006/main" noGrp="1"/>
          </p:cNvSpPr>
          <p:nvPr/>
        </p:nvSpPr>
        <p:spPr>
          <a:xfrm xmlns:a="http://schemas.openxmlformats.org/drawingml/2006/main">
            <a:off x="628650" y="1114425"/>
            <a:ext cx="1398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75685B"/>
                </a:solidFill>
                <a:latin typeface="Malgun Gothic"/>
                <a:ea typeface="Malgun Gothic"/>
                <a:cs typeface="Malgun Gothic"/>
              </a:defRPr>
            </a:defPPr>
          </a:lstStyle>
          <a:p xmlns:a="http://schemas.openxmlformats.org/drawingml/2006/main">
            <a:pPr algn="l">
              <a:defRPr sz="1575" b="0">
                <a:solidFill>
                  <a:srgbClr val="75685B"/>
                </a:solidFill>
                <a:latin typeface="Malgun Gothic"/>
                <a:ea typeface="Malgun Gothic"/>
                <a:cs typeface="Malgun Gothic"/>
              </a:defRPr>
            </a:pPr>
            <a:r>
              <a:rPr sz="1575" b="0">
                <a:solidFill>
                  <a:srgbClr val="75685B"/>
                </a:solidFill>
                <a:latin typeface="Malgun Gothic"/>
                <a:ea typeface="Malgun Gothic"/>
                <a:cs typeface="Malgun Gothic"/>
              </a:rPr>
              <a:t>검증 및 복구 계획</a:t>
            </a:r>
          </a:p>
        </p:txBody>
      </p:sp>
      <p:sp>
        <p:nvSpPr>
          <p:cNvPr id="3" name="">
            <a:extLst xmlns:a="http://schemas.openxmlformats.org/drawingml/2006/main">
              <a:ext uri="{FF2B5EF4-FFF2-40B4-BE49-F238E27FC236}">
                <a16:creationId xmlns:a16="http://schemas.microsoft.com/office/drawing/2014/main" id="{1B04D797-6D56-44E3-BA00-AEFFACC134D2}"/>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4" name="">
            <a:extLst xmlns:a="http://schemas.openxmlformats.org/drawingml/2006/main">
              <a:ext uri="{FF2B5EF4-FFF2-40B4-BE49-F238E27FC236}">
                <a16:creationId xmlns:a16="http://schemas.microsoft.com/office/drawing/2014/main" id="{5AAEB509-AF7D-4A72-AB89-5D7362E591AA}"/>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32</a:t>
            </a:r>
          </a:p>
        </p:txBody>
      </p:sp>
      <p:graphicFrame>
        <p:nvGraphicFramePr>
          <p:cNvPr id="5" name="">
            <a:extLst xmlns:a="http://schemas.openxmlformats.org/drawingml/2006/main">
              <a:ext uri="{FF2B5EF4-FFF2-40B4-BE49-F238E27FC236}">
                <a16:creationId xmlns:a16="http://schemas.microsoft.com/office/drawing/2014/main" id="{A2E20338-39D3-4BB2-BD01-BAC59B9FE8AE}"/>
              </a:ext>
            </a:extLst>
          </p:cNvPr>
          <p:cNvGraphicFramePr/>
          <p:nvPr/>
        </p:nvGraphicFramePr>
        <p:xfrm>
          <a:off xmlns:a="http://schemas.openxmlformats.org/drawingml/2006/main" x="609600" y="1809750"/>
          <a:ext xmlns:a="http://schemas.openxmlformats.org/drawingml/2006/main" cx="14020800" cy="5334000"/>
        </p:xfrm>
        <a:graphic xmlns:a="http://schemas.openxmlformats.org/drawingml/2006/main">
          <a:graphicData uri="http://schemas.openxmlformats.org/drawingml/2006/table">
            <a:tbl>
              <a:tblPr/>
              <a:tblGrid>
                <a:gridCol w="2428875"/>
                <a:gridCol w="5857875"/>
                <a:gridCol w="5734050"/>
              </a:tblGrid>
              <a:tr h="552450">
                <a:tc>
                  <a:txBody>
                    <a:bodyPr lIns="114300" tIns="114300" rIns="114300" bIns="114300"/>
                    <a:lstStyle/>
                    <a:p>
                      <a:r>
                        <a:rPr sz="1800" b="1">
                          <a:solidFill>
                            <a:srgbClr val="352E28"/>
                          </a:solidFill>
                          <a:latin typeface="Malgun Gothic"/>
                          <a:ea typeface="Malgun Gothic"/>
                          <a:cs typeface="Malgun Gothic"/>
                        </a:rPr>
                        <a:t>검증 항목</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완료 확인 기준</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결과 / 근거</a:t>
                      </a:r>
                    </a:p>
                  </a:txBody>
                  <a:tcPr marL="91440" marR="91440" marT="45720" marB="45720" anchor="ctr">
                    <a:solidFill>
                      <a:srgbClr val="E9DCC5"/>
                    </a:solidFill>
                  </a:tcPr>
                </a:tc>
              </a:tr>
              <a:tr h="4781550">
                <a:tc>
                  <a:txBody>
                    <a:bodyPr lIns="114300" tIns="114300" rIns="114300" bIns="114300"/>
                    <a:lstStyle/>
                    <a:p>
                      <a:r>
                        <a:rPr sz="1800" b="0">
                          <a:solidFill>
                            <a:srgbClr val="352E28"/>
                          </a:solidFill>
                          <a:latin typeface="Malgun Gothic"/>
                          <a:ea typeface="Malgun Gothic"/>
                          <a:cs typeface="Malgun Gothic"/>
                        </a:rPr>
                        <a:t>원본 보관·복구</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원본 VM 전원 종료·보관 상태와 대상 쓰기 발생 후 복구 방법을 확인합니다.</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미수행</a:t>
                      </a:r>
                    </a:p>
                  </a:txBody>
                  <a:tcPr marL="91440" marR="91440" marT="45720" marB="45720" anchor="ctr">
                    <a:solidFill>
                      <a:srgbClr val="FFFAF0"/>
                    </a:solidFill>
                  </a:tcPr>
                </a:tc>
              </a:tr>
            </a:tbl>
          </a:graphicData>
        </a:graphic>
      </p:graphicFrame>
    </p:spTree>
    <p:extLst>
      <p:ext uri="{BB962C8B-B14F-4D97-AF65-F5344CB8AC3E}">
        <p14:creationId xmlns:p14="http://schemas.microsoft.com/office/powerpoint/2010/main" val="155877619"/>
      </p:ext>
    </p:extLst>
  </p:cSld>
</p:sld>
</file>

<file path=ppt/slides/slide33.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31FBEF0-ABEE-4B7F-A684-52E3762D46FD}"/>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단계별 원복 방향</a:t>
            </a:r>
          </a:p>
        </p:txBody>
      </p:sp>
      <p:sp>
        <p:nvSpPr>
          <p:cNvPr id="2" name="">
            <a:extLst xmlns:a="http://schemas.openxmlformats.org/drawingml/2006/main">
              <a:ext uri="{FF2B5EF4-FFF2-40B4-BE49-F238E27FC236}">
                <a16:creationId xmlns:a16="http://schemas.microsoft.com/office/drawing/2014/main" id="{021A11D5-6558-4F4B-8629-81405204C169}"/>
              </a:ext>
            </a:extLst>
          </p:cNvPr>
          <p:cNvSpPr>
            <a:spLocks xmlns:a="http://schemas.openxmlformats.org/drawingml/2006/main" noGrp="1"/>
          </p:cNvSpPr>
          <p:nvPr/>
        </p:nvSpPr>
        <p:spPr>
          <a:xfrm xmlns:a="http://schemas.openxmlformats.org/drawingml/2006/main">
            <a:off x="628650" y="1114425"/>
            <a:ext cx="1398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75685B"/>
                </a:solidFill>
                <a:latin typeface="Malgun Gothic"/>
                <a:ea typeface="Malgun Gothic"/>
                <a:cs typeface="Malgun Gothic"/>
              </a:defRPr>
            </a:defPPr>
          </a:lstStyle>
          <a:p xmlns:a="http://schemas.openxmlformats.org/drawingml/2006/main">
            <a:pPr algn="l">
              <a:defRPr sz="1575" b="0">
                <a:solidFill>
                  <a:srgbClr val="75685B"/>
                </a:solidFill>
                <a:latin typeface="Malgun Gothic"/>
                <a:ea typeface="Malgun Gothic"/>
                <a:cs typeface="Malgun Gothic"/>
              </a:defRPr>
            </a:pPr>
            <a:r>
              <a:rPr sz="1575" b="0">
                <a:solidFill>
                  <a:srgbClr val="75685B"/>
                </a:solidFill>
                <a:latin typeface="Malgun Gothic"/>
                <a:ea typeface="Malgun Gothic"/>
                <a:cs typeface="Malgun Gothic"/>
              </a:rPr>
              <a:t>검증 및 복구 계획</a:t>
            </a:r>
          </a:p>
        </p:txBody>
      </p:sp>
      <p:sp>
        <p:nvSpPr>
          <p:cNvPr id="3" name="">
            <a:extLst xmlns:a="http://schemas.openxmlformats.org/drawingml/2006/main">
              <a:ext uri="{FF2B5EF4-FFF2-40B4-BE49-F238E27FC236}">
                <a16:creationId xmlns:a16="http://schemas.microsoft.com/office/drawing/2014/main" id="{3AC359D0-5A84-4C09-B40A-B42DA4163D27}"/>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4" name="">
            <a:extLst xmlns:a="http://schemas.openxmlformats.org/drawingml/2006/main">
              <a:ext uri="{FF2B5EF4-FFF2-40B4-BE49-F238E27FC236}">
                <a16:creationId xmlns:a16="http://schemas.microsoft.com/office/drawing/2014/main" id="{80538CD7-0BAC-41C3-82C7-27C728507185}"/>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33</a:t>
            </a:r>
          </a:p>
        </p:txBody>
      </p:sp>
      <p:graphicFrame>
        <p:nvGraphicFramePr>
          <p:cNvPr id="5" name="">
            <a:extLst xmlns:a="http://schemas.openxmlformats.org/drawingml/2006/main">
              <a:ext uri="{FF2B5EF4-FFF2-40B4-BE49-F238E27FC236}">
                <a16:creationId xmlns:a16="http://schemas.microsoft.com/office/drawing/2014/main" id="{B41BC92C-20D9-4226-B9D7-8F20FF27A316}"/>
              </a:ext>
            </a:extLst>
          </p:cNvPr>
          <p:cNvGraphicFramePr/>
          <p:nvPr/>
        </p:nvGraphicFramePr>
        <p:xfrm>
          <a:off xmlns:a="http://schemas.openxmlformats.org/drawingml/2006/main" x="609600" y="1809750"/>
          <a:ext xmlns:a="http://schemas.openxmlformats.org/drawingml/2006/main" cx="14020800" cy="5334000"/>
        </p:xfrm>
        <a:graphic xmlns:a="http://schemas.openxmlformats.org/drawingml/2006/main">
          <a:graphicData uri="http://schemas.openxmlformats.org/drawingml/2006/table">
            <a:tbl>
              <a:tblPr/>
              <a:tblGrid>
                <a:gridCol w="2428875"/>
                <a:gridCol w="5857875"/>
                <a:gridCol w="5734050"/>
              </a:tblGrid>
              <a:tr h="552450">
                <a:tc>
                  <a:txBody>
                    <a:bodyPr lIns="114300" tIns="114300" rIns="114300" bIns="114300"/>
                    <a:lstStyle/>
                    <a:p>
                      <a:r>
                        <a:rPr sz="1800" b="1">
                          <a:solidFill>
                            <a:srgbClr val="352E28"/>
                          </a:solidFill>
                          <a:latin typeface="Malgun Gothic"/>
                          <a:ea typeface="Malgun Gothic"/>
                          <a:cs typeface="Malgun Gothic"/>
                        </a:rPr>
                        <a:t>시점</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원복 방향</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선행 조건</a:t>
                      </a:r>
                    </a:p>
                  </a:txBody>
                  <a:tcPr marL="91440" marR="91440" marT="45720" marB="45720" anchor="ctr">
                    <a:solidFill>
                      <a:srgbClr val="E9DCC5"/>
                    </a:solidFill>
                  </a:tcPr>
                </a:tc>
              </a:tr>
              <a:tr h="1593850">
                <a:tc>
                  <a:txBody>
                    <a:bodyPr lIns="114300" tIns="114300" rIns="114300" bIns="114300"/>
                    <a:lstStyle/>
                    <a:p>
                      <a:r>
                        <a:rPr sz="1800" b="0">
                          <a:solidFill>
                            <a:srgbClr val="352E28"/>
                          </a:solidFill>
                          <a:latin typeface="Malgun Gothic"/>
                          <a:ea typeface="Malgun Gothic"/>
                          <a:cs typeface="Malgun Gothic"/>
                        </a:rPr>
                        <a:t>집약·구축 단계</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작업 중단 후 확보한 설정·백업을 기준으로 원래 구성을 복구</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재구성한 장비는 즉시 되돌릴 수 없으므로 복구 매체·절차 확보</a:t>
                      </a:r>
                    </a:p>
                  </a:txBody>
                  <a:tcPr marL="91440" marR="91440" marT="45720" marB="45720" anchor="ctr">
                    <a:solidFill>
                      <a:srgbClr val="FFFAF0"/>
                    </a:solidFill>
                  </a:tcPr>
                </a:tc>
              </a:tr>
              <a:tr h="1593850">
                <a:tc>
                  <a:txBody>
                    <a:bodyPr lIns="114300" tIns="114300" rIns="114300" bIns="114300"/>
                    <a:lstStyle/>
                    <a:p>
                      <a:r>
                        <a:rPr sz="1800" b="0">
                          <a:solidFill>
                            <a:srgbClr val="352E28"/>
                          </a:solidFill>
                          <a:latin typeface="Malgun Gothic"/>
                          <a:ea typeface="Malgun Gothic"/>
                          <a:cs typeface="Malgun Gothic"/>
                        </a:rPr>
                        <a:t>MTV 이관 후 / HV#01 보존 중</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대상 VM 정지·격리 후 원본 VM 재가동 여부 판단</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전환 후 쓰인 데이터의 정합성과 역반영·복구 방법 확인. 원본 재기동 전 데이터 정합성 검증 필요</a:t>
                      </a:r>
                    </a:p>
                  </a:txBody>
                  <a:tcPr marL="91440" marR="91440" marT="45720" marB="45720" anchor="ctr">
                    <a:solidFill>
                      <a:srgbClr val="F7F0E4"/>
                    </a:solidFill>
                  </a:tcPr>
                </a:tc>
              </a:tr>
              <a:tr h="1593850">
                <a:tc>
                  <a:txBody>
                    <a:bodyPr lIns="114300" tIns="114300" rIns="114300" bIns="114300"/>
                    <a:lstStyle/>
                    <a:p>
                      <a:r>
                        <a:rPr sz="1800" b="0">
                          <a:solidFill>
                            <a:srgbClr val="352E28"/>
                          </a:solidFill>
                          <a:latin typeface="Malgun Gothic"/>
                          <a:ea typeface="Malgun Gothic"/>
                          <a:cs typeface="Malgun Gothic"/>
                        </a:rPr>
                        <a:t>HV#01을 Worker2로 전환한 후</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백업과 합의한 복구 환경을 사용해 복구</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원본 VMware 호스트가 없어지는 시점이므로 별도 복구 경로 확보</a:t>
                      </a:r>
                    </a:p>
                  </a:txBody>
                  <a:tcPr marL="91440" marR="91440" marT="45720" marB="45720" anchor="ctr">
                    <a:solidFill>
                      <a:srgbClr val="FFFAF0"/>
                    </a:solidFill>
                  </a:tcPr>
                </a:tc>
              </a:tr>
            </a:tbl>
          </a:graphicData>
        </a:graphic>
      </p:graphicFrame>
    </p:spTree>
    <p:extLst>
      <p:ext uri="{BB962C8B-B14F-4D97-AF65-F5344CB8AC3E}">
        <p14:creationId xmlns:p14="http://schemas.microsoft.com/office/powerpoint/2010/main" val="1183059356"/>
      </p:ext>
    </p:extLst>
  </p:cSld>
</p:sld>
</file>

<file path=ppt/slides/slide34.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24D5A9C-72FD-4E14-8597-67CD4D51B005}"/>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추진 일정 및 사전 확정 사항</a:t>
            </a:r>
          </a:p>
        </p:txBody>
      </p:sp>
      <p:sp>
        <p:nvSpPr>
          <p:cNvPr id="2" name="">
            <a:extLst xmlns:a="http://schemas.openxmlformats.org/drawingml/2006/main">
              <a:ext uri="{FF2B5EF4-FFF2-40B4-BE49-F238E27FC236}">
                <a16:creationId xmlns:a16="http://schemas.microsoft.com/office/drawing/2014/main" id="{BAE5720E-0ED8-4E23-BFA5-1DE693765286}"/>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3" name="">
            <a:extLst xmlns:a="http://schemas.openxmlformats.org/drawingml/2006/main">
              <a:ext uri="{FF2B5EF4-FFF2-40B4-BE49-F238E27FC236}">
                <a16:creationId xmlns:a16="http://schemas.microsoft.com/office/drawing/2014/main" id="{F798E77B-9628-41C1-9F2A-18BBA7E17E65}"/>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34</a:t>
            </a:r>
          </a:p>
        </p:txBody>
      </p:sp>
      <p:graphicFrame>
        <p:nvGraphicFramePr>
          <p:cNvPr id="4" name="">
            <a:extLst xmlns:a="http://schemas.openxmlformats.org/drawingml/2006/main">
              <a:ext uri="{FF2B5EF4-FFF2-40B4-BE49-F238E27FC236}">
                <a16:creationId xmlns:a16="http://schemas.microsoft.com/office/drawing/2014/main" id="{9E26F105-CCAE-4314-BA29-C4D810065944}"/>
              </a:ext>
            </a:extLst>
          </p:cNvPr>
          <p:cNvGraphicFramePr/>
          <p:nvPr/>
        </p:nvGraphicFramePr>
        <p:xfrm>
          <a:off xmlns:a="http://schemas.openxmlformats.org/drawingml/2006/main" x="609600" y="1809750"/>
          <a:ext xmlns:a="http://schemas.openxmlformats.org/drawingml/2006/main" cx="14020800" cy="5334000"/>
        </p:xfrm>
        <a:graphic xmlns:a="http://schemas.openxmlformats.org/drawingml/2006/main">
          <a:graphicData uri="http://schemas.openxmlformats.org/drawingml/2006/table">
            <a:tbl>
              <a:tblPr/>
              <a:tblGrid>
                <a:gridCol w="2428875"/>
                <a:gridCol w="5857875"/>
                <a:gridCol w="5734050"/>
              </a:tblGrid>
              <a:tr h="552450">
                <a:tc>
                  <a:txBody>
                    <a:bodyPr lIns="114300" tIns="114300" rIns="114300" bIns="114300"/>
                    <a:lstStyle/>
                    <a:p>
                      <a:r>
                        <a:rPr sz="1800" b="1">
                          <a:solidFill>
                            <a:srgbClr val="352E28"/>
                          </a:solidFill>
                          <a:latin typeface="Malgun Gothic"/>
                          <a:ea typeface="Malgun Gothic"/>
                          <a:cs typeface="Malgun Gothic"/>
                        </a:rPr>
                        <a:t>시기</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기존 계획</a:t>
                      </a:r>
                    </a:p>
                  </a:txBody>
                  <a:tcPr marL="91440" marR="91440" marT="45720" marB="45720" anchor="ctr">
                    <a:solidFill>
                      <a:srgbClr val="E9DCC5"/>
                    </a:solidFill>
                  </a:tcPr>
                </a:tc>
                <a:tc>
                  <a:txBody>
                    <a:bodyPr lIns="114300" tIns="114300" rIns="114300" bIns="114300"/>
                    <a:lstStyle/>
                    <a:p>
                      <a:r>
                        <a:rPr sz="1800" b="1">
                          <a:solidFill>
                            <a:srgbClr val="352E28"/>
                          </a:solidFill>
                          <a:latin typeface="Malgun Gothic"/>
                          <a:ea typeface="Malgun Gothic"/>
                          <a:cs typeface="Malgun Gothic"/>
                        </a:rPr>
                        <a:t>현재 기록 상태</a:t>
                      </a:r>
                    </a:p>
                  </a:txBody>
                  <a:tcPr marL="91440" marR="91440" marT="45720" marB="45720" anchor="ctr">
                    <a:solidFill>
                      <a:srgbClr val="E9DCC5"/>
                    </a:solidFill>
                  </a:tcPr>
                </a:tc>
              </a:tr>
              <a:tr h="1593850">
                <a:tc>
                  <a:txBody>
                    <a:bodyPr lIns="114300" tIns="114300" rIns="114300" bIns="114300"/>
                    <a:lstStyle/>
                    <a:p>
                      <a:r>
                        <a:rPr sz="1800" b="0">
                          <a:solidFill>
                            <a:srgbClr val="352E28"/>
                          </a:solidFill>
                          <a:latin typeface="Malgun Gothic"/>
                          <a:ea typeface="Malgun Gothic"/>
                          <a:cs typeface="Malgun Gothic"/>
                        </a:rPr>
                        <a:t>2026년 10월</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행정작업·장비 재배치·전기 포설 등 사전 준비</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예정 — 수행 완료 여부 미확인</a:t>
                      </a:r>
                    </a:p>
                  </a:txBody>
                  <a:tcPr marL="91440" marR="91440" marT="45720" marB="45720" anchor="ctr">
                    <a:solidFill>
                      <a:srgbClr val="FFFAF0"/>
                    </a:solidFill>
                  </a:tcPr>
                </a:tc>
              </a:tr>
              <a:tr h="1593850">
                <a:tc>
                  <a:txBody>
                    <a:bodyPr lIns="114300" tIns="114300" rIns="114300" bIns="114300"/>
                    <a:lstStyle/>
                    <a:p>
                      <a:r>
                        <a:rPr sz="1800" b="0">
                          <a:solidFill>
                            <a:srgbClr val="352E28"/>
                          </a:solidFill>
                          <a:latin typeface="Malgun Gothic"/>
                          <a:ea typeface="Malgun Gothic"/>
                          <a:cs typeface="Malgun Gothic"/>
                        </a:rPr>
                        <a:t>2026년 11월부터</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OpenShift 구축·MTV 본 작업 착수</a:t>
                      </a:r>
                    </a:p>
                  </a:txBody>
                  <a:tcPr marL="91440" marR="91440" marT="45720" marB="45720" anchor="ctr">
                    <a:solidFill>
                      <a:srgbClr val="F7F0E4"/>
                    </a:solidFill>
                  </a:tcPr>
                </a:tc>
                <a:tc>
                  <a:txBody>
                    <a:bodyPr lIns="114300" tIns="114300" rIns="114300" bIns="114300"/>
                    <a:lstStyle/>
                    <a:p>
                      <a:r>
                        <a:rPr sz="1800" b="0">
                          <a:solidFill>
                            <a:srgbClr val="352E28"/>
                          </a:solidFill>
                          <a:latin typeface="Malgun Gothic"/>
                          <a:ea typeface="Malgun Gothic"/>
                          <a:cs typeface="Malgun Gothic"/>
                        </a:rPr>
                        <a:t>착수 예정 — 상세 일자 미정</a:t>
                      </a:r>
                    </a:p>
                  </a:txBody>
                  <a:tcPr marL="91440" marR="91440" marT="45720" marB="45720" anchor="ctr">
                    <a:solidFill>
                      <a:srgbClr val="F7F0E4"/>
                    </a:solidFill>
                  </a:tcPr>
                </a:tc>
              </a:tr>
              <a:tr h="1593850">
                <a:tc>
                  <a:txBody>
                    <a:bodyPr lIns="114300" tIns="114300" rIns="114300" bIns="114300"/>
                    <a:lstStyle/>
                    <a:p>
                      <a:r>
                        <a:rPr sz="1800" b="0">
                          <a:solidFill>
                            <a:srgbClr val="352E28"/>
                          </a:solidFill>
                          <a:latin typeface="Malgun Gothic"/>
                          <a:ea typeface="Malgun Gothic"/>
                          <a:cs typeface="Malgun Gothic"/>
                        </a:rPr>
                        <a:t>MTV 예상 2개월</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기존 브리핑 기준 예상 기간</a:t>
                      </a:r>
                    </a:p>
                  </a:txBody>
                  <a:tcPr marL="91440" marR="91440" marT="45720" marB="45720" anchor="ctr">
                    <a:solidFill>
                      <a:srgbClr val="FFFAF0"/>
                    </a:solidFill>
                  </a:tcPr>
                </a:tc>
                <a:tc>
                  <a:txBody>
                    <a:bodyPr lIns="114300" tIns="114300" rIns="114300" bIns="114300"/>
                    <a:lstStyle/>
                    <a:p>
                      <a:r>
                        <a:rPr sz="1800" b="0">
                          <a:solidFill>
                            <a:srgbClr val="352E28"/>
                          </a:solidFill>
                          <a:latin typeface="Malgun Gothic"/>
                          <a:ea typeface="Malgun Gothic"/>
                          <a:cs typeface="Malgun Gothic"/>
                        </a:rPr>
                        <a:t>적용 범위·회차별 일정·완료일 미확정</a:t>
                      </a:r>
                    </a:p>
                  </a:txBody>
                  <a:tcPr marL="91440" marR="91440" marT="45720" marB="45720" anchor="ctr">
                    <a:solidFill>
                      <a:srgbClr val="FFFAF0"/>
                    </a:solidFill>
                  </a:tcPr>
                </a:tc>
              </a:tr>
            </a:tbl>
          </a:graphicData>
        </a:graphic>
      </p:graphicFrame>
    </p:spTree>
    <p:extLst>
      <p:ext uri="{BB962C8B-B14F-4D97-AF65-F5344CB8AC3E}">
        <p14:creationId xmlns:p14="http://schemas.microsoft.com/office/powerpoint/2010/main" val="754133958"/>
      </p:ext>
    </p:extLst>
  </p:cSld>
</p:sld>
</file>

<file path=ppt/slides/slide35.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5A72166-0C5B-4C80-9823-4939924562B8}"/>
              </a:ext>
            </a:extLst>
          </p:cNvPr>
          <p:cNvSpPr>
            <a:spLocks xmlns:a="http://schemas.openxmlformats.org/drawingml/2006/main" noGrp="1"/>
          </p:cNvSpPr>
          <p:nvPr/>
        </p:nvSpPr>
        <p:spPr>
          <a:xfrm xmlns:a="http://schemas.openxmlformats.org/drawingml/2006/main">
            <a:off x="609600" y="400050"/>
            <a:ext cx="1400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352E28"/>
                </a:solidFill>
                <a:latin typeface="Malgun Gothic"/>
                <a:ea typeface="Malgun Gothic"/>
                <a:cs typeface="Malgun Gothic"/>
              </a:defRPr>
            </a:defPPr>
          </a:lstStyle>
          <a:p xmlns:a="http://schemas.openxmlformats.org/drawingml/2006/main">
            <a:pPr algn="l">
              <a:defRPr sz="3150" b="1">
                <a:solidFill>
                  <a:srgbClr val="352E28"/>
                </a:solidFill>
                <a:latin typeface="Malgun Gothic"/>
                <a:ea typeface="Malgun Gothic"/>
                <a:cs typeface="Malgun Gothic"/>
              </a:defRPr>
            </a:pPr>
            <a:r>
              <a:rPr sz="3150" b="1">
                <a:solidFill>
                  <a:srgbClr val="352E28"/>
                </a:solidFill>
                <a:latin typeface="Malgun Gothic"/>
                <a:ea typeface="Malgun Gothic"/>
                <a:cs typeface="Malgun Gothic"/>
              </a:rPr>
              <a:t>설계 확인 및 원본 보관 기준</a:t>
            </a:r>
          </a:p>
        </p:txBody>
      </p:sp>
      <p:sp>
        <p:nvSpPr>
          <p:cNvPr id="2" name="">
            <a:extLst xmlns:a="http://schemas.openxmlformats.org/drawingml/2006/main">
              <a:ext uri="{FF2B5EF4-FFF2-40B4-BE49-F238E27FC236}">
                <a16:creationId xmlns:a16="http://schemas.microsoft.com/office/drawing/2014/main" id="{395B737B-8804-4978-9DAA-9139DAE282E7}"/>
              </a:ext>
            </a:extLst>
          </p:cNvPr>
          <p:cNvSpPr>
            <a:spLocks xmlns:a="http://schemas.openxmlformats.org/drawingml/2006/main" noGrp="1"/>
          </p:cNvSpPr>
          <p:nvPr/>
        </p:nvSpPr>
        <p:spPr>
          <a:xfrm xmlns:a="http://schemas.openxmlformats.org/drawingml/2006/main">
            <a:off x="609600" y="8096250"/>
            <a:ext cx="1238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75685B"/>
                </a:solidFill>
                <a:latin typeface="Malgun Gothic"/>
                <a:ea typeface="Malgun Gothic"/>
                <a:cs typeface="Malgun Gothic"/>
              </a:defRPr>
            </a:defPPr>
          </a:lstStyle>
          <a:p xmlns:a="http://schemas.openxmlformats.org/drawingml/2006/main">
            <a:pPr algn="l">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국가데이터처 SGIS  /  MTV 작업계획 V4</a:t>
            </a:r>
          </a:p>
        </p:txBody>
      </p:sp>
      <p:sp>
        <p:nvSpPr>
          <p:cNvPr id="3" name="">
            <a:extLst xmlns:a="http://schemas.openxmlformats.org/drawingml/2006/main">
              <a:ext uri="{FF2B5EF4-FFF2-40B4-BE49-F238E27FC236}">
                <a16:creationId xmlns:a16="http://schemas.microsoft.com/office/drawing/2014/main" id="{E65522D5-848D-474E-B56C-E70DB7E4C88C}"/>
              </a:ext>
            </a:extLst>
          </p:cNvPr>
          <p:cNvSpPr>
            <a:spLocks xmlns:a="http://schemas.openxmlformats.org/drawingml/2006/main" noGrp="1"/>
          </p:cNvSpPr>
          <p:nvPr/>
        </p:nvSpPr>
        <p:spPr>
          <a:xfrm xmlns:a="http://schemas.openxmlformats.org/drawingml/2006/main">
            <a:off x="13906500" y="8096250"/>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200" b="0">
                <a:solidFill>
                  <a:srgbClr val="75685B"/>
                </a:solidFill>
                <a:latin typeface="Malgun Gothic"/>
                <a:ea typeface="Malgun Gothic"/>
                <a:cs typeface="Malgun Gothic"/>
              </a:defRPr>
            </a:defPPr>
          </a:lstStyle>
          <a:p xmlns:a="http://schemas.openxmlformats.org/drawingml/2006/main">
            <a:pPr algn="r">
              <a:defRPr sz="1200" b="0">
                <a:solidFill>
                  <a:srgbClr val="75685B"/>
                </a:solidFill>
                <a:latin typeface="Malgun Gothic"/>
                <a:ea typeface="Malgun Gothic"/>
                <a:cs typeface="Malgun Gothic"/>
              </a:defRPr>
            </a:pPr>
            <a:r>
              <a:rPr sz="1200" b="0">
                <a:solidFill>
                  <a:srgbClr val="75685B"/>
                </a:solidFill>
                <a:latin typeface="Malgun Gothic"/>
                <a:ea typeface="Malgun Gothic"/>
                <a:cs typeface="Malgun Gothic"/>
              </a:rPr>
              <a:t>35</a:t>
            </a:r>
          </a:p>
        </p:txBody>
      </p:sp>
      <p:sp>
        <p:nvSpPr>
          <p:cNvPr id="4" name="">
            <a:extLst xmlns:a="http://schemas.openxmlformats.org/drawingml/2006/main">
              <a:ext uri="{FF2B5EF4-FFF2-40B4-BE49-F238E27FC236}">
                <a16:creationId xmlns:a16="http://schemas.microsoft.com/office/drawing/2014/main" id="{8A4CDC3E-1F3D-4F9D-A301-43605D5FE4D4}"/>
              </a:ext>
            </a:extLst>
          </p:cNvPr>
          <p:cNvSpPr>
            <a:spLocks xmlns:a="http://schemas.openxmlformats.org/drawingml/2006/main" noGrp="1"/>
          </p:cNvSpPr>
          <p:nvPr/>
        </p:nvSpPr>
        <p:spPr>
          <a:xfrm xmlns:a="http://schemas.openxmlformats.org/drawingml/2006/main">
            <a:off x="762000" y="1905000"/>
            <a:ext cx="1352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00" b="0">
                <a:solidFill>
                  <a:srgbClr val="352E28"/>
                </a:solidFill>
                <a:latin typeface="Malgun Gothic"/>
                <a:ea typeface="Malgun Gothic"/>
                <a:cs typeface="Malgun Gothic"/>
              </a:defRPr>
            </a:defPPr>
          </a:lstStyle>
          <a:p xmlns:a="http://schemas.openxmlformats.org/drawingml/2006/main">
            <a:pPr algn="l">
              <a:defRPr sz="2100" b="0">
                <a:solidFill>
                  <a:srgbClr val="352E28"/>
                </a:solidFill>
                <a:latin typeface="Malgun Gothic"/>
                <a:ea typeface="Malgun Gothic"/>
                <a:cs typeface="Malgun Gothic"/>
              </a:defRPr>
            </a:pPr>
            <a:r>
              <a:rPr sz="2100" b="0">
                <a:solidFill>
                  <a:srgbClr val="352E28"/>
                </a:solidFill>
                <a:latin typeface="Malgun Gothic"/>
                <a:ea typeface="Malgun Gothic"/>
                <a:cs typeface="Malgun Gothic"/>
              </a:rPr>
              <a:t>1. 외부 Bastion의 장비 출처와 내부 HV#02·HV#03의 역할을 확인합니다.</a:t>
            </a:r>
          </a:p>
        </p:txBody>
      </p:sp>
      <p:sp>
        <p:nvSpPr>
          <p:cNvPr id="5" name="">
            <a:extLst xmlns:a="http://schemas.openxmlformats.org/drawingml/2006/main">
              <a:ext uri="{FF2B5EF4-FFF2-40B4-BE49-F238E27FC236}">
                <a16:creationId xmlns:a16="http://schemas.microsoft.com/office/drawing/2014/main" id="{F89B5C3B-4D9D-48BD-B3D2-17261297F0EB}"/>
              </a:ext>
            </a:extLst>
          </p:cNvPr>
          <p:cNvSpPr>
            <a:spLocks xmlns:a="http://schemas.openxmlformats.org/drawingml/2006/main" noGrp="1"/>
          </p:cNvSpPr>
          <p:nvPr/>
        </p:nvSpPr>
        <p:spPr>
          <a:xfrm xmlns:a="http://schemas.openxmlformats.org/drawingml/2006/main">
            <a:off x="762000" y="2857500"/>
            <a:ext cx="1352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00" b="0">
                <a:solidFill>
                  <a:srgbClr val="352E28"/>
                </a:solidFill>
                <a:latin typeface="Malgun Gothic"/>
                <a:ea typeface="Malgun Gothic"/>
                <a:cs typeface="Malgun Gothic"/>
              </a:defRPr>
            </a:defPPr>
          </a:lstStyle>
          <a:p xmlns:a="http://schemas.openxmlformats.org/drawingml/2006/main">
            <a:pPr algn="l">
              <a:defRPr sz="2100" b="0">
                <a:solidFill>
                  <a:srgbClr val="352E28"/>
                </a:solidFill>
                <a:latin typeface="Malgun Gothic"/>
                <a:ea typeface="Malgun Gothic"/>
                <a:cs typeface="Malgun Gothic"/>
              </a:defRPr>
            </a:pPr>
            <a:r>
              <a:rPr sz="2100" b="0">
                <a:solidFill>
                  <a:srgbClr val="352E28"/>
                </a:solidFill>
                <a:latin typeface="Malgun Gothic"/>
                <a:ea typeface="Malgun Gothic"/>
                <a:cs typeface="Malgun Gothic"/>
              </a:rPr>
              <a:t>2. Master의 실제 노드 수와 HA 구성, 초기 Worker1 수용 능력을 확인합니다.</a:t>
            </a:r>
          </a:p>
        </p:txBody>
      </p:sp>
      <p:sp>
        <p:nvSpPr>
          <p:cNvPr id="6" name="">
            <a:extLst xmlns:a="http://schemas.openxmlformats.org/drawingml/2006/main">
              <a:ext uri="{FF2B5EF4-FFF2-40B4-BE49-F238E27FC236}">
                <a16:creationId xmlns:a16="http://schemas.microsoft.com/office/drawing/2014/main" id="{BA7E7D8A-5B7C-401F-B46B-932E9E572170}"/>
              </a:ext>
            </a:extLst>
          </p:cNvPr>
          <p:cNvSpPr>
            <a:spLocks xmlns:a="http://schemas.openxmlformats.org/drawingml/2006/main" noGrp="1"/>
          </p:cNvSpPr>
          <p:nvPr/>
        </p:nvSpPr>
        <p:spPr>
          <a:xfrm xmlns:a="http://schemas.openxmlformats.org/drawingml/2006/main">
            <a:off x="762000" y="3810000"/>
            <a:ext cx="1352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00" b="0">
                <a:solidFill>
                  <a:srgbClr val="352E28"/>
                </a:solidFill>
                <a:latin typeface="Malgun Gothic"/>
                <a:ea typeface="Malgun Gothic"/>
                <a:cs typeface="Malgun Gothic"/>
              </a:defRPr>
            </a:defPPr>
          </a:lstStyle>
          <a:p xmlns:a="http://schemas.openxmlformats.org/drawingml/2006/main">
            <a:pPr algn="l">
              <a:defRPr sz="2100" b="0">
                <a:solidFill>
                  <a:srgbClr val="352E28"/>
                </a:solidFill>
                <a:latin typeface="Malgun Gothic"/>
                <a:ea typeface="Malgun Gothic"/>
                <a:cs typeface="Malgun Gothic"/>
              </a:defRPr>
            </a:pPr>
            <a:r>
              <a:rPr sz="2100" b="0">
                <a:solidFill>
                  <a:srgbClr val="352E28"/>
                </a:solidFill>
                <a:latin typeface="Malgun Gothic"/>
                <a:ea typeface="Malgun Gothic"/>
                <a:cs typeface="Malgun Gothic"/>
              </a:rPr>
              <a:t>3. IP 상세정보는 국데터 SGIS 구성을 참조합니다.</a:t>
            </a:r>
          </a:p>
        </p:txBody>
      </p:sp>
      <p:sp>
        <p:nvSpPr>
          <p:cNvPr id="7" name="">
            <a:extLst xmlns:a="http://schemas.openxmlformats.org/drawingml/2006/main">
              <a:ext uri="{FF2B5EF4-FFF2-40B4-BE49-F238E27FC236}">
                <a16:creationId xmlns:a16="http://schemas.microsoft.com/office/drawing/2014/main" id="{7BA20F3C-01FF-4E31-8D73-B0F1F718E61C}"/>
              </a:ext>
            </a:extLst>
          </p:cNvPr>
          <p:cNvSpPr>
            <a:spLocks xmlns:a="http://schemas.openxmlformats.org/drawingml/2006/main" noGrp="1"/>
          </p:cNvSpPr>
          <p:nvPr/>
        </p:nvSpPr>
        <p:spPr>
          <a:xfrm xmlns:a="http://schemas.openxmlformats.org/drawingml/2006/main">
            <a:off x="762000" y="4762500"/>
            <a:ext cx="1352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00" b="0">
                <a:solidFill>
                  <a:srgbClr val="352E28"/>
                </a:solidFill>
                <a:latin typeface="Malgun Gothic"/>
                <a:ea typeface="Malgun Gothic"/>
                <a:cs typeface="Malgun Gothic"/>
              </a:defRPr>
            </a:defPPr>
          </a:lstStyle>
          <a:p xmlns:a="http://schemas.openxmlformats.org/drawingml/2006/main">
            <a:pPr algn="l">
              <a:defRPr sz="2100" b="0">
                <a:solidFill>
                  <a:srgbClr val="352E28"/>
                </a:solidFill>
                <a:latin typeface="Malgun Gothic"/>
                <a:ea typeface="Malgun Gothic"/>
                <a:cs typeface="Malgun Gothic"/>
              </a:defRPr>
            </a:pPr>
            <a:r>
              <a:rPr sz="2100" b="0">
                <a:solidFill>
                  <a:srgbClr val="352E28"/>
                </a:solidFill>
                <a:latin typeface="Malgun Gothic"/>
                <a:ea typeface="Malgun Gothic"/>
                <a:cs typeface="Malgun Gothic"/>
              </a:rPr>
              <a:t>4. 원본 VMFS는 이관 및 원복 보관 기준 충족 후 회수합니다.</a:t>
            </a:r>
          </a:p>
        </p:txBody>
      </p:sp>
      <p:sp>
        <p:nvSpPr>
          <p:cNvPr id="8" name="">
            <a:extLst xmlns:a="http://schemas.openxmlformats.org/drawingml/2006/main">
              <a:ext uri="{FF2B5EF4-FFF2-40B4-BE49-F238E27FC236}">
                <a16:creationId xmlns:a16="http://schemas.microsoft.com/office/drawing/2014/main" id="{0C35B485-30F5-4877-A400-7F49B22B8C25}"/>
              </a:ext>
            </a:extLst>
          </p:cNvPr>
          <p:cNvSpPr>
            <a:spLocks xmlns:a="http://schemas.openxmlformats.org/drawingml/2006/main" noGrp="1"/>
          </p:cNvSpPr>
          <p:nvPr/>
        </p:nvSpPr>
        <p:spPr>
          <a:xfrm xmlns:a="http://schemas.openxmlformats.org/drawingml/2006/main">
            <a:off x="762000" y="5715000"/>
            <a:ext cx="1352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00" b="0">
                <a:solidFill>
                  <a:srgbClr val="352E28"/>
                </a:solidFill>
                <a:latin typeface="Malgun Gothic"/>
                <a:ea typeface="Malgun Gothic"/>
                <a:cs typeface="Malgun Gothic"/>
              </a:defRPr>
            </a:defPPr>
          </a:lstStyle>
          <a:p xmlns:a="http://schemas.openxmlformats.org/drawingml/2006/main">
            <a:pPr algn="l">
              <a:defRPr sz="2100" b="0">
                <a:solidFill>
                  <a:srgbClr val="352E28"/>
                </a:solidFill>
                <a:latin typeface="Malgun Gothic"/>
                <a:ea typeface="Malgun Gothic"/>
                <a:cs typeface="Malgun Gothic"/>
              </a:defRPr>
            </a:pPr>
            <a:r>
              <a:rPr sz="2100" b="0">
                <a:solidFill>
                  <a:srgbClr val="352E28"/>
                </a:solidFill>
                <a:latin typeface="Malgun Gothic"/>
                <a:ea typeface="Malgun Gothic"/>
                <a:cs typeface="Malgun Gothic"/>
              </a:rPr>
              <a:t>5. MTV 완료뿐 아니라 업무·DB 통신·백업 정상 여부를 확인합니다.</a:t>
            </a:r>
          </a:p>
        </p:txBody>
      </p:sp>
    </p:spTree>
    <p:extLst>
      <p:ext uri="{BB962C8B-B14F-4D97-AF65-F5344CB8AC3E}">
        <p14:creationId xmlns:p14="http://schemas.microsoft.com/office/powerpoint/2010/main" val="7708827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2026-10-11T19:14:19.3660000Z</dcterms:created>
  <dcterms:modified xsi:type="dcterms:W3CDTF">2026-10-11T19:14:19.3660000Z</dcterms:modified>
</coreProperties>
</file>