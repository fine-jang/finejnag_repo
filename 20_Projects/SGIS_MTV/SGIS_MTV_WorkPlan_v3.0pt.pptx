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43126" r="6870" t="0" b="0"/>
          <a:stretch/>
        </p:blipFill>
        <p:spPr>
          <a:xfrm>
            <a:off x="0" y="0"/>
            <a:ext cx="609630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640080"/>
            <a:ext cx="2103120" cy="37673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720840" y="731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SGIS INFRASTRUCTURE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720840" y="2148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오픈플랫폼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6720840" y="26517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OpenShift 전환 구축 계획</a:t>
            </a:r>
            <a:endParaRPr lang="en-US" sz="3400" dirty="0"/>
          </a:p>
        </p:txBody>
      </p:sp>
      <p:sp>
        <p:nvSpPr>
          <p:cNvPr id="7" name="Shape 3"/>
          <p:cNvSpPr/>
          <p:nvPr/>
        </p:nvSpPr>
        <p:spPr>
          <a:xfrm>
            <a:off x="6720840" y="3566160"/>
            <a:ext cx="1463040" cy="0"/>
          </a:xfrm>
          <a:prstGeom prst="line">
            <a:avLst/>
          </a:prstGeom>
          <a:noFill/>
          <a:ln w="38100">
            <a:solidFill>
              <a:srgbClr val="1D5BB5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720840" y="3749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· 진행 순서 · 사전 준비 작업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6720840" y="57607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개요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92608"/>
            <a:ext cx="1188720" cy="2130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78992"/>
            <a:ext cx="1127455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· OpenShift 전환 구축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17352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4663440" cy="2971800"/>
          </a:xfrm>
          <a:prstGeom prst="roundRect">
            <a:avLst>
              <a:gd name="adj" fmla="val 2462"/>
            </a:avLst>
          </a:prstGeom>
          <a:solidFill>
            <a:srgbClr val="F1F5F9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17320"/>
            <a:ext cx="4443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· VMware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1691640" cy="1325880"/>
          </a:xfrm>
          <a:prstGeom prst="roundRect">
            <a:avLst>
              <a:gd name="adj" fmla="val 4138"/>
            </a:avLst>
          </a:prstGeom>
          <a:solidFill>
            <a:srgbClr val="F1F5F9"/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685800" y="18745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외부망 클러스터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2194560"/>
            <a:ext cx="708660" cy="82296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95528" y="2286000"/>
            <a:ext cx="4892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HV#01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95528" y="2606040"/>
            <a:ext cx="489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ESXi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1485900" y="2194560"/>
            <a:ext cx="708660" cy="822960"/>
          </a:xfrm>
          <a:prstGeom prst="roundRect">
            <a:avLst>
              <a:gd name="adj" fmla="val 10323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595628" y="2286000"/>
            <a:ext cx="4892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HV#02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595628" y="2606040"/>
            <a:ext cx="489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ESXi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423160" y="1828800"/>
            <a:ext cx="2560320" cy="1325880"/>
          </a:xfrm>
          <a:prstGeom prst="roundRect">
            <a:avLst>
              <a:gd name="adj" fmla="val 4138"/>
            </a:avLst>
          </a:prstGeom>
          <a:solidFill>
            <a:srgbClr val="F1F5F9"/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20" name="Text 17"/>
          <p:cNvSpPr/>
          <p:nvPr/>
        </p:nvSpPr>
        <p:spPr>
          <a:xfrm>
            <a:off x="2514600" y="1874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내부망 클러스터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2514600" y="2194560"/>
            <a:ext cx="7315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624328" y="2286000"/>
            <a:ext cx="512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HV#01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624328" y="2606040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ESXi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337560" y="2194560"/>
            <a:ext cx="7315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447288" y="2286000"/>
            <a:ext cx="512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HV#02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447288" y="2606040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ESXi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160520" y="2194560"/>
            <a:ext cx="7315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270248" y="2286000"/>
            <a:ext cx="512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HV#03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4270248" y="2606040"/>
            <a:ext cx="512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ESXi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640080" y="329184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VM 35대 (외부 11 · 내부 24)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vCenter · DNS VM 망별 1대 (이관 대상 아님)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257800" y="2788920"/>
            <a:ext cx="1280160" cy="914"/>
          </a:xfrm>
          <a:prstGeom prst="line">
            <a:avLst/>
          </a:prstGeom>
          <a:noFill/>
          <a:ln w="50800">
            <a:solidFill>
              <a:srgbClr val="1E3A5F"/>
            </a:solidFill>
            <a:prstDash val="solid"/>
            <a:tailEnd type="triangle"/>
          </a:ln>
        </p:spPr>
      </p:sp>
      <p:sp>
        <p:nvSpPr>
          <p:cNvPr id="32" name="Text 29"/>
          <p:cNvSpPr/>
          <p:nvPr/>
        </p:nvSpPr>
        <p:spPr>
          <a:xfrm>
            <a:off x="5257800" y="29260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MTV 이관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675120" y="1325880"/>
            <a:ext cx="5056632" cy="2971800"/>
          </a:xfrm>
          <a:prstGeom prst="roundRect">
            <a:avLst>
              <a:gd name="adj" fmla="val 2462"/>
            </a:avLst>
          </a:prstGeom>
          <a:solidFill>
            <a:srgbClr val="E3EE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784848" y="1417320"/>
            <a:ext cx="4837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· OpenShift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6858000" y="1874520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967728" y="1965960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Bastion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967728" y="2286000"/>
            <a:ext cx="1243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DNS·LB·미러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8458200" y="1874520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67928" y="1965960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KVM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8567928" y="2286000"/>
            <a:ext cx="1243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VM 3대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10058400" y="1874520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168128" y="1965960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Worker 1·2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168128" y="2286000"/>
            <a:ext cx="1243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 실행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858000" y="3246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망별 클러스터 1개 (외부망 · 내부망)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457200" y="4526280"/>
            <a:ext cx="2130552" cy="960120"/>
          </a:xfrm>
          <a:prstGeom prst="roundRect">
            <a:avLst>
              <a:gd name="adj" fmla="val 7619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66928" y="459028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</a:t>
            </a:r>
            <a:endParaRPr lang="en-US" sz="2200" dirty="0"/>
          </a:p>
        </p:txBody>
      </p:sp>
      <p:sp>
        <p:nvSpPr>
          <p:cNvPr id="47" name="Text 44"/>
          <p:cNvSpPr/>
          <p:nvPr/>
        </p:nvSpPr>
        <p:spPr>
          <a:xfrm>
            <a:off x="566928" y="5074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OpenShift 클러스터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2743200" y="4526280"/>
            <a:ext cx="2130552" cy="960120"/>
          </a:xfrm>
          <a:prstGeom prst="roundRect">
            <a:avLst>
              <a:gd name="adj" fmla="val 7619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2852928" y="459028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35대</a:t>
            </a:r>
            <a:endParaRPr lang="en-US" sz="2200" dirty="0"/>
          </a:p>
        </p:txBody>
      </p:sp>
      <p:sp>
        <p:nvSpPr>
          <p:cNvPr id="50" name="Text 47"/>
          <p:cNvSpPr/>
          <p:nvPr/>
        </p:nvSpPr>
        <p:spPr>
          <a:xfrm>
            <a:off x="2852928" y="5074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대상 VM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5029200" y="4526280"/>
            <a:ext cx="2130552" cy="960120"/>
          </a:xfrm>
          <a:prstGeom prst="roundRect">
            <a:avLst>
              <a:gd name="adj" fmla="val 7619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138928" y="459028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74.7TB</a:t>
            </a:r>
            <a:endParaRPr lang="en-US" sz="2200" dirty="0"/>
          </a:p>
        </p:txBody>
      </p:sp>
      <p:sp>
        <p:nvSpPr>
          <p:cNvPr id="53" name="Text 50"/>
          <p:cNvSpPr/>
          <p:nvPr/>
        </p:nvSpPr>
        <p:spPr>
          <a:xfrm>
            <a:off x="5138928" y="5074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데이터 (Dell EMC FC)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7315200" y="4526280"/>
            <a:ext cx="2130552" cy="960120"/>
          </a:xfrm>
          <a:prstGeom prst="roundRect">
            <a:avLst>
              <a:gd name="adj" fmla="val 7619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424928" y="459028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5대 + 3대</a:t>
            </a:r>
            <a:endParaRPr lang="en-US" sz="2200" dirty="0"/>
          </a:p>
        </p:txBody>
      </p:sp>
      <p:sp>
        <p:nvSpPr>
          <p:cNvPr id="56" name="Text 53"/>
          <p:cNvSpPr/>
          <p:nvPr/>
        </p:nvSpPr>
        <p:spPr>
          <a:xfrm>
            <a:off x="7424928" y="5074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HV + 재활용 TNS-2100</a:t>
            </a:r>
            <a:endParaRPr lang="en-US" sz="1050" dirty="0"/>
          </a:p>
        </p:txBody>
      </p:sp>
      <p:sp>
        <p:nvSpPr>
          <p:cNvPr id="57" name="Shape 54"/>
          <p:cNvSpPr/>
          <p:nvPr/>
        </p:nvSpPr>
        <p:spPr>
          <a:xfrm>
            <a:off x="9601200" y="4526280"/>
            <a:ext cx="2130552" cy="960120"/>
          </a:xfrm>
          <a:prstGeom prst="roundRect">
            <a:avLst>
              <a:gd name="adj" fmla="val 7619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9710928" y="459028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10~12월</a:t>
            </a:r>
            <a:endParaRPr lang="en-US" sz="2200" dirty="0"/>
          </a:p>
        </p:txBody>
      </p:sp>
      <p:sp>
        <p:nvSpPr>
          <p:cNvPr id="59" name="Text 56"/>
          <p:cNvSpPr/>
          <p:nvPr/>
        </p:nvSpPr>
        <p:spPr>
          <a:xfrm>
            <a:off x="9710928" y="507492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</a:t>
            </a:r>
            <a:endParaRPr lang="en-US" sz="1050" dirty="0"/>
          </a:p>
        </p:txBody>
      </p:sp>
      <p:sp>
        <p:nvSpPr>
          <p:cNvPr id="60" name="Shape 57"/>
          <p:cNvSpPr/>
          <p:nvPr/>
        </p:nvSpPr>
        <p:spPr>
          <a:xfrm>
            <a:off x="457200" y="5669280"/>
            <a:ext cx="11274552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594360" y="5742432"/>
            <a:ext cx="5440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OpenShift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 Hat의 컨테이너·가상화 플랫폼. OpenShift Virtualization으로 VM 실행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클러스터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서버를 묶어 하나로 운영하는 단위</a:t>
            </a:r>
            <a:endParaRPr lang="en-US" sz="950" dirty="0"/>
          </a:p>
        </p:txBody>
      </p:sp>
      <p:sp>
        <p:nvSpPr>
          <p:cNvPr id="62" name="Text 59"/>
          <p:cNvSpPr/>
          <p:nvPr/>
        </p:nvSpPr>
        <p:spPr>
          <a:xfrm>
            <a:off x="6172200" y="5742432"/>
            <a:ext cx="5440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MTV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VMware VM을 OpenShift로 옮기는 Red Hat 이관 도구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VM 이관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VM의 디스크·설정을 새 환경으로 복사해 그대로 기동하는 작업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현재 구성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VMware 현행 구성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92608"/>
            <a:ext cx="1188720" cy="2130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78992"/>
            <a:ext cx="1127455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· OpenShift 전환 구축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17352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4572000" cy="4023360"/>
          </a:xfrm>
          <a:prstGeom prst="roundRect">
            <a:avLst>
              <a:gd name="adj" fmla="val 1818"/>
            </a:avLst>
          </a:prstGeom>
          <a:solidFill>
            <a:srgbClr val="F1F5F9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14173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외부망 · vSphere 8 · HV 2대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2080260" cy="2743200"/>
          </a:xfrm>
          <a:prstGeom prst="roundRect">
            <a:avLst>
              <a:gd name="adj" fmla="val 351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04088" y="1920240"/>
            <a:ext cx="18608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HV#01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04088" y="2240280"/>
            <a:ext cx="18608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TR2210 H4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48코어 · 1TB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04088" y="2880360"/>
            <a:ext cx="1860804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4088" y="2880360"/>
            <a:ext cx="1860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VM 11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04088" y="3264408"/>
            <a:ext cx="1860804" cy="274320"/>
          </a:xfrm>
          <a:prstGeom prst="roundRect">
            <a:avLst>
              <a:gd name="adj" fmla="val 50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3264408"/>
            <a:ext cx="1860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730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vCenter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811780" y="1828800"/>
            <a:ext cx="2080260" cy="2743200"/>
          </a:xfrm>
          <a:prstGeom prst="roundRect">
            <a:avLst>
              <a:gd name="adj" fmla="val 351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921508" y="1920240"/>
            <a:ext cx="18608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HV#02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921508" y="2240280"/>
            <a:ext cx="18608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TR2210 H4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48코어 · 1TB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921508" y="2880360"/>
            <a:ext cx="1860804" cy="27432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21508" y="2880360"/>
            <a:ext cx="1860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DNS VM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2921508" y="3264408"/>
            <a:ext cx="1860804" cy="27432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921508" y="3264408"/>
            <a:ext cx="1860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vCLS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94360" y="47548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VMFS6 1개 · 12.4TB (Dell EMC FC)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212080" y="1325880"/>
            <a:ext cx="6519672" cy="4023360"/>
          </a:xfrm>
          <a:prstGeom prst="roundRect">
            <a:avLst>
              <a:gd name="adj" fmla="val 1818"/>
            </a:avLst>
          </a:prstGeom>
          <a:solidFill>
            <a:srgbClr val="F1F5F9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49240" y="1417320"/>
            <a:ext cx="6245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내부망 · vSphere 8 · HV 3대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349240" y="1828800"/>
            <a:ext cx="1990344" cy="2743200"/>
          </a:xfrm>
          <a:prstGeom prst="roundRect">
            <a:avLst>
              <a:gd name="adj" fmla="val 36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458968" y="1920240"/>
            <a:ext cx="1770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HV#01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458968" y="2240280"/>
            <a:ext cx="177088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TR2210 H4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48코어 · 1TB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458968" y="2880360"/>
            <a:ext cx="1770888" cy="27432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58968" y="2880360"/>
            <a:ext cx="1770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vCLS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76744" y="1828800"/>
            <a:ext cx="1990344" cy="2743200"/>
          </a:xfrm>
          <a:prstGeom prst="roundRect">
            <a:avLst>
              <a:gd name="adj" fmla="val 36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86472" y="1920240"/>
            <a:ext cx="1770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HV#02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586472" y="2240280"/>
            <a:ext cx="177088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TR2210 H4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48코어 · 1TB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586472" y="2880360"/>
            <a:ext cx="1770888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586472" y="2880360"/>
            <a:ext cx="1770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65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VM 24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7586472" y="3264408"/>
            <a:ext cx="1770888" cy="274320"/>
          </a:xfrm>
          <a:prstGeom prst="roundRect">
            <a:avLst>
              <a:gd name="adj" fmla="val 50000"/>
            </a:avLst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586472" y="3264408"/>
            <a:ext cx="1770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730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vCenter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9604248" y="1828800"/>
            <a:ext cx="1990344" cy="2743200"/>
          </a:xfrm>
          <a:prstGeom prst="roundRect">
            <a:avLst>
              <a:gd name="adj" fmla="val 367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713976" y="1920240"/>
            <a:ext cx="1770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HV#03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9713976" y="2240280"/>
            <a:ext cx="177088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TR2210 H4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48코어 · 1TB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9713976" y="2880360"/>
            <a:ext cx="1770888" cy="27432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713976" y="2880360"/>
            <a:ext cx="1770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2400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DNS VM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9713976" y="3264408"/>
            <a:ext cx="1770888" cy="27432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713976" y="3264408"/>
            <a:ext cx="1770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vCLS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349240" y="4754880"/>
            <a:ext cx="6245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VMFS6 3개 · 62.3TB (Dell EMC FC)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457200" y="5669280"/>
            <a:ext cx="11274552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4360" y="5742432"/>
            <a:ext cx="5440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HV (하이퍼바이저)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VM을 실행하는 물리 서버 (VMware ESXi)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vCenter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HV를 한곳에서 관리하는 VMware 관리 서버(VM)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DNS VM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vCenter·ESXi 이름 해석용 VM. 이관 대상 아님, MTV 완료 후 삭제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6172200" y="5742432"/>
            <a:ext cx="5440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vCLS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vCenter가 자동으로 만드는 시스템 VM. 이관 대상 아님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데이터스토어 (VMFS)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 디스크 저장 공간. Dell EMC 스토리지 LUN을 FC로 연결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목표 구성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OpenShift 클러스터 구성 (한 망 기준)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92608"/>
            <a:ext cx="1188720" cy="2130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78992"/>
            <a:ext cx="1127455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· OpenShift 전환 구축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17352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2651760" cy="4160520"/>
          </a:xfrm>
          <a:prstGeom prst="roundRect">
            <a:avLst>
              <a:gd name="adj" fmla="val 2759"/>
            </a:avLst>
          </a:prstGeom>
          <a:solidFill>
            <a:srgbClr val="E3EEFF"/>
          </a:solidFill>
          <a:ln w="12700">
            <a:solidFill>
              <a:srgbClr val="1D5BB5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566928" y="141732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Bastion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66928" y="1737360"/>
            <a:ext cx="2432304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재활용 TNS-2100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40080" y="2194560"/>
            <a:ext cx="2286000" cy="365760"/>
          </a:xfrm>
          <a:prstGeom prst="roundRect">
            <a:avLst>
              <a:gd name="adj" fmla="val 37500"/>
            </a:avLst>
          </a:prstGeom>
          <a:solidFill>
            <a:srgbClr val="FFFF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DNS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0080" y="2697480"/>
            <a:ext cx="2286000" cy="365760"/>
          </a:xfrm>
          <a:prstGeom prst="roundRect">
            <a:avLst>
              <a:gd name="adj" fmla="val 37500"/>
            </a:avLst>
          </a:prstGeom>
          <a:solidFill>
            <a:srgbClr val="FFFF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2697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부하분산(LB)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3200400"/>
            <a:ext cx="2286000" cy="365760"/>
          </a:xfrm>
          <a:prstGeom prst="roundRect">
            <a:avLst>
              <a:gd name="adj" fmla="val 37500"/>
            </a:avLst>
          </a:prstGeom>
          <a:solidFill>
            <a:srgbClr val="FFFF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동기화(NTP)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0080" y="3703320"/>
            <a:ext cx="2286000" cy="365760"/>
          </a:xfrm>
          <a:prstGeom prst="roundRect">
            <a:avLst>
              <a:gd name="adj" fmla="val 37500"/>
            </a:avLst>
          </a:prstGeom>
          <a:solidFill>
            <a:srgbClr val="FFFF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3703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미러 레지스트리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0080" y="4206240"/>
            <a:ext cx="2286000" cy="365760"/>
          </a:xfrm>
          <a:prstGeom prst="roundRect">
            <a:avLst>
              <a:gd name="adj" fmla="val 37500"/>
            </a:avLst>
          </a:prstGeom>
          <a:solidFill>
            <a:srgbClr val="FFFF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4206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파일 배포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0080" y="4709160"/>
            <a:ext cx="2286000" cy="365760"/>
          </a:xfrm>
          <a:prstGeom prst="roundRect">
            <a:avLst>
              <a:gd name="adj" fmla="val 37500"/>
            </a:avLst>
          </a:prstGeom>
          <a:solidFill>
            <a:srgbClr val="FFFF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4709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etcd 백업 보관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291840" y="1325880"/>
            <a:ext cx="3291840" cy="4160520"/>
          </a:xfrm>
          <a:prstGeom prst="roundRect">
            <a:avLst>
              <a:gd name="adj" fmla="val 2222"/>
            </a:avLst>
          </a:prstGeom>
          <a:solidFill>
            <a:srgbClr val="E3EEFF"/>
          </a:solidFill>
          <a:ln w="12700">
            <a:solidFill>
              <a:srgbClr val="1D5BB5"/>
            </a:solidFill>
            <a:prstDash val="dash"/>
          </a:ln>
        </p:spPr>
      </p:sp>
      <p:sp>
        <p:nvSpPr>
          <p:cNvPr id="25" name="Text 22"/>
          <p:cNvSpPr/>
          <p:nvPr/>
        </p:nvSpPr>
        <p:spPr>
          <a:xfrm>
            <a:off x="3401568" y="1417320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KVM 호스트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3401568" y="1737360"/>
            <a:ext cx="3072384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외부: 재활용 TNS-2100 · 내부: 기존 HV#03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관리망 4회선 (호스트 접속 2 · br0 브리지 2)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474720" y="2286000"/>
            <a:ext cx="9144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84448" y="2377440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3584448" y="2697480"/>
            <a:ext cx="694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master-1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480560" y="2286000"/>
            <a:ext cx="9144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90288" y="2377440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590288" y="2697480"/>
            <a:ext cx="694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master-2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486400" y="2286000"/>
            <a:ext cx="91440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596128" y="2377440"/>
            <a:ext cx="694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596128" y="2697480"/>
            <a:ext cx="694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master-3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3474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VM 3대 · 1대 장애 시 2대로 유지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3474720" y="4343400"/>
            <a:ext cx="29260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38" name="Text 35"/>
          <p:cNvSpPr/>
          <p:nvPr/>
        </p:nvSpPr>
        <p:spPr>
          <a:xfrm>
            <a:off x="3584448" y="4434840"/>
            <a:ext cx="2706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bootstrap VM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기간에만 사용 · master 구성 완료 후 삭제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766560" y="1325880"/>
            <a:ext cx="2377440" cy="4160520"/>
          </a:xfrm>
          <a:prstGeom prst="roundRect">
            <a:avLst>
              <a:gd name="adj" fmla="val 3077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876288" y="1417320"/>
            <a:ext cx="2157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Worker 1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876288" y="1737360"/>
            <a:ext cx="2157984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HV 재사용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선구축 · 이관 VM 전체 수용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326880" y="1325880"/>
            <a:ext cx="2404872" cy="4160520"/>
          </a:xfrm>
          <a:prstGeom prst="roundRect">
            <a:avLst>
              <a:gd name="adj" fmla="val 3042"/>
            </a:avLst>
          </a:prstGeom>
          <a:solidFill>
            <a:srgbClr val="FFF3D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436608" y="1417320"/>
            <a:ext cx="2185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Worker 2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9436608" y="1737360"/>
            <a:ext cx="2185416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HV 재사용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MTV 완료 후 전환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6949440" y="26060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059168" y="269748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VM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6949440" y="347472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059168" y="356616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VM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6949440" y="434340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7059168" y="44348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VM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9509760" y="260604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9619488" y="269748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VM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9509760" y="347472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9619488" y="356616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VM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9509760" y="4343400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9619488" y="443484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VM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457200" y="5669280"/>
            <a:ext cx="11274552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594360" y="5742432"/>
            <a:ext cx="5440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Bastion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클러스터 입구 서버. DNS·부하분산(LB)·설치 이미지 보관 담당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Master (컨트롤 플레인)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클러스터 전체를 관리하는 노드 (KVM 위 VM 3대)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Worker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VM이 실행되는 노드</a:t>
            </a: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6172200" y="5742432"/>
            <a:ext cx="5440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KVM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RHEL에 포함된 가상화 기능. Master VM을 올릴 때 사용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etcd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클러스터 설정 데이터베이스. Master VM 내부, 정기 백업 대상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미러 레지스트리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폐쇄망에서 설치 이미지를 보관하는 저장소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장비 재구성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외부망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92608"/>
            <a:ext cx="1188720" cy="2130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78992"/>
            <a:ext cx="1127455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· OpenShift 전환 구축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17352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51560" y="12070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· VMware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675120" y="1207008"/>
            <a:ext cx="5056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· OpenShift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411480" cy="411480"/>
          </a:xfrm>
          <a:prstGeom prst="ellipse">
            <a:avLst/>
          </a:prstGeom>
          <a:solidFill>
            <a:srgbClr val="1D5BB5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801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303520" y="17282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303520" y="2048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재활용 장비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75120" y="1554480"/>
            <a:ext cx="5056632" cy="896112"/>
          </a:xfrm>
          <a:prstGeom prst="roundRect">
            <a:avLst>
              <a:gd name="adj" fmla="val 8163"/>
            </a:avLst>
          </a:prstGeom>
          <a:solidFill>
            <a:srgbClr val="E3EEFF"/>
          </a:solidFill>
          <a:ln w="12700">
            <a:solidFill>
              <a:srgbClr val="1D5BB5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6784848" y="1645920"/>
            <a:ext cx="4837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Bastion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784848" y="1965960"/>
            <a:ext cx="4837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재활용 TNS-2100 #A · RHEL 9.8 · DNS·LB·NTP·미러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0561320" y="164592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61320" y="16459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IP 2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807208"/>
            <a:ext cx="411480" cy="411480"/>
          </a:xfrm>
          <a:prstGeom prst="ellipse">
            <a:avLst/>
          </a:prstGeom>
          <a:solidFill>
            <a:srgbClr val="1D5BB5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7200" y="2807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303520" y="273405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303520" y="305409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재활용 장비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675120" y="2560320"/>
            <a:ext cx="5056632" cy="896112"/>
          </a:xfrm>
          <a:prstGeom prst="roundRect">
            <a:avLst>
              <a:gd name="adj" fmla="val 8163"/>
            </a:avLst>
          </a:prstGeom>
          <a:solidFill>
            <a:srgbClr val="E3EEFF"/>
          </a:solidFill>
          <a:ln w="12700">
            <a:solidFill>
              <a:srgbClr val="1D5BB5"/>
            </a:solidFill>
            <a:prstDash val="dash"/>
          </a:ln>
        </p:spPr>
      </p:sp>
      <p:sp>
        <p:nvSpPr>
          <p:cNvPr id="25" name="Text 22"/>
          <p:cNvSpPr/>
          <p:nvPr/>
        </p:nvSpPr>
        <p:spPr>
          <a:xfrm>
            <a:off x="6784848" y="2651760"/>
            <a:ext cx="4837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KVM 호스트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784848" y="2971800"/>
            <a:ext cx="4837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재활용 TNS-2100 #B · Master VM 3 + bootstrap(임시)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10561320" y="265176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561320" y="265176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IP 5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7200" y="3813048"/>
            <a:ext cx="411480" cy="4114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5720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1051560" y="3566160"/>
            <a:ext cx="420624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1161288" y="3657600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HV#02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1161288" y="3977640"/>
            <a:ext cx="3986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DNS VM(HV#01로 이동) · vCLS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394960" y="3968496"/>
            <a:ext cx="1143000" cy="914"/>
          </a:xfrm>
          <a:prstGeom prst="line">
            <a:avLst/>
          </a:prstGeom>
          <a:noFill/>
          <a:ln w="38100">
            <a:solidFill>
              <a:srgbClr val="2E7D32"/>
            </a:solidFill>
            <a:prstDash val="solid"/>
            <a:tailEnd type="triangle"/>
          </a:ln>
        </p:spPr>
      </p:sp>
      <p:sp>
        <p:nvSpPr>
          <p:cNvPr id="35" name="Text 32"/>
          <p:cNvSpPr/>
          <p:nvPr/>
        </p:nvSpPr>
        <p:spPr>
          <a:xfrm>
            <a:off x="5303520" y="405993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재구성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675120" y="3566160"/>
            <a:ext cx="5056632" cy="896112"/>
          </a:xfrm>
          <a:prstGeom prst="roundRect">
            <a:avLst>
              <a:gd name="adj" fmla="val 8163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784848" y="3657600"/>
            <a:ext cx="4837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Worker 1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784848" y="3977640"/>
            <a:ext cx="4837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IP 재사용 · 선구축 · 업무 VM 11대 수신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457200" y="4818888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57200" y="48188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1051560" y="4572000"/>
            <a:ext cx="420624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161288" y="4663440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HV#01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1161288" y="4983480"/>
            <a:ext cx="3986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VM 11 · vCenter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5394960" y="4974336"/>
            <a:ext cx="1143000" cy="914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45" name="Text 42"/>
          <p:cNvSpPr/>
          <p:nvPr/>
        </p:nvSpPr>
        <p:spPr>
          <a:xfrm>
            <a:off x="5303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MTV 후 재구성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6675120" y="4572000"/>
            <a:ext cx="5056632" cy="896112"/>
          </a:xfrm>
          <a:prstGeom prst="roundRect">
            <a:avLst>
              <a:gd name="adj" fmla="val 8163"/>
            </a:avLst>
          </a:prstGeom>
          <a:solidFill>
            <a:srgbClr val="FFF3D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784848" y="4663440"/>
            <a:ext cx="4837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Worker 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6784848" y="4983480"/>
            <a:ext cx="4837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IP 재사용 · MTV·안정화 완료 후 재구성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457200" y="5715000"/>
            <a:ext cx="11274552" cy="667512"/>
          </a:xfrm>
          <a:prstGeom prst="roundRect">
            <a:avLst>
              <a:gd name="adj" fmla="val 8219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94360" y="5788152"/>
            <a:ext cx="5440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재구성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HV의 VMware를 지우고 노드 OS(RHCOS)를 새로 설치하는 작업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RHCOS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OpenShift 노드 전용 OS (Red Hat Enterprise Linux CoreOS)</a:t>
            </a:r>
            <a:endParaRPr lang="en-US" sz="950" dirty="0"/>
          </a:p>
        </p:txBody>
      </p:sp>
      <p:sp>
        <p:nvSpPr>
          <p:cNvPr id="51" name="Text 48"/>
          <p:cNvSpPr/>
          <p:nvPr/>
        </p:nvSpPr>
        <p:spPr>
          <a:xfrm>
            <a:off x="6172200" y="5788152"/>
            <a:ext cx="5440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bootstrap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초기에만 쓰는 임시 VM. master 구성 완료 후 삭제·IP 반납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MTV 후 재구성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 이관·안정화 완료 후 원본 HV를 Worker 2로 재구성하는 작업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장비 재구성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내부망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92608"/>
            <a:ext cx="1188720" cy="2130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78992"/>
            <a:ext cx="1127455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· OpenShift 전환 구축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17352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51560" y="12070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· VMware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675120" y="1207008"/>
            <a:ext cx="5056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TO-BE · OpenShift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411480" cy="411480"/>
          </a:xfrm>
          <a:prstGeom prst="ellipse">
            <a:avLst/>
          </a:prstGeom>
          <a:solidFill>
            <a:srgbClr val="1D5BB5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801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303520" y="1728216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303520" y="204825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재활용 장비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75120" y="1554480"/>
            <a:ext cx="5056632" cy="896112"/>
          </a:xfrm>
          <a:prstGeom prst="roundRect">
            <a:avLst>
              <a:gd name="adj" fmla="val 8163"/>
            </a:avLst>
          </a:prstGeom>
          <a:solidFill>
            <a:srgbClr val="E3EEFF"/>
          </a:solidFill>
          <a:ln w="12700">
            <a:solidFill>
              <a:srgbClr val="1D5BB5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6784848" y="1645920"/>
            <a:ext cx="4837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Bastion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784848" y="1965960"/>
            <a:ext cx="4837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재활용 TNS-2100 · RHEL 9.8 · DNS·LB·NTP·미러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0561320" y="164592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61320" y="164592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IP 2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807208"/>
            <a:ext cx="411480" cy="411480"/>
          </a:xfrm>
          <a:prstGeom prst="ellipse">
            <a:avLst/>
          </a:prstGeom>
          <a:solidFill>
            <a:srgbClr val="1D5BB5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7200" y="2807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051560" y="2560320"/>
            <a:ext cx="420624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161288" y="2651760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HV#03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61288" y="2971800"/>
            <a:ext cx="3986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DNS VM(HV#02로 이동) · vCLS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394960" y="2962656"/>
            <a:ext cx="1143000" cy="914"/>
          </a:xfrm>
          <a:prstGeom prst="line">
            <a:avLst/>
          </a:prstGeom>
          <a:noFill/>
          <a:ln w="38100">
            <a:solidFill>
              <a:srgbClr val="1D5BB5"/>
            </a:solidFill>
            <a:prstDash val="solid"/>
            <a:tailEnd type="triangle"/>
          </a:ln>
        </p:spPr>
      </p:sp>
      <p:sp>
        <p:nvSpPr>
          <p:cNvPr id="26" name="Text 23"/>
          <p:cNvSpPr/>
          <p:nvPr/>
        </p:nvSpPr>
        <p:spPr>
          <a:xfrm>
            <a:off x="5303520" y="305409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재구성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675120" y="2560320"/>
            <a:ext cx="5056632" cy="896112"/>
          </a:xfrm>
          <a:prstGeom prst="roundRect">
            <a:avLst>
              <a:gd name="adj" fmla="val 8163"/>
            </a:avLst>
          </a:prstGeom>
          <a:solidFill>
            <a:srgbClr val="E3EE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784848" y="2651760"/>
            <a:ext cx="4837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KVM 호스트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6784848" y="2971800"/>
            <a:ext cx="4837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RHEL 9.8 + KVM · Master VM 3 + bootstrap(임시)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10561320" y="265176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561320" y="265176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IP 5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57200" y="3813048"/>
            <a:ext cx="411480" cy="4114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720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1051560" y="3566160"/>
            <a:ext cx="420624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161288" y="3657600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HV#01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1161288" y="3977640"/>
            <a:ext cx="3986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vCLS만 있음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394960" y="3968496"/>
            <a:ext cx="1143000" cy="914"/>
          </a:xfrm>
          <a:prstGeom prst="line">
            <a:avLst/>
          </a:prstGeom>
          <a:noFill/>
          <a:ln w="38100">
            <a:solidFill>
              <a:srgbClr val="2E7D32"/>
            </a:solidFill>
            <a:prstDash val="solid"/>
            <a:tailEnd type="triangle"/>
          </a:ln>
        </p:spPr>
      </p:sp>
      <p:sp>
        <p:nvSpPr>
          <p:cNvPr id="38" name="Text 35"/>
          <p:cNvSpPr/>
          <p:nvPr/>
        </p:nvSpPr>
        <p:spPr>
          <a:xfrm>
            <a:off x="5303520" y="405993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재구성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675120" y="3566160"/>
            <a:ext cx="5056632" cy="896112"/>
          </a:xfrm>
          <a:prstGeom prst="roundRect">
            <a:avLst>
              <a:gd name="adj" fmla="val 8163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784848" y="3657600"/>
            <a:ext cx="4837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Worker 1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6784848" y="3977640"/>
            <a:ext cx="4837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IP 재사용 · 선구축 · 업무 VM 24대 수신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457200" y="4818888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8188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1051560" y="4572000"/>
            <a:ext cx="420624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161288" y="4663440"/>
            <a:ext cx="3986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HV#02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1161288" y="4983480"/>
            <a:ext cx="3986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VM 24 · vCenter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5394960" y="4974336"/>
            <a:ext cx="1143000" cy="914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tailEnd type="triangle"/>
          </a:ln>
        </p:spPr>
      </p:sp>
      <p:sp>
        <p:nvSpPr>
          <p:cNvPr id="48" name="Text 45"/>
          <p:cNvSpPr/>
          <p:nvPr/>
        </p:nvSpPr>
        <p:spPr>
          <a:xfrm>
            <a:off x="5303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MTV 후 재구성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6675120" y="4572000"/>
            <a:ext cx="5056632" cy="896112"/>
          </a:xfrm>
          <a:prstGeom prst="roundRect">
            <a:avLst>
              <a:gd name="adj" fmla="val 8163"/>
            </a:avLst>
          </a:prstGeom>
          <a:solidFill>
            <a:srgbClr val="FFF3DF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6784848" y="4663440"/>
            <a:ext cx="4837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Worker 2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6784848" y="4983480"/>
            <a:ext cx="4837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IP 재사용 · MTV·안정화 완료 후 재구성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457200" y="5715000"/>
            <a:ext cx="11274552" cy="667512"/>
          </a:xfrm>
          <a:prstGeom prst="roundRect">
            <a:avLst>
              <a:gd name="adj" fmla="val 8219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94360" y="5788152"/>
            <a:ext cx="5440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Master KVM 호스트 (내부망)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HV#03 재구성. 관리망 4회선: 2회선 호스트 원격접속(IP) · 2회선 br0 브리지(IP 없음)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Worker 1 단독 기간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기간 Worker 1이 업무 VM 전체 수용 (내부망 메모리 약 82%)</a:t>
            </a:r>
            <a:endParaRPr lang="en-US" sz="950" dirty="0"/>
          </a:p>
        </p:txBody>
      </p:sp>
      <p:sp>
        <p:nvSpPr>
          <p:cNvPr id="54" name="Text 51"/>
          <p:cNvSpPr/>
          <p:nvPr/>
        </p:nvSpPr>
        <p:spPr>
          <a:xfrm>
            <a:off x="6172200" y="5788152"/>
            <a:ext cx="5440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원본 HV 보관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HV#02는 안정화 완료까지 VMware 상태로 유지 (원복용)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진행 순서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7단계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92608"/>
            <a:ext cx="1188720" cy="2130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78992"/>
            <a:ext cx="1127455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· OpenShift 전환 구축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17352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1463040"/>
            <a:ext cx="1517904" cy="731520"/>
          </a:xfrm>
          <a:prstGeom prst="chevron">
            <a:avLst/>
          </a:prstGeom>
          <a:solidFill>
            <a:srgbClr val="2F4F7A"/>
          </a:solidFill>
          <a:ln w="12700">
            <a:solidFill>
              <a:srgbClr val="2F4F7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1463040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장비·IP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233172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" y="242316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TNS-2100 설치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포설 · IP 할당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084832" y="1463040"/>
            <a:ext cx="1517904" cy="731520"/>
          </a:xfrm>
          <a:prstGeom prst="chevron">
            <a:avLst/>
          </a:prstGeom>
          <a:solidFill>
            <a:srgbClr val="1D5BB5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13432" y="1463040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Bastion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084832" y="233172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94560" y="242316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DNS·LB·NTP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미러 레지스트리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712464" y="1463040"/>
            <a:ext cx="1517904" cy="731520"/>
          </a:xfrm>
          <a:prstGeom prst="chevron">
            <a:avLst/>
          </a:prstGeom>
          <a:solidFill>
            <a:srgbClr val="2F4F7A"/>
          </a:solidFill>
          <a:ln w="12700">
            <a:solidFill>
              <a:srgbClr val="2F4F7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941064" y="1463040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HV 정리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712464" y="233172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822192" y="242316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 전부 원본 HV로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 → 호스트 제거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340096" y="1463040"/>
            <a:ext cx="1517904" cy="731520"/>
          </a:xfrm>
          <a:prstGeom prst="chevron">
            <a:avLst/>
          </a:prstGeom>
          <a:solidFill>
            <a:srgbClr val="1D5BB5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568696" y="1463040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Master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340096" y="233172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49824" y="242316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KVM + Master VM 3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bootstrap 후 반납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967728" y="1463040"/>
            <a:ext cx="1517904" cy="731520"/>
          </a:xfrm>
          <a:prstGeom prst="chevron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196328" y="1463040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Worker1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967728" y="233172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77456" y="242316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HV 재구성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클러스터 편입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595360" y="1463040"/>
            <a:ext cx="1517904" cy="731520"/>
          </a:xfrm>
          <a:prstGeom prst="chevron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823960" y="1463040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MTV 이관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8595360" y="233172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705088" y="242316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→ 본 이관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외부망 먼저 작업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10222992" y="1463040"/>
            <a:ext cx="1517904" cy="731520"/>
          </a:xfrm>
          <a:prstGeom prst="chevron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451592" y="1463040"/>
            <a:ext cx="1152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Worker2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10222992" y="2331720"/>
            <a:ext cx="1517904" cy="9144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0332720" y="2423160"/>
            <a:ext cx="1298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안정화 확인 후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HV 재구성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57200" y="3383280"/>
            <a:ext cx="1517904" cy="54864"/>
          </a:xfrm>
          <a:prstGeom prst="rect">
            <a:avLst/>
          </a:prstGeom>
          <a:solidFill>
            <a:srgbClr val="2F4F7A"/>
          </a:solidFill>
          <a:ln w="12700">
            <a:solidFill>
              <a:srgbClr val="2F4F7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57200" y="3474720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· 1차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084832" y="3383280"/>
            <a:ext cx="6400800" cy="54864"/>
          </a:xfrm>
          <a:prstGeom prst="rect">
            <a:avLst/>
          </a:prstGeom>
          <a:solidFill>
            <a:srgbClr val="2F4F7A"/>
          </a:solidFill>
          <a:ln w="12700">
            <a:solidFill>
              <a:srgbClr val="2F4F7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2084832" y="3474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· 2차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8595360" y="3383280"/>
            <a:ext cx="3145536" cy="54864"/>
          </a:xfrm>
          <a:prstGeom prst="rect">
            <a:avLst/>
          </a:prstGeom>
          <a:solidFill>
            <a:srgbClr val="2F4F7A"/>
          </a:solidFill>
          <a:ln w="12700">
            <a:solidFill>
              <a:srgbClr val="2F4F7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595360" y="3474720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12월 · 3차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3931920"/>
            <a:ext cx="11274552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66928" y="402336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단계별 사전 준비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66928" y="434340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· 재활용 TNS-2100 랙 설치·전원, Bastion NAS/BK 2포트 신규 포설, 신규 IP 할당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· 재구성 대상 HV의 VM(DNS VM 포함)을 원본 HV 1대로 모두 이동(vMotion) → 호스트 제거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· Worker1 FC LUN 매핑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6단계 · 외부망 먼저 이관 완료 후 내부망 이관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7단계 · MTV 완료 후 vCenter·DNS VM 정리, Worker2 FC LUN 매핑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457200" y="5715000"/>
            <a:ext cx="11274552" cy="667512"/>
          </a:xfrm>
          <a:prstGeom prst="roundRect">
            <a:avLst>
              <a:gd name="adj" fmla="val 8219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94360" y="5788152"/>
            <a:ext cx="5440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vMotion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VM을 켠 상태로 다른 HV로 옮기는 VMware 기능. HV 정리 시 사용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호스트 제거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vCenter 관리 목록에서 HV를 빼는 작업. vCenter·원본 HV는 MTV 완료까지 유지</a:t>
            </a:r>
            <a:endParaRPr lang="en-US" sz="950" dirty="0"/>
          </a:p>
        </p:txBody>
      </p:sp>
      <p:sp>
        <p:nvSpPr>
          <p:cNvPr id="48" name="Text 45"/>
          <p:cNvSpPr/>
          <p:nvPr/>
        </p:nvSpPr>
        <p:spPr>
          <a:xfrm>
            <a:off x="6172200" y="5788152"/>
            <a:ext cx="5440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시험 이관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VM을 먼저 옮겨 소요 시간·문제점을 확인하는 단계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안정화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후 최소 1주 무장애 확인 기간. 원본 VM은 이 기간까지 종료 상태로 보관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네트워크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노드별 네트워크 연결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92608"/>
            <a:ext cx="1188720" cy="2130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78992"/>
            <a:ext cx="1127455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· OpenShift 전환 구축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17352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2468880" cy="25146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9050">
            <a:solidFill>
              <a:srgbClr val="1D5BB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17320"/>
            <a:ext cx="224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" y="1783080"/>
            <a:ext cx="2194560" cy="685800"/>
          </a:xfrm>
          <a:prstGeom prst="roundRect">
            <a:avLst>
              <a:gd name="adj" fmla="val 1066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04088" y="187452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DNS · LB · NTP · 미러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94360" y="2606040"/>
            <a:ext cx="1051560" cy="822960"/>
          </a:xfrm>
          <a:prstGeom prst="roundRect">
            <a:avLst>
              <a:gd name="adj" fmla="val 888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04088" y="2697480"/>
            <a:ext cx="83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bond0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2포트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1737360" y="2606040"/>
            <a:ext cx="1051560" cy="822960"/>
          </a:xfrm>
          <a:prstGeom prst="roundRect">
            <a:avLst>
              <a:gd name="adj" fmla="val 8889"/>
            </a:avLst>
          </a:prstGeom>
          <a:solidFill>
            <a:srgbClr val="FDF0E1"/>
          </a:solidFill>
          <a:ln w="12700">
            <a:solidFill>
              <a:srgbClr val="FDF0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847088" y="2697480"/>
            <a:ext cx="8321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bond2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NAS/BK 2포트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108960" y="13258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1D5BB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18688" y="141732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KVM 호스트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3246120" y="17830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355848" y="187452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master-1 · 2 · 3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bootstrap(임시)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246120" y="260604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55848" y="2697480"/>
            <a:ext cx="92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bond0 (IP)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2포트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480560" y="260604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90288" y="2697480"/>
            <a:ext cx="9235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bond1 → br0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2포트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943600" y="1325880"/>
            <a:ext cx="5788152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053328" y="1417320"/>
            <a:ext cx="5568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Worker 1 · Worker 2 (기존 HV 6포트)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080760" y="1783080"/>
            <a:ext cx="5513832" cy="548640"/>
          </a:xfrm>
          <a:prstGeom prst="roundRect">
            <a:avLst>
              <a:gd name="adj" fmla="val 13333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190488" y="1874520"/>
            <a:ext cx="5294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VM (NIC 2~3개)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6080760" y="2468880"/>
            <a:ext cx="1737360" cy="1097280"/>
          </a:xfrm>
          <a:prstGeom prst="roundRect">
            <a:avLst>
              <a:gd name="adj" fmla="val 666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190488" y="2560320"/>
            <a:ext cx="15179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bond0 → br-ex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2포트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7955280" y="2468880"/>
            <a:ext cx="1737360" cy="1097280"/>
          </a:xfrm>
          <a:prstGeom prst="roundRect">
            <a:avLst>
              <a:gd name="adj" fmla="val 6667"/>
            </a:avLst>
          </a:prstGeom>
          <a:solidFill>
            <a:srgbClr val="E0ECF8"/>
          </a:solidFill>
          <a:ln w="12700">
            <a:solidFill>
              <a:srgbClr val="E0ECF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065008" y="2560320"/>
            <a:ext cx="15179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bond1 → br-svc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2포트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9829800" y="2468880"/>
            <a:ext cx="1764792" cy="1097280"/>
          </a:xfrm>
          <a:prstGeom prst="roundRect">
            <a:avLst>
              <a:gd name="adj" fmla="val 6667"/>
            </a:avLst>
          </a:prstGeom>
          <a:solidFill>
            <a:srgbClr val="FDF0E1"/>
          </a:solidFill>
          <a:ln w="12700">
            <a:solidFill>
              <a:srgbClr val="FDF0E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939528" y="2560320"/>
            <a:ext cx="15453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bond2 → br-bk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nasbak 2포트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1097280" y="3840480"/>
            <a:ext cx="914" cy="731520"/>
          </a:xfrm>
          <a:prstGeom prst="line">
            <a:avLst/>
          </a:prstGeom>
          <a:noFill/>
          <a:ln w="31750">
            <a:solidFill>
              <a:srgbClr val="6D5AA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377440" y="3840480"/>
            <a:ext cx="914" cy="1554480"/>
          </a:xfrm>
          <a:prstGeom prst="line">
            <a:avLst/>
          </a:prstGeom>
          <a:noFill/>
          <a:ln w="31750">
            <a:solidFill>
              <a:srgbClr val="B0752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822192" y="3840480"/>
            <a:ext cx="914" cy="731520"/>
          </a:xfrm>
          <a:prstGeom prst="line">
            <a:avLst/>
          </a:prstGeom>
          <a:noFill/>
          <a:ln w="31750">
            <a:solidFill>
              <a:srgbClr val="6D5AA6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047488" y="3840480"/>
            <a:ext cx="914" cy="731520"/>
          </a:xfrm>
          <a:prstGeom prst="line">
            <a:avLst/>
          </a:prstGeom>
          <a:noFill/>
          <a:ln w="31750">
            <a:solidFill>
              <a:srgbClr val="6D5AA6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949440" y="3840480"/>
            <a:ext cx="914" cy="731520"/>
          </a:xfrm>
          <a:prstGeom prst="line">
            <a:avLst/>
          </a:prstGeom>
          <a:noFill/>
          <a:ln w="31750">
            <a:solidFill>
              <a:srgbClr val="6D5AA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823960" y="3840480"/>
            <a:ext cx="914" cy="1143000"/>
          </a:xfrm>
          <a:prstGeom prst="line">
            <a:avLst/>
          </a:prstGeom>
          <a:noFill/>
          <a:ln w="31750">
            <a:solidFill>
              <a:srgbClr val="2F6FB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698480" y="3840480"/>
            <a:ext cx="914" cy="1554480"/>
          </a:xfrm>
          <a:prstGeom prst="line">
            <a:avLst/>
          </a:prstGeom>
          <a:noFill/>
          <a:ln w="31750">
            <a:solidFill>
              <a:srgbClr val="B0752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57200" y="4572000"/>
            <a:ext cx="11274552" cy="73152"/>
          </a:xfrm>
          <a:prstGeom prst="rect">
            <a:avLst/>
          </a:prstGeom>
          <a:solidFill>
            <a:srgbClr val="6D5AA6"/>
          </a:solidFill>
          <a:ln w="12700">
            <a:solidFill>
              <a:srgbClr val="6D5AA6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57200" y="46634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D5A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관리망 · 태그 없음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57200" y="4983480"/>
            <a:ext cx="11274552" cy="73152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57200" y="5074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F6F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서비스망 · VLAN 130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57200" y="5394960"/>
            <a:ext cx="11274552" cy="73152"/>
          </a:xfrm>
          <a:prstGeom prst="rect">
            <a:avLst/>
          </a:prstGeom>
          <a:solidFill>
            <a:srgbClr val="B0752F"/>
          </a:solidFill>
          <a:ln w="12700">
            <a:solidFill>
              <a:srgbClr val="B0752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57200" y="54864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7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nasbak망 · VLAN 710 · 701(임시)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2514600" y="406908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0752F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2514600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75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포설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457200" y="1097280"/>
            <a:ext cx="11274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bond: 2포트 · mode 1 · 10G  |  IPMI 1G  |  Worker FC 연결 유지  |  기존 HV 케이블·스위치 설정 변경 없음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57200" y="576072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94360" y="5833872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bond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포트 2개를 하나로 묶는 구성. mode 1은 한 포트만 사용, 장애 시 다른 포트로 전환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브리지 (br0 · br-svc · br-bk)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bond를 VM용 가상 스위치로 만든 것 (VMware vSwitch와 같은 역할)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6172200" y="5833872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VLAN trunk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 포트 하나로 여러 VLAN을 전달하는 설정. 기존 HV 설정 그대로 사용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NAS/BK 포트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Bastion이 etcd 백업을 통합 백업스토리지에 보관할 때 사용하는 2포트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VM 이관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Cold Migration (콜드 이관)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92608"/>
            <a:ext cx="1188720" cy="2130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78992"/>
            <a:ext cx="1127455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· OpenShift 전환 구축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17352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1371600"/>
            <a:ext cx="3291840" cy="2011680"/>
          </a:xfrm>
          <a:prstGeom prst="roundRect">
            <a:avLst>
              <a:gd name="adj" fmla="val 3636"/>
            </a:avLst>
          </a:prstGeom>
          <a:solidFill>
            <a:srgbClr val="F1F5F9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63040"/>
            <a:ext cx="3072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· VMware (이관 대상)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66928" y="1783080"/>
            <a:ext cx="30723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VM 11 (RHEL 8 · Windows 3)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VM 24 (RHEL 22 · Windows 2)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 종료 후 이관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886200" y="2240280"/>
            <a:ext cx="1005840" cy="914"/>
          </a:xfrm>
          <a:prstGeom prst="line">
            <a:avLst/>
          </a:prstGeom>
          <a:noFill/>
          <a:ln w="50800">
            <a:solidFill>
              <a:srgbClr val="1E3A5F"/>
            </a:solidFill>
            <a:prstDash val="solid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3749040" y="237744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관리망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 복사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029200" y="1371600"/>
            <a:ext cx="2377440" cy="2011680"/>
          </a:xfrm>
          <a:prstGeom prst="roundRect">
            <a:avLst>
              <a:gd name="adj" fmla="val 3636"/>
            </a:avLst>
          </a:prstGeom>
          <a:solidFill>
            <a:srgbClr val="E6ECF4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138928" y="1463040"/>
            <a:ext cx="2157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MTV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138928" y="1783080"/>
            <a:ext cx="21579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디스크 복사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OpenShift용 변환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(드라이버 · NIC)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543800" y="2240280"/>
            <a:ext cx="1097280" cy="914"/>
          </a:xfrm>
          <a:prstGeom prst="line">
            <a:avLst/>
          </a:prstGeom>
          <a:noFill/>
          <a:ln w="50800">
            <a:solidFill>
              <a:srgbClr val="1E3A5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8778240" y="1371600"/>
            <a:ext cx="2953512" cy="2011680"/>
          </a:xfrm>
          <a:prstGeom prst="roundRect">
            <a:avLst>
              <a:gd name="adj" fmla="val 3636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887968" y="1463040"/>
            <a:ext cx="2734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· Worker 1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87968" y="1783080"/>
            <a:ext cx="27340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 유지 · IP 직접 설정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VM은 종료 상태 보관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3611880"/>
            <a:ext cx="384048" cy="38404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14400" y="3657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 종료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2331720" y="3803904"/>
            <a:ext cx="32004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743200" y="3611880"/>
            <a:ext cx="384048" cy="38404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74320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200400" y="3657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 · 변환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617720" y="3803904"/>
            <a:ext cx="32004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029200" y="3611880"/>
            <a:ext cx="384048" cy="38404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5486400" y="3657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VM 기동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903720" y="3803904"/>
            <a:ext cx="32004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7315200" y="3611880"/>
            <a:ext cx="384048" cy="38404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31520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7772400" y="3657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IP 설정 · 확인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9189720" y="3803904"/>
            <a:ext cx="32004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9601200" y="3611880"/>
            <a:ext cx="384048" cy="384048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60120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10058400" y="3657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검증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57200" y="4251960"/>
            <a:ext cx="5532120" cy="1234440"/>
          </a:xfrm>
          <a:prstGeom prst="roundRect">
            <a:avLst>
              <a:gd name="adj" fmla="val 5926"/>
            </a:avLst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66928" y="4343400"/>
            <a:ext cx="5312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중단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566928" y="4663440"/>
            <a:ext cx="5312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VM별 종료 ~ 기동 구간 중단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6199632" y="4251960"/>
            <a:ext cx="5532120" cy="1234440"/>
          </a:xfrm>
          <a:prstGeom prst="roundRect">
            <a:avLst>
              <a:gd name="adj" fmla="val 5926"/>
            </a:avLst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309360" y="4343400"/>
            <a:ext cx="5312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IP 설정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309360" y="4663440"/>
            <a:ext cx="5312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VMware Tools 미설치 · 이관 후 VM 안에서 IP 직접 설정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(NIC 이름 변경 반영)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457200" y="5715000"/>
            <a:ext cx="11274552" cy="667512"/>
          </a:xfrm>
          <a:prstGeom prst="roundRect">
            <a:avLst>
              <a:gd name="adj" fmla="val 8219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94360" y="5788152"/>
            <a:ext cx="5440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Cold Migration (콜드 이관)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VM을 종료한 상태에서 옮기는 방식. 이관 중 서비스 중단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네트워크 복사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MTV가 관리망으로 vCenter·ESXi에서 VM 디스크를 읽어 오는 방식</a:t>
            </a:r>
            <a:endParaRPr lang="en-US" sz="950" dirty="0"/>
          </a:p>
        </p:txBody>
      </p:sp>
      <p:sp>
        <p:nvSpPr>
          <p:cNvPr id="48" name="Text 45"/>
          <p:cNvSpPr/>
          <p:nvPr/>
        </p:nvSpPr>
        <p:spPr>
          <a:xfrm>
            <a:off x="6172200" y="5788152"/>
            <a:ext cx="5440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NIC 변경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vmxnet3(VMware) → virtio(OpenShift) 변경, 인터페이스 이름 변경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MAC 유지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후에도 VM NIC의 MAC 주소를 그대로 사용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준비 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 설치 · 케이블 포설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92608"/>
            <a:ext cx="1188720" cy="2130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78992"/>
            <a:ext cx="1127455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· OpenShift 전환 구축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17352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36576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73152" cy="2651760"/>
          </a:xfrm>
          <a:prstGeom prst="rect">
            <a:avLst/>
          </a:prstGeom>
          <a:solidFill>
            <a:srgbClr val="2F4F7A"/>
          </a:solidFill>
          <a:ln w="12700">
            <a:solidFill>
              <a:srgbClr val="2F4F7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4538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TNS-2100 랙 설치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2514600" y="1472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14600" y="1472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· 1차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85800" y="1892808"/>
            <a:ext cx="3291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재활용 TNS-2100 3대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외부망: Bastion(#A), Master KVM(#B)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내부망: Bastion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랙 설치 · 전원 · IPMI 결선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관리망: Bastion 2 · Master KVM 4회선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85800" y="3703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· 서버 운영자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270248" y="1325880"/>
            <a:ext cx="36576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70248" y="1371600"/>
            <a:ext cx="73152" cy="2651760"/>
          </a:xfrm>
          <a:prstGeom prst="rect">
            <a:avLst/>
          </a:prstGeom>
          <a:solidFill>
            <a:srgbClr val="2F4F7A"/>
          </a:solidFill>
          <a:ln w="12700">
            <a:solidFill>
              <a:srgbClr val="2F4F7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98848" y="14538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NAS/BK 포설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327648" y="1472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1472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· 1차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498848" y="1892808"/>
            <a:ext cx="3291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외부망·내부망 Bastion 각 2포트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nasbak망(통합 백업스토리지) 연결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용도: etcd 백업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498848" y="3703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· 서버 운영자 · 네트워크 담당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083296" y="1325880"/>
            <a:ext cx="365760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083296" y="1371600"/>
            <a:ext cx="73152" cy="2651760"/>
          </a:xfrm>
          <a:prstGeom prst="rect">
            <a:avLst/>
          </a:prstGeom>
          <a:solidFill>
            <a:srgbClr val="2F4F7A"/>
          </a:solidFill>
          <a:ln w="12700">
            <a:solidFill>
              <a:srgbClr val="2F4F7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311896" y="14538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콘솔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10140696" y="1472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140696" y="1472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· 1차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8311896" y="1892808"/>
            <a:ext cx="3291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IPMI로 OS 설치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대상: 재구성 HV, TNS-2100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IPMI 접속 경로·계정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311896" y="3703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· 서버 운영자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457200" y="429768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HV(Worker 전환 대상): 6포트(관리·서비스·nasbak 각 2) + FC + IPMI 그대로 사용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KVM 호스트(외부 TNS-2100 #B · 내부 HV#03): 관리망 4회선 (2회선 호스트 원격접속 · 2회선 br0 브리지)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57200" y="576072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94360" y="5833872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TNS-2100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재활용 서버 장비. 3대 투입, 2대 여유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IPMI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전원·콘솔 원격 관리 포트. OS 설치 시 사용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6172200" y="5833872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etcd 백업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Bastion이 클러스터 설정 DB를 정기 백업해 통합 백업스토리지에 보관하는 작업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준비 ②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IP 할당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92608"/>
            <a:ext cx="1188720" cy="2130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78992"/>
            <a:ext cx="1127455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· OpenShift 전환 구축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17352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120700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망별 7개 (관리망 6 · nasbak 1) · 외부·내부 합계 14개 · 할당 10월(1차)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1691640"/>
            <a:ext cx="5532120" cy="411480"/>
          </a:xfrm>
          <a:prstGeom prst="roundRect">
            <a:avLst>
              <a:gd name="adj" fmla="val 1333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외부망 · 신규 IP 7개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94360" y="215798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154680" y="215798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할당 IP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257800" y="215798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2423160"/>
            <a:ext cx="5532120" cy="475488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4360" y="245973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94360" y="26791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TNS-2100 · 신규 장비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154680" y="2523744"/>
            <a:ext cx="845820" cy="274320"/>
          </a:xfrm>
          <a:prstGeom prst="roundRect">
            <a:avLst>
              <a:gd name="adj" fmla="val 50000"/>
            </a:avLst>
          </a:prstGeom>
          <a:solidFill>
            <a:srgbClr val="6D5AA6"/>
          </a:solidFill>
          <a:ln w="12700">
            <a:solidFill>
              <a:srgbClr val="6D5AA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154680" y="2523744"/>
            <a:ext cx="8458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관리망 1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091940" y="2523744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B0752F"/>
          </a:solidFill>
          <a:ln w="12700">
            <a:solidFill>
              <a:srgbClr val="B0752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091940" y="25237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nasbak 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212080" y="242316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457200" y="2935224"/>
            <a:ext cx="5532120" cy="475488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29718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KVM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94360" y="319125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TNS-2100 · 신규 장비 · 관리 4회선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154680" y="3035808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6D5AA6"/>
          </a:solidFill>
          <a:ln w="12700">
            <a:solidFill>
              <a:srgbClr val="6D5AA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154680" y="30358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관리망 1 · 원격접속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212080" y="2935224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457200" y="3447288"/>
            <a:ext cx="55321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31520" y="34838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└ master-1·2·3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960120" y="37033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VM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3154680" y="3547872"/>
            <a:ext cx="845820" cy="274320"/>
          </a:xfrm>
          <a:prstGeom prst="roundRect">
            <a:avLst>
              <a:gd name="adj" fmla="val 50000"/>
            </a:avLst>
          </a:prstGeom>
          <a:solidFill>
            <a:srgbClr val="6D5AA6"/>
          </a:solidFill>
          <a:ln w="12700">
            <a:solidFill>
              <a:srgbClr val="6D5AA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154680" y="3547872"/>
            <a:ext cx="8458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관리망 3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212080" y="344728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457200" y="3959352"/>
            <a:ext cx="55321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dash"/>
          </a:ln>
        </p:spPr>
      </p:sp>
      <p:sp>
        <p:nvSpPr>
          <p:cNvPr id="36" name="Text 33"/>
          <p:cNvSpPr/>
          <p:nvPr/>
        </p:nvSpPr>
        <p:spPr>
          <a:xfrm>
            <a:off x="731520" y="399592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└ bootstrap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960120" y="42153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임시 VM · master 구성 후 반납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3154680" y="4059936"/>
            <a:ext cx="845820" cy="274320"/>
          </a:xfrm>
          <a:prstGeom prst="roundRect">
            <a:avLst>
              <a:gd name="adj" fmla="val 50000"/>
            </a:avLst>
          </a:prstGeom>
          <a:solidFill>
            <a:srgbClr val="6D5AA6"/>
          </a:solidFill>
          <a:ln w="12700">
            <a:solidFill>
              <a:srgbClr val="6D5AA6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154680" y="4059936"/>
            <a:ext cx="8458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관리망 1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212080" y="395935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457200" y="4471416"/>
            <a:ext cx="5532120" cy="475488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94360" y="45079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Worker1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594360" y="472744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HV#02 재구성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3154680" y="44714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HV IP 재사용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5212080" y="447141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457200" y="4983480"/>
            <a:ext cx="5532120" cy="475488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94360" y="50200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Worker2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594360" y="52395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HV#01 · MTV 후 재구성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3154680" y="498348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HV IP 재사용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5212080" y="498348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6199632" y="1691640"/>
            <a:ext cx="5532120" cy="411480"/>
          </a:xfrm>
          <a:prstGeom prst="roundRect">
            <a:avLst>
              <a:gd name="adj" fmla="val 1333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36792" y="169164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내부망 · 신규 IP 7개</a:t>
            </a:r>
            <a:endParaRPr lang="en-US" sz="1400" dirty="0"/>
          </a:p>
        </p:txBody>
      </p:sp>
      <p:sp>
        <p:nvSpPr>
          <p:cNvPr id="53" name="Text 50"/>
          <p:cNvSpPr/>
          <p:nvPr/>
        </p:nvSpPr>
        <p:spPr>
          <a:xfrm>
            <a:off x="6336792" y="215798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8897112" y="215798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할당 IP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11000232" y="215798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개수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6199632" y="2423160"/>
            <a:ext cx="5532120" cy="475488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36792" y="245973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Bastion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6336792" y="26791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TNS-2100 · 신규 장비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8897112" y="2523744"/>
            <a:ext cx="845820" cy="274320"/>
          </a:xfrm>
          <a:prstGeom prst="roundRect">
            <a:avLst>
              <a:gd name="adj" fmla="val 50000"/>
            </a:avLst>
          </a:prstGeom>
          <a:solidFill>
            <a:srgbClr val="6D5AA6"/>
          </a:solidFill>
          <a:ln w="12700">
            <a:solidFill>
              <a:srgbClr val="6D5AA6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2523744"/>
            <a:ext cx="8458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관리망 1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9834372" y="2523744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B0752F"/>
          </a:solidFill>
          <a:ln w="12700">
            <a:solidFill>
              <a:srgbClr val="B0752F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834372" y="25237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nasbak 1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10954512" y="242316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64" name="Shape 61"/>
          <p:cNvSpPr/>
          <p:nvPr/>
        </p:nvSpPr>
        <p:spPr>
          <a:xfrm>
            <a:off x="6199632" y="2935224"/>
            <a:ext cx="5532120" cy="475488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6336792" y="29718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KVM</a:t>
            </a:r>
            <a:endParaRPr lang="en-US" sz="1200" dirty="0"/>
          </a:p>
        </p:txBody>
      </p:sp>
      <p:sp>
        <p:nvSpPr>
          <p:cNvPr id="66" name="Text 63"/>
          <p:cNvSpPr/>
          <p:nvPr/>
        </p:nvSpPr>
        <p:spPr>
          <a:xfrm>
            <a:off x="6336792" y="319125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HV#03 재구성 · 관리 4회선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8897112" y="3035808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6D5AA6"/>
          </a:solidFill>
          <a:ln w="12700">
            <a:solidFill>
              <a:srgbClr val="6D5AA6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8897112" y="30358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관리망 1 · 원격접속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10954512" y="2935224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70" name="Shape 67"/>
          <p:cNvSpPr/>
          <p:nvPr/>
        </p:nvSpPr>
        <p:spPr>
          <a:xfrm>
            <a:off x="6199632" y="3447288"/>
            <a:ext cx="55321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6473952" y="34838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└ master-1·2·3</a:t>
            </a:r>
            <a:endParaRPr lang="en-US" sz="1200" dirty="0"/>
          </a:p>
        </p:txBody>
      </p:sp>
      <p:sp>
        <p:nvSpPr>
          <p:cNvPr id="72" name="Text 69"/>
          <p:cNvSpPr/>
          <p:nvPr/>
        </p:nvSpPr>
        <p:spPr>
          <a:xfrm>
            <a:off x="6702552" y="37033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VM</a:t>
            </a:r>
            <a:endParaRPr lang="en-US" sz="900" dirty="0"/>
          </a:p>
        </p:txBody>
      </p:sp>
      <p:sp>
        <p:nvSpPr>
          <p:cNvPr id="73" name="Shape 70"/>
          <p:cNvSpPr/>
          <p:nvPr/>
        </p:nvSpPr>
        <p:spPr>
          <a:xfrm>
            <a:off x="8897112" y="3547872"/>
            <a:ext cx="845820" cy="274320"/>
          </a:xfrm>
          <a:prstGeom prst="roundRect">
            <a:avLst>
              <a:gd name="adj" fmla="val 50000"/>
            </a:avLst>
          </a:prstGeom>
          <a:solidFill>
            <a:srgbClr val="6D5AA6"/>
          </a:solidFill>
          <a:ln w="12700">
            <a:solidFill>
              <a:srgbClr val="6D5AA6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8897112" y="3547872"/>
            <a:ext cx="8458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관리망 3</a:t>
            </a:r>
            <a:endParaRPr lang="en-US" sz="1000" dirty="0"/>
          </a:p>
        </p:txBody>
      </p:sp>
      <p:sp>
        <p:nvSpPr>
          <p:cNvPr id="75" name="Text 72"/>
          <p:cNvSpPr/>
          <p:nvPr/>
        </p:nvSpPr>
        <p:spPr>
          <a:xfrm>
            <a:off x="10954512" y="3447288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76" name="Shape 73"/>
          <p:cNvSpPr/>
          <p:nvPr/>
        </p:nvSpPr>
        <p:spPr>
          <a:xfrm>
            <a:off x="6199632" y="3959352"/>
            <a:ext cx="55321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dash"/>
          </a:ln>
        </p:spPr>
      </p:sp>
      <p:sp>
        <p:nvSpPr>
          <p:cNvPr id="77" name="Text 74"/>
          <p:cNvSpPr/>
          <p:nvPr/>
        </p:nvSpPr>
        <p:spPr>
          <a:xfrm>
            <a:off x="6473952" y="399592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└ bootstrap</a:t>
            </a:r>
            <a:endParaRPr lang="en-US" sz="1200" dirty="0"/>
          </a:p>
        </p:txBody>
      </p:sp>
      <p:sp>
        <p:nvSpPr>
          <p:cNvPr id="78" name="Text 75"/>
          <p:cNvSpPr/>
          <p:nvPr/>
        </p:nvSpPr>
        <p:spPr>
          <a:xfrm>
            <a:off x="6702552" y="421538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임시 VM · master 구성 후 반납</a:t>
            </a:r>
            <a:endParaRPr lang="en-US" sz="900" dirty="0"/>
          </a:p>
        </p:txBody>
      </p:sp>
      <p:sp>
        <p:nvSpPr>
          <p:cNvPr id="79" name="Shape 76"/>
          <p:cNvSpPr/>
          <p:nvPr/>
        </p:nvSpPr>
        <p:spPr>
          <a:xfrm>
            <a:off x="8897112" y="4059936"/>
            <a:ext cx="845820" cy="274320"/>
          </a:xfrm>
          <a:prstGeom prst="roundRect">
            <a:avLst>
              <a:gd name="adj" fmla="val 50000"/>
            </a:avLst>
          </a:prstGeom>
          <a:solidFill>
            <a:srgbClr val="6D5AA6"/>
          </a:solidFill>
          <a:ln w="12700">
            <a:solidFill>
              <a:srgbClr val="6D5AA6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8897112" y="4059936"/>
            <a:ext cx="8458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관리망 1</a:t>
            </a:r>
            <a:endParaRPr lang="en-US" sz="1000" dirty="0"/>
          </a:p>
        </p:txBody>
      </p:sp>
      <p:sp>
        <p:nvSpPr>
          <p:cNvPr id="81" name="Text 78"/>
          <p:cNvSpPr/>
          <p:nvPr/>
        </p:nvSpPr>
        <p:spPr>
          <a:xfrm>
            <a:off x="10954512" y="3959352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82" name="Shape 79"/>
          <p:cNvSpPr/>
          <p:nvPr/>
        </p:nvSpPr>
        <p:spPr>
          <a:xfrm>
            <a:off x="6199632" y="4471416"/>
            <a:ext cx="5532120" cy="475488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6336792" y="45079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Worker1</a:t>
            </a:r>
            <a:endParaRPr lang="en-US" sz="1200" dirty="0"/>
          </a:p>
        </p:txBody>
      </p:sp>
      <p:sp>
        <p:nvSpPr>
          <p:cNvPr id="84" name="Text 81"/>
          <p:cNvSpPr/>
          <p:nvPr/>
        </p:nvSpPr>
        <p:spPr>
          <a:xfrm>
            <a:off x="6336792" y="472744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HV#01 재구성</a:t>
            </a:r>
            <a:endParaRPr lang="en-US" sz="900" dirty="0"/>
          </a:p>
        </p:txBody>
      </p:sp>
      <p:sp>
        <p:nvSpPr>
          <p:cNvPr id="85" name="Text 82"/>
          <p:cNvSpPr/>
          <p:nvPr/>
        </p:nvSpPr>
        <p:spPr>
          <a:xfrm>
            <a:off x="8897112" y="44714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HV IP 재사용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10954512" y="4471416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200" dirty="0"/>
          </a:p>
        </p:txBody>
      </p:sp>
      <p:sp>
        <p:nvSpPr>
          <p:cNvPr id="87" name="Shape 84"/>
          <p:cNvSpPr/>
          <p:nvPr/>
        </p:nvSpPr>
        <p:spPr>
          <a:xfrm>
            <a:off x="6199632" y="4983480"/>
            <a:ext cx="5532120" cy="475488"/>
          </a:xfrm>
          <a:prstGeom prst="rect">
            <a:avLst/>
          </a:prstGeom>
          <a:solidFill>
            <a:srgbClr val="F5F7FA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6336792" y="50200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Worker2</a:t>
            </a:r>
            <a:endParaRPr lang="en-US" sz="1200" dirty="0"/>
          </a:p>
        </p:txBody>
      </p:sp>
      <p:sp>
        <p:nvSpPr>
          <p:cNvPr id="89" name="Text 86"/>
          <p:cNvSpPr/>
          <p:nvPr/>
        </p:nvSpPr>
        <p:spPr>
          <a:xfrm>
            <a:off x="6336792" y="52395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HV#02 · MTV 후 재구성</a:t>
            </a:r>
            <a:endParaRPr lang="en-US" sz="900" dirty="0"/>
          </a:p>
        </p:txBody>
      </p:sp>
      <p:sp>
        <p:nvSpPr>
          <p:cNvPr id="90" name="Text 87"/>
          <p:cNvSpPr/>
          <p:nvPr/>
        </p:nvSpPr>
        <p:spPr>
          <a:xfrm>
            <a:off x="8897112" y="498348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HV IP 재사용</a:t>
            </a:r>
            <a:endParaRPr lang="en-US" sz="1050" dirty="0"/>
          </a:p>
        </p:txBody>
      </p:sp>
      <p:sp>
        <p:nvSpPr>
          <p:cNvPr id="91" name="Text 88"/>
          <p:cNvSpPr/>
          <p:nvPr/>
        </p:nvSpPr>
        <p:spPr>
          <a:xfrm>
            <a:off x="10954512" y="4983480"/>
            <a:ext cx="640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1200" dirty="0"/>
          </a:p>
        </p:txBody>
      </p:sp>
      <p:sp>
        <p:nvSpPr>
          <p:cNvPr id="92" name="Shape 89"/>
          <p:cNvSpPr/>
          <p:nvPr/>
        </p:nvSpPr>
        <p:spPr>
          <a:xfrm>
            <a:off x="457200" y="576072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594360" y="5833872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관리망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관리·클러스터 통신용 망 (태그 없음, 기본 게이트웨이)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nasbak망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NAS·백업용 망. Bastion은 etcd 백업에만 사용</a:t>
            </a:r>
            <a:endParaRPr lang="en-US" sz="950" dirty="0"/>
          </a:p>
        </p:txBody>
      </p:sp>
      <p:sp>
        <p:nvSpPr>
          <p:cNvPr id="94" name="Text 91"/>
          <p:cNvSpPr/>
          <p:nvPr/>
        </p:nvSpPr>
        <p:spPr>
          <a:xfrm>
            <a:off x="6172200" y="5833872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반납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구성 완료 후 쓰지 않는 bootstrap IP를 돌려주는 것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준비 ③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VMware 작업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92608"/>
            <a:ext cx="1188720" cy="2130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78992"/>
            <a:ext cx="1127455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· OpenShift 전환 구축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17352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55321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73152" cy="1920240"/>
          </a:xfrm>
          <a:prstGeom prst="rect">
            <a:avLst/>
          </a:prstGeom>
          <a:solidFill>
            <a:srgbClr val="2F4F7A"/>
          </a:solidFill>
          <a:ln w="12700">
            <a:solidFill>
              <a:srgbClr val="2F4F7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45389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 정리 (vMotion)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89120" y="1472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89120" y="1472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재구성 전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85800" y="1892808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재구성 대상 HV의 VM(DNS VM 포함)을 원본 HV로 모두 이동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HV#02 → HV#01 · 내부 HV#01·HV#03 → HV#02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85800" y="29718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· VMware 엔지니어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199632" y="1325880"/>
            <a:ext cx="55321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9632" y="1371600"/>
            <a:ext cx="73152" cy="1920240"/>
          </a:xfrm>
          <a:prstGeom prst="rect">
            <a:avLst/>
          </a:prstGeom>
          <a:solidFill>
            <a:srgbClr val="2F4F7A"/>
          </a:solidFill>
          <a:ln w="12700">
            <a:solidFill>
              <a:srgbClr val="2F4F7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28232" y="145389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재구성 HV 호스트 제거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10131552" y="147218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131552" y="14721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· 2차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28232" y="1892808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HV#02 · 내부 HV#01·HV#03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ESXi 설정 백업 → vCenter 인벤토리에서 제거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28232" y="29718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· VMware 엔지니어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57200" y="3520440"/>
            <a:ext cx="55321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3566160"/>
            <a:ext cx="73152" cy="1920240"/>
          </a:xfrm>
          <a:prstGeom prst="rect">
            <a:avLst/>
          </a:prstGeom>
          <a:solidFill>
            <a:srgbClr val="2F4F7A"/>
          </a:solidFill>
          <a:ln w="12700">
            <a:solidFill>
              <a:srgbClr val="2F4F7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364845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MTV 계정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4389120" y="366674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389120" y="36667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시험 이관 전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85800" y="4087368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MTV용 vCenter 역할·계정 생성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85800" y="516636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· VMware 엔지니어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199632" y="3520440"/>
            <a:ext cx="55321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199632" y="3566160"/>
            <a:ext cx="73152" cy="1920240"/>
          </a:xfrm>
          <a:prstGeom prst="rect">
            <a:avLst/>
          </a:prstGeom>
          <a:solidFill>
            <a:srgbClr val="2F4F7A"/>
          </a:solidFill>
          <a:ln w="12700">
            <a:solidFill>
              <a:srgbClr val="2F4F7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28232" y="364845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정리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10131552" y="3666744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131552" y="36667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12월 말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428232" y="4087368"/>
            <a:ext cx="5166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MTV·안정화 완료 후 vCenter·DNS VM 정리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(그 전까지 vCenter·원본 HV 유지)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428232" y="516636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· VMware 엔지니어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57200" y="576072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94360" y="5833872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HV 정리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재구성할 HV를 비우기 위해 VM을 원본 HV로 옮기는 작업. DNS VM은 MTV 완료 후 삭제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6172200" y="5833872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호스트 제거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vCenter 관리 목록에서 HV를 빼는 작업. 이후 해당 서버에 OpenShift 설치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준비 ④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스토리지 작업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92608"/>
            <a:ext cx="1188720" cy="2130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78992"/>
            <a:ext cx="1127455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· OpenShift 전환 구축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17352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120700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OpenShift 노드에 이관 VM 디스크용 LUN 매핑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31520" y="2286000"/>
            <a:ext cx="10698480" cy="0"/>
          </a:xfrm>
          <a:prstGeom prst="line">
            <a:avLst/>
          </a:prstGeom>
          <a:noFill/>
          <a:ln w="38100">
            <a:solidFill>
              <a:srgbClr val="2F4F7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48840" y="2148840"/>
            <a:ext cx="274320" cy="274320"/>
          </a:xfrm>
          <a:prstGeom prst="ellipse">
            <a:avLst/>
          </a:prstGeom>
          <a:solidFill>
            <a:srgbClr val="2F4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764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· Worker1 편입 시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2606040"/>
            <a:ext cx="36576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7200" y="2651760"/>
            <a:ext cx="73152" cy="2103120"/>
          </a:xfrm>
          <a:prstGeom prst="rect">
            <a:avLst/>
          </a:prstGeom>
          <a:solidFill>
            <a:srgbClr val="2F4F7A"/>
          </a:solidFill>
          <a:ln w="12700">
            <a:solidFill>
              <a:srgbClr val="2F4F7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73405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Worker1 LUN 매핑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85800" y="3172968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HV#02 · 내부 HV#01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(재구성 후 Worker1)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용도: 이관 VM 디스크 저장 공간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노드에서 LUN 인식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961888" y="2148840"/>
            <a:ext cx="274320" cy="274320"/>
          </a:xfrm>
          <a:prstGeom prst="ellipse">
            <a:avLst/>
          </a:prstGeom>
          <a:solidFill>
            <a:srgbClr val="2F4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270248" y="1764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· 보관 기간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70248" y="2606040"/>
            <a:ext cx="36576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70248" y="2651760"/>
            <a:ext cx="73152" cy="2103120"/>
          </a:xfrm>
          <a:prstGeom prst="rect">
            <a:avLst/>
          </a:prstGeom>
          <a:solidFill>
            <a:srgbClr val="2F4F7A"/>
          </a:solidFill>
          <a:ln w="12700">
            <a:solidFill>
              <a:srgbClr val="2F4F7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498848" y="273405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LUN 유지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4498848" y="3172968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HV#01 · 내부 HV#02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(VMware 원본)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용도: 원복용 원본 데이터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원본 데이터스토어 정상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774936" y="2148840"/>
            <a:ext cx="274320" cy="274320"/>
          </a:xfrm>
          <a:prstGeom prst="ellipse">
            <a:avLst/>
          </a:prstGeom>
          <a:solidFill>
            <a:srgbClr val="2F4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83296" y="1764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12월 말 · Worker2 전환 시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083296" y="2606040"/>
            <a:ext cx="36576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CBD5E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083296" y="2651760"/>
            <a:ext cx="73152" cy="2103120"/>
          </a:xfrm>
          <a:prstGeom prst="rect">
            <a:avLst/>
          </a:prstGeom>
          <a:solidFill>
            <a:srgbClr val="2F4F7A"/>
          </a:solidFill>
          <a:ln w="12700">
            <a:solidFill>
              <a:srgbClr val="2F4F7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311896" y="273405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Worker2 LUN 매핑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8311896" y="3172968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HV#01 · 내부 HV#02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(재구성 후 Worker2)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용도: Worker1과 같은 LUN 공유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노드에서 LUN 인식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57200" y="49834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용량: 이관 VM 디스크 사용량 이상 (외부 12.4TB · 내부 62.3TB) · 재활용 TNS-2100은 FC 미연결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576072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94360" y="5833872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LUN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스토리지가 서버에 할당하는 디스크 단위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LUN 매핑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스토리지 LUN을 특정 서버에 보이게 연결하는 작업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6172200" y="5833872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FC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서버와 스토리지를 연결하는 전용 네트워크 (Fibre Channel)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준비 ⑤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방화벽 · 시간 동기화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92608"/>
            <a:ext cx="1188720" cy="2130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78992"/>
            <a:ext cx="1127455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· OpenShift 전환 구축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17352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동기화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103120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743200" y="1600200"/>
            <a:ext cx="2560320" cy="960120"/>
          </a:xfrm>
          <a:prstGeom prst="roundRect">
            <a:avLst>
              <a:gd name="adj" fmla="val 7619"/>
            </a:avLst>
          </a:prstGeom>
          <a:solidFill>
            <a:srgbClr val="E3EE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43200" y="160020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Bastion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40680" y="2011680"/>
            <a:ext cx="1645920" cy="914"/>
          </a:xfrm>
          <a:prstGeom prst="line">
            <a:avLst/>
          </a:prstGeom>
          <a:noFill/>
          <a:ln w="38100">
            <a:solidFill>
              <a:srgbClr val="2F4F7A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5394960" y="21031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123/UDP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223760" y="1600200"/>
            <a:ext cx="274320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23760" y="160020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망별 NTP 서버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7200" y="3108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etcd 백업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57200" y="3566160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7200" y="3566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2743200" y="3063240"/>
            <a:ext cx="2560320" cy="960120"/>
          </a:xfrm>
          <a:prstGeom prst="roundRect">
            <a:avLst>
              <a:gd name="adj" fmla="val 7619"/>
            </a:avLst>
          </a:prstGeom>
          <a:solidFill>
            <a:srgbClr val="E3EEFF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743200" y="306324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5B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Bastion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40680" y="3474720"/>
            <a:ext cx="1645920" cy="914"/>
          </a:xfrm>
          <a:prstGeom prst="line">
            <a:avLst/>
          </a:prstGeom>
          <a:noFill/>
          <a:ln w="38100">
            <a:solidFill>
              <a:srgbClr val="2F4F7A"/>
            </a:solidFill>
            <a:prstDash val="solid"/>
            <a:tailEnd type="triangle"/>
          </a:ln>
        </p:spPr>
      </p:sp>
      <p:sp>
        <p:nvSpPr>
          <p:cNvPr id="24" name="Text 21"/>
          <p:cNvSpPr/>
          <p:nvPr/>
        </p:nvSpPr>
        <p:spPr>
          <a:xfrm>
            <a:off x="5394960" y="3566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NFS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223760" y="3063240"/>
            <a:ext cx="274320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223760" y="30632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백업스토리지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149840" y="1600200"/>
            <a:ext cx="1581912" cy="2423160"/>
          </a:xfrm>
          <a:prstGeom prst="roundRect">
            <a:avLst>
              <a:gd name="adj" fmla="val 4624"/>
            </a:avLst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259568" y="1691640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정보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0259568" y="2011680"/>
            <a:ext cx="13624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NTP 서버 주소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백업스토리지 접속 경로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57200" y="47091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 디스크 복사(OpenShift 노드 ↔ vCenter·ESXi)는 같은 관리망(L3) 통신으로 방화벽 신청 대상 아님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576072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94360" y="5833872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NTP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시간 동기화 프로토콜. 시간 불일치 시 클러스터 인증서 오류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6172200" y="5833872"/>
            <a:ext cx="5440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NFS :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네트워크 공유 파일 저장소. etcd 백업 보관용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 일정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10월 ~ 12월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92608"/>
            <a:ext cx="1188720" cy="2130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78992"/>
            <a:ext cx="1127455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· OpenShift 전환 구축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17352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194560" y="1325880"/>
            <a:ext cx="3142488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194560" y="1325880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373624" y="1325880"/>
            <a:ext cx="3142488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73624" y="1325880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552688" y="1325880"/>
            <a:ext cx="3142488" cy="3657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52688" y="1325880"/>
            <a:ext cx="3179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12월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18745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사전작업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194560" y="1874520"/>
            <a:ext cx="3142488" cy="411480"/>
          </a:xfrm>
          <a:prstGeom prst="roundRect">
            <a:avLst>
              <a:gd name="adj" fmla="val 13333"/>
            </a:avLst>
          </a:prstGeom>
          <a:solidFill>
            <a:srgbClr val="2F4F7A"/>
          </a:solidFill>
          <a:ln w="12700">
            <a:solidFill>
              <a:srgbClr val="2F4F7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267712" y="1874520"/>
            <a:ext cx="3041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 설치·포설 · IP · 이미지 반입 준비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7200" y="2423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구축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373624" y="2423160"/>
            <a:ext cx="3142488" cy="411480"/>
          </a:xfrm>
          <a:prstGeom prst="roundRect">
            <a:avLst>
              <a:gd name="adj" fmla="val 13333"/>
            </a:avLst>
          </a:prstGeom>
          <a:solidFill>
            <a:srgbClr val="1D5BB5"/>
          </a:solidFill>
          <a:ln w="12700">
            <a:solidFill>
              <a:srgbClr val="1D5BB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446776" y="2423160"/>
            <a:ext cx="3041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Bastion → HV 정리 → Master·Worker1 → 시험 이관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457200" y="29718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 본 이관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552688" y="2971800"/>
            <a:ext cx="1139678" cy="411480"/>
          </a:xfrm>
          <a:prstGeom prst="roundRect">
            <a:avLst>
              <a:gd name="adj" fmla="val 1333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625840" y="2971800"/>
            <a:ext cx="10390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12/1~11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457200" y="35204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안정화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728942" y="3520440"/>
            <a:ext cx="1171468" cy="411480"/>
          </a:xfrm>
          <a:prstGeom prst="roundRect">
            <a:avLst>
              <a:gd name="adj" fmla="val 13333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802094" y="3520440"/>
            <a:ext cx="10708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12/14~23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57200" y="40690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Worker2 전환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0936986" y="4069080"/>
            <a:ext cx="758190" cy="41148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1010138" y="4069080"/>
            <a:ext cx="65760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12/24~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457200" y="47548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준비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2289932" y="461772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399660" y="4709160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 설치 · 포설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IP 할당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468996" y="461772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578724" y="4709160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HV 정리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호스트 제거 · LUN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122109" y="461772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231837" y="4709160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MTV 계정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NTP · 백업 허용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8648060" y="461772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757788" y="4709160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업무별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시간대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10205801" y="461772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5F7FA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315529" y="4709160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vCenter · DNS VM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 · Worker2 LUN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457200" y="5623560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12월 일정: 11월 시험 이관 실측 속도로 재산정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Worker2 전환 지연 시 안정화 기간 유지, 2027년 1월 이후로 이연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 준비 요약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시기 · 작업 · 담당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92608"/>
            <a:ext cx="1188720" cy="2130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78992"/>
            <a:ext cx="1127455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· OpenShift 전환 구축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17352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6885432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F7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재활용 TNS-2100 3대 랙 설치 · 전원 · IPMI 결선 · Master KVM 관리망 4회선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서버 운영자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F7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Bastion NAS/BK 2포트 신규 포설 (외부 · 내부)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서버 운영자 · 네트워크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F7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IP 망별 7개 할당 (bootstrap 1개는 master 구성 완료 후 반납)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F7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NTP 123/UDP · 백업스토리지 접근 허용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네트워크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F7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11월 재구성 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HV 정리: 재구성 대상 HV의 VM(DNS VM 포함)을 원본 HV로 이동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VMware 엔지니어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F7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재구성 HV 호스트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VMware 엔지니어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F7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Worker1 FC LUN 매핑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스토리지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F7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11월 시험 이관 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MTV용 vCenter 역할·계정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VMware 엔지니어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F7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12월 이관 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업무별 서비스 중단 가능 시간대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서버 운영자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F7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12월 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MTV 완료 후 vCenter · DNS VM 정리 · Worker2 FC LUN 매핑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A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VMware · 스토리지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4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용어 정리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92608"/>
            <a:ext cx="1188720" cy="2130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78992"/>
            <a:ext cx="11274552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65105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국가데이터처 SGIS · OpenShift 전환 구축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17352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36245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OpenShift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 Hat 컨테이너·가상화 플랫폼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1947672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6928" y="198424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클러스터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서버를 묶어 하나로 운영하는 단위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" y="2569464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MTV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VMware VM → OpenShift 이관 도구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3191256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322783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Bastion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클러스터 입구 서버 (DNS·LB·NTP·미러)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57200" y="3813048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384962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Master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클러스터 관리 노드 (VM 3대)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57200" y="4434840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44714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Worker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VM 실행 노드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7200" y="5056632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6928" y="509320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bootstrap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 초기 임시 VM (master 구성 후 삭제)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57200" y="5678424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57150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KVM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RHEL 내장 가상화 기능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251960" y="1325880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361688" y="136245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RHCOS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OpenShift 노드 전용 OS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251960" y="1947672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361688" y="198424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etcd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클러스터 설정 데이터베이스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251960" y="2569464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361688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미러 레지스트리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설치 이미지 저장소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4251960" y="3191256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361688" y="322783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HV (하이퍼바이저)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 실행 물리 서버 (ESXi)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4251960" y="3813048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361688" y="384962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vCenter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VMware HV 통합 관리 서버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4251960" y="4434840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361688" y="44714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vMotion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VM을 켠 상태로 다른 HV로 이동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4251960" y="5056632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361688" y="509320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호스트 제거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vCenter에서 HV를 빼는 작업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4251960" y="5678424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361688" y="57150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Cold Migration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 종료 상태에서 이관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8046720" y="1325880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156448" y="136245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LUN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스토리지가 서버에 할당한 디스크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8046720" y="1947672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156448" y="198424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LUN 매핑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스토리지 LUN을 서버에 연결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8046720" y="2569464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8156448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bond (mode 1)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포트 2개 묶음, 장애 시 자동 전환</a:t>
            </a:r>
            <a:endParaRPr lang="en-US" sz="1150" dirty="0"/>
          </a:p>
        </p:txBody>
      </p:sp>
      <p:sp>
        <p:nvSpPr>
          <p:cNvPr id="47" name="Shape 44"/>
          <p:cNvSpPr/>
          <p:nvPr/>
        </p:nvSpPr>
        <p:spPr>
          <a:xfrm>
            <a:off x="8046720" y="3191256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156448" y="322783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브리지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VM을 물리 망에 연결하는 가상 스위치</a:t>
            </a:r>
            <a:endParaRPr lang="en-US" sz="1150" dirty="0"/>
          </a:p>
        </p:txBody>
      </p:sp>
      <p:sp>
        <p:nvSpPr>
          <p:cNvPr id="49" name="Shape 46"/>
          <p:cNvSpPr/>
          <p:nvPr/>
        </p:nvSpPr>
        <p:spPr>
          <a:xfrm>
            <a:off x="8046720" y="3813048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156448" y="384962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VLAN trunk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포트로 여러 VLAN 전달</a:t>
            </a:r>
            <a:endParaRPr lang="en-US" sz="1150" dirty="0"/>
          </a:p>
        </p:txBody>
      </p:sp>
      <p:sp>
        <p:nvSpPr>
          <p:cNvPr id="51" name="Shape 48"/>
          <p:cNvSpPr/>
          <p:nvPr/>
        </p:nvSpPr>
        <p:spPr>
          <a:xfrm>
            <a:off x="8046720" y="4434840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156448" y="44714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IPMI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원격 전원·콘솔 관리 포트</a:t>
            </a:r>
            <a:endParaRPr lang="en-US" sz="1150" dirty="0"/>
          </a:p>
        </p:txBody>
      </p:sp>
      <p:sp>
        <p:nvSpPr>
          <p:cNvPr id="53" name="Shape 50"/>
          <p:cNvSpPr/>
          <p:nvPr/>
        </p:nvSpPr>
        <p:spPr>
          <a:xfrm>
            <a:off x="8046720" y="5056632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156448" y="509320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NTP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시간 동기화</a:t>
            </a:r>
            <a:endParaRPr lang="en-US" sz="1150" dirty="0"/>
          </a:p>
        </p:txBody>
      </p:sp>
      <p:sp>
        <p:nvSpPr>
          <p:cNvPr id="55" name="Shape 52"/>
          <p:cNvSpPr/>
          <p:nvPr/>
        </p:nvSpPr>
        <p:spPr>
          <a:xfrm>
            <a:off x="8046720" y="5678424"/>
            <a:ext cx="365760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8156448" y="57150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안정화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후 최소 1주 무장애 확인 기간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국가데이터처 SGIS OpenShift 전환 구축</dc:title>
  <dc:subject>PptxGenJS Presentation</dc:subject>
  <dc:creator>PptxGenJS</dc:creator>
  <cp:lastModifiedBy>PptxGenJS</cp:lastModifiedBy>
  <cp:revision>1</cp:revision>
  <dcterms:created xsi:type="dcterms:W3CDTF">2026-10-16T05:23:53Z</dcterms:created>
  <dcterms:modified xsi:type="dcterms:W3CDTF">2026-10-16T05:23:53Z</dcterms:modified>
</cp:coreProperties>
</file>