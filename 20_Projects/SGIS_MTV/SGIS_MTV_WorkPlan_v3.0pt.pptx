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43126" r="6870" t="0" b="0"/>
          <a:stretch/>
        </p:blipFill>
        <p:spPr>
          <a:xfrm>
            <a:off x="0" y="0"/>
            <a:ext cx="609630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640080"/>
            <a:ext cx="2103120" cy="3767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2084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SGIS INFRASTRUCTURE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72084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오픈플랫폼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720840" y="2651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전환 구축 계획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6720840" y="3566160"/>
            <a:ext cx="1463040" cy="0"/>
          </a:xfrm>
          <a:prstGeom prst="line">
            <a:avLst/>
          </a:prstGeom>
          <a:noFill/>
          <a:ln w="38100">
            <a:solidFill>
              <a:srgbClr val="1D5B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72084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· 진행 순서 · 사전 준비 작업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720840" y="5760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개요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663440" cy="2971800"/>
          </a:xfrm>
          <a:prstGeom prst="roundRect">
            <a:avLst>
              <a:gd name="adj" fmla="val 2462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41732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VMware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1828800"/>
            <a:ext cx="1691640" cy="13258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85800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외부망 클러스터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" y="2194560"/>
            <a:ext cx="708660" cy="82296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86000"/>
            <a:ext cx="489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528" y="2606040"/>
            <a:ext cx="48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485900" y="2194560"/>
            <a:ext cx="708660" cy="82296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95628" y="2286000"/>
            <a:ext cx="489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95628" y="2606040"/>
            <a:ext cx="48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182880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251460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내부망 클러스터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514600" y="219456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24328" y="22860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624328" y="260604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37560" y="219456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47288" y="22860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447288" y="260604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2194560"/>
            <a:ext cx="7315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70248" y="228600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HV#03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270248" y="260604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" y="3291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35대 (외부 11 · 내부 24)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 · DNS VM 망별 1대 (이관 대상 아님)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257800" y="2788920"/>
            <a:ext cx="1280160" cy="914"/>
          </a:xfrm>
          <a:prstGeom prst="line">
            <a:avLst/>
          </a:prstGeom>
          <a:noFill/>
          <a:ln w="508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52578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이관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75120" y="1325880"/>
            <a:ext cx="5056632" cy="2971800"/>
          </a:xfrm>
          <a:prstGeom prst="roundRect">
            <a:avLst>
              <a:gd name="adj" fmla="val 2462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141732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OpenShift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858000" y="18745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67728" y="19659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67728" y="228600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DNS·LB·미러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458200" y="18745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67928" y="19659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KVM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567928" y="228600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VM 3대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058400" y="18745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168128" y="196596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1·2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168128" y="228600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실행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85800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망별 클러스터 1개 (외부망 · 내부망)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57200" y="45262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66928" y="4590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566928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클러스터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2743200" y="45262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852928" y="4590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35대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2852928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VM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029200" y="45262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138928" y="4590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74.7TB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5138928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데이터 (Dell EMC FC)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7315200" y="45262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424928" y="4590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5대 + 3대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7424928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 + 재활용 TNS-2100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9601200" y="4526280"/>
            <a:ext cx="2130552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710928" y="4590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10~12월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9710928" y="5074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457200" y="5669280"/>
            <a:ext cx="11274552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36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OpenShift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Hat의 컨테이너·가상화 플랫폼. OpenShift Virtualization으로 VM 실행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클러스터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서버를 묶어 하나로 운영하는 단위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617220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MTV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VM을 OpenShift로 옮기는 Red Hat 이관 도구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VM 이관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VM의 디스크·설정을 새 환경으로 복사해 그대로 기동하는 작업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현재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현행 구성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외부망 · vSphere 8 · HV 2대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1828800"/>
            <a:ext cx="2080260" cy="274320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1920240"/>
            <a:ext cx="1860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" y="2240280"/>
            <a:ext cx="18608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TR2210 H4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48코어 · 1TB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4088" y="2880360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2880360"/>
            <a:ext cx="1860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11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" y="32644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3264408"/>
            <a:ext cx="1860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11780" y="1828800"/>
            <a:ext cx="2080260" cy="274320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1508" y="1920240"/>
            <a:ext cx="18608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21508" y="2240280"/>
            <a:ext cx="18608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TR2210 H4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48코어 · 1TB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21508" y="2880360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1508" y="2880360"/>
            <a:ext cx="1860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VM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921508" y="32644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1508" y="3264408"/>
            <a:ext cx="1860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VMFS6 1개 · 12.4TB (Dell EMC FC)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12080" y="1325880"/>
            <a:ext cx="6519672" cy="402336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9240" y="1417320"/>
            <a:ext cx="6245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내부망 · vSphere 8 · HV 3대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349240" y="1828800"/>
            <a:ext cx="1990344" cy="274320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58968" y="1920240"/>
            <a:ext cx="1770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58968" y="2240280"/>
            <a:ext cx="1770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TR2210 H4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48코어 · 1TB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58968" y="2880360"/>
            <a:ext cx="1770888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58968" y="2880360"/>
            <a:ext cx="177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vCLS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76744" y="1828800"/>
            <a:ext cx="1990344" cy="274320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6472" y="1920240"/>
            <a:ext cx="1770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586472" y="2240280"/>
            <a:ext cx="1770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TR2210 H4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48코어 · 1TB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586472" y="2880360"/>
            <a:ext cx="177088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86472" y="2880360"/>
            <a:ext cx="177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24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586472" y="3264408"/>
            <a:ext cx="1770888" cy="27432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6472" y="3264408"/>
            <a:ext cx="177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604248" y="1828800"/>
            <a:ext cx="1990344" cy="274320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13976" y="1920240"/>
            <a:ext cx="1770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HV#03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9713976" y="2240280"/>
            <a:ext cx="1770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TR2210 H4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48코어 · 1TB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713976" y="2880360"/>
            <a:ext cx="177088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713976" y="2880360"/>
            <a:ext cx="177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VM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713976" y="3264408"/>
            <a:ext cx="1770888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713976" y="3264408"/>
            <a:ext cx="177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vCLS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349240" y="4754880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VMFS6 3개 · 62.3TB (Dell EMC FC)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7200" y="5669280"/>
            <a:ext cx="11274552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HV (하이퍼바이저)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실행하는 물리 서버 (VMware ESXi)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vCenter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HV를 한곳에서 관리하는 VMware 관리 서버(VM)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DNS VM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vCenter·ESXi 이름 해석용 VM. 이관 대상 아님, MTV 완료 후 삭제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17220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vCLS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vCenter가 자동으로 만드는 시스템 VM. 이관 대상 아님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데이터스토어 (VMFS)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디스크 저장 공간. Dell EMC 스토리지 LUN을 FC로 연결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목표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클러스터 구성 (한 망 기준)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66928" y="1417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1737360"/>
            <a:ext cx="243230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TNS-2100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19456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부하분산(LB)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2004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동기화(NTP)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미러 레지스트리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2062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파일 배포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70916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etcd 백업 보관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91840" y="132588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3401568" y="14173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KVM 호스트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401568" y="1737360"/>
            <a:ext cx="307238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외부: 재활용 TNS-2100 · 내부: 기존 HV#03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74720" y="228600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84448" y="237744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584448" y="269748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80560" y="228600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237744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90288" y="269748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0" y="228600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96128" y="237744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96128" y="269748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47472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VM 3대 · 1대 장애 시 2대로 유지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474720" y="43434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3584448" y="443484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 VM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기간에만 사용 · master 구성 완료 후 삭제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766560" y="1325880"/>
            <a:ext cx="2377440" cy="4160520"/>
          </a:xfrm>
          <a:prstGeom prst="roundRect">
            <a:avLst>
              <a:gd name="adj" fmla="val 3077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76288" y="141732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876288" y="1737360"/>
            <a:ext cx="215798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 재사용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선구축 · 이관 VM 전체 수용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326880" y="1325880"/>
            <a:ext cx="2404872" cy="4160520"/>
          </a:xfrm>
          <a:prstGeom prst="roundRect">
            <a:avLst>
              <a:gd name="adj" fmla="val 3042"/>
            </a:avLst>
          </a:prstGeom>
          <a:solidFill>
            <a:srgbClr val="FFF3D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36608" y="141732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2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436608" y="1737360"/>
            <a:ext cx="21854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 재사용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완료 후 전환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949440" y="26060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59168" y="26974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949440" y="34747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59168" y="35661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949440" y="43434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59168" y="44348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509760" y="26060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619488" y="26974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9509760" y="34747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619488" y="35661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9509760" y="43434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619488" y="44348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5669280"/>
            <a:ext cx="11274552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436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Bastion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입구 서버. DNS·부하분산(LB)·설치 이미지 보관 담당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Master (컨트롤 플레인)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전체를 관리하는 노드 (KVM 위 VM 3대)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Worker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VM이 실행되는 노드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172200" y="5742432"/>
            <a:ext cx="5440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KVM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RHEL에 포함된 가상화 기능. Master VM을 올릴 때 사용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etcd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설정 데이터베이스. Master VM 내부, 정기 백업 대상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미러 레지스트리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폐쇄망에서 설치 이미지를 보관하는 저장소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장비 재구성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외부망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" y="1207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VMware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20700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OpenShift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0" y="17282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장비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0" y="155448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784848" y="164592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84848" y="196596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TNS-2100 #A · RHEL 9.8 · DNS·LB·NTP·미러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561320" y="16459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61320" y="1645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807208"/>
            <a:ext cx="411480" cy="411480"/>
          </a:xfrm>
          <a:prstGeom prst="ellipse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03520" y="2734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30540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장비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75120" y="256032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784848" y="265176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KVM 호스트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84848" y="297180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TNS-2100 #B · Master VM 3 + bootstrap(임시)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561320" y="26517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61320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813048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051560" y="356616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61288" y="365760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61288" y="397764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VM(HV#01로 이동) · vCLS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394960" y="3968496"/>
            <a:ext cx="1143000" cy="914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5303520" y="40599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675120" y="356616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84848" y="365760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84848" y="397764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IP 재사용 · 선구축 · 업무 VM 11대 수신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4818888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818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51560" y="457200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61288" y="46634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161288" y="498348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11 · vCenter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394960" y="4974336"/>
            <a:ext cx="1143000" cy="914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5303520" y="5065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후 재구성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675120" y="457200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FFF3D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84848" y="466344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2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784848" y="498348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IP 재사용 · MTV·안정화 완료 후 재구성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5715000"/>
            <a:ext cx="11274552" cy="667512"/>
          </a:xfrm>
          <a:prstGeom prst="roundRect">
            <a:avLst>
              <a:gd name="adj" fmla="val 82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재구성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HV의 VMware를 지우고 노드 OS(RHCOS)를 새로 설치하는 작업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RHCOS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노드 전용 OS (Red Hat Enterprise Linux CoreOS)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17220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bootstrap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초기에만 쓰는 임시 VM. master 구성 완료 후 삭제·IP 반납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MTV 후 재구성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이관·안정화 완료 후 원본 HV를 Worker 2로 재구성하는 작업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장비 재구성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내부망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" y="1207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VMware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20700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OpenShift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0" y="17282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20482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장비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0" y="155448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784848" y="164592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84848" y="196596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TNS-2100 · RHEL 9.8 · DNS·LB·NTP·미러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561320" y="16459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61320" y="1645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807208"/>
            <a:ext cx="411480" cy="411480"/>
          </a:xfrm>
          <a:prstGeom prst="ellipse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51560" y="256032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61288" y="265176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61288" y="297180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VM(HV#02로 이동) · vCLS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94960" y="2962656"/>
            <a:ext cx="1143000" cy="914"/>
          </a:xfrm>
          <a:prstGeom prst="line">
            <a:avLst/>
          </a:prstGeom>
          <a:noFill/>
          <a:ln w="38100">
            <a:solidFill>
              <a:srgbClr val="1D5BB5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303520" y="30540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675120" y="256032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265176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KVM 호스트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84848" y="297180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9.8 + KVM · Master VM 3 + bootstrap(임시)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561320" y="26517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61320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3813048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51560" y="356616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61288" y="365760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HV#01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161288" y="397764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vCLS만 있음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394960" y="3968496"/>
            <a:ext cx="1143000" cy="914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5303520" y="40599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675120" y="356616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84848" y="365760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784848" y="397764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IP 재사용 · 선구축 · 업무 VM 24대 수신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57200" y="4818888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818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051560" y="457200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61288" y="46634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HV#02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161288" y="4983480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24 · vCenter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394960" y="4974336"/>
            <a:ext cx="1143000" cy="914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8" name="Text 45"/>
          <p:cNvSpPr/>
          <p:nvPr/>
        </p:nvSpPr>
        <p:spPr>
          <a:xfrm>
            <a:off x="5303520" y="5065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후 재구성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675120" y="4572000"/>
            <a:ext cx="5056632" cy="896112"/>
          </a:xfrm>
          <a:prstGeom prst="roundRect">
            <a:avLst>
              <a:gd name="adj" fmla="val 8163"/>
            </a:avLst>
          </a:prstGeom>
          <a:solidFill>
            <a:srgbClr val="FFF3D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84848" y="466344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2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784848" y="498348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IP 재사용 · MTV·안정화 완료 후 재구성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57200" y="5715000"/>
            <a:ext cx="11274552" cy="667512"/>
          </a:xfrm>
          <a:prstGeom prst="roundRect">
            <a:avLst>
              <a:gd name="adj" fmla="val 82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436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Master KVM 호스트 (내부망)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HV#03 재구성. 호스트 관리망 IP 없음 (br0 브리지만 구성)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Worker 1 단독 기간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기간 Worker 1이 업무 VM 전체 수용 (내부망 메모리 약 82%)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17220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원본 HV 보관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HV#02는 안정화 완료까지 VMware 상태로 유지 (원복용)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진행 순서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7단계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1517904" cy="731520"/>
          </a:xfrm>
          <a:prstGeom prst="chevron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장비·IP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TNS-2100 설치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포설 · IP 할당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84832" y="1463040"/>
            <a:ext cx="1517904" cy="731520"/>
          </a:xfrm>
          <a:prstGeom prst="chevron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13432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Bastion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84832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94560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DNS·LB·NTP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미러 레지스트리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12464" y="1463040"/>
            <a:ext cx="1517904" cy="731520"/>
          </a:xfrm>
          <a:prstGeom prst="chevron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41064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HV 정리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712464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전부 원본 HV로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→ 호스트 제거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40096" y="1463040"/>
            <a:ext cx="1517904" cy="731520"/>
          </a:xfrm>
          <a:prstGeom prst="chevron">
            <a:avLst/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68696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Master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40096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9824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KVM + Master VM 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 후 반납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67728" y="1463040"/>
            <a:ext cx="1517904" cy="73152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96328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Worker1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67728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77456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 재구성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편입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595360" y="1463040"/>
            <a:ext cx="1517904" cy="73152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23960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MTV 이관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595360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05088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→ 본 이관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외부망 먼저 작업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222992" y="1463040"/>
            <a:ext cx="1517904" cy="731520"/>
          </a:xfrm>
          <a:prstGeom prst="chevron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51592" y="1463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Worker2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222992" y="233172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32720" y="242316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안정화 확인 후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HV 재구성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383280"/>
            <a:ext cx="1517904" cy="54864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474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· 1차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084832" y="3383280"/>
            <a:ext cx="6400800" cy="54864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84832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· 2차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595360" y="3383280"/>
            <a:ext cx="3145536" cy="54864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95360" y="34747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 · 3차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393192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40233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사전 준비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66928" y="434340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재활용 TNS-2100 랙 설치·전원, Bastion NAS/BK 2포트 신규 포설, 신규 IP 할당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재구성 대상 HV의 VM(DNS VM 포함)을 원본 HV 1대로 모두 이동(vMotion) → 호스트 제거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· Worker1 FC LUN 매핑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· 외부망 먼저 이관 완료 후 내부망 이관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· MTV 완료 후 vCenter·DNS VM 정리, Worker2 FC LUN 매핑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7200" y="5715000"/>
            <a:ext cx="11274552" cy="667512"/>
          </a:xfrm>
          <a:prstGeom prst="roundRect">
            <a:avLst>
              <a:gd name="adj" fmla="val 82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vMotion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켠 상태로 다른 HV로 옮기는 VMware 기능. HV 정리 시 사용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호스트 제거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 관리 목록에서 HV를 빼는 작업. vCenter·원본 HV는 MTV 완료까지 유지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17220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시험 이관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VM을 먼저 옮겨 소요 시간·문제점을 확인하는 단계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안정화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후 최소 1주 무장애 확인 기간. 원본 VM은 이 기간까지 종료 상태로 보관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네트워크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네트워크 연결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468880" cy="25146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D5B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4173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1783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18745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· LB · NTP · 미러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260604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2697480"/>
            <a:ext cx="83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2포트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737360" y="260604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47088" y="2697480"/>
            <a:ext cx="83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bond2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NAS/BK 2포트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08960" y="132588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1D5B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14173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KVM 호스트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17830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55848" y="18745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master-1 · 2 · 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bootstrap(임시)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606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55848" y="26974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bond0 → br0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2포트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1325880"/>
            <a:ext cx="578815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53328" y="1417320"/>
            <a:ext cx="5568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 · Worker 2 (기존 HV 6포트)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80760" y="1783080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1874520"/>
            <a:ext cx="529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VM (NIC 2~3개)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80760" y="24688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90488" y="2560320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bond0 → br-ex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2포트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955280" y="24688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E0ECF8"/>
          </a:solidFill>
          <a:ln w="12700">
            <a:solidFill>
              <a:srgbClr val="E0EC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560320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bond1 → br-svc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2포트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829800" y="2468880"/>
            <a:ext cx="1764792" cy="1097280"/>
          </a:xfrm>
          <a:prstGeom prst="roundRect">
            <a:avLst>
              <a:gd name="adj" fmla="val 6667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39528" y="256032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bond2 → br-bk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nasbak 2포트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97280" y="3840480"/>
            <a:ext cx="914" cy="731520"/>
          </a:xfrm>
          <a:prstGeom prst="line">
            <a:avLst/>
          </a:prstGeom>
          <a:noFill/>
          <a:ln w="31750">
            <a:solidFill>
              <a:srgbClr val="6D5AA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77440" y="3840480"/>
            <a:ext cx="914" cy="1554480"/>
          </a:xfrm>
          <a:prstGeom prst="line">
            <a:avLst/>
          </a:prstGeom>
          <a:noFill/>
          <a:ln w="31750">
            <a:solidFill>
              <a:srgbClr val="B0752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34840" y="3840480"/>
            <a:ext cx="914" cy="731520"/>
          </a:xfrm>
          <a:prstGeom prst="line">
            <a:avLst/>
          </a:prstGeom>
          <a:noFill/>
          <a:ln w="31750">
            <a:solidFill>
              <a:srgbClr val="6D5A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49440" y="3840480"/>
            <a:ext cx="914" cy="731520"/>
          </a:xfrm>
          <a:prstGeom prst="line">
            <a:avLst/>
          </a:prstGeom>
          <a:noFill/>
          <a:ln w="31750">
            <a:solidFill>
              <a:srgbClr val="6D5AA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23960" y="3840480"/>
            <a:ext cx="914" cy="1143000"/>
          </a:xfrm>
          <a:prstGeom prst="line">
            <a:avLst/>
          </a:prstGeom>
          <a:noFill/>
          <a:ln w="31750">
            <a:solidFill>
              <a:srgbClr val="2F6FB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698480" y="3840480"/>
            <a:ext cx="914" cy="1554480"/>
          </a:xfrm>
          <a:prstGeom prst="line">
            <a:avLst/>
          </a:prstGeom>
          <a:noFill/>
          <a:ln w="31750">
            <a:solidFill>
              <a:srgbClr val="B0752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4572000"/>
            <a:ext cx="11274552" cy="73152"/>
          </a:xfrm>
          <a:prstGeom prst="rect">
            <a:avLst/>
          </a:prstGeom>
          <a:solidFill>
            <a:srgbClr val="6D5AA6"/>
          </a:solidFill>
          <a:ln w="12700">
            <a:solidFill>
              <a:srgbClr val="6D5AA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663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 · 태그 없음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7200" y="4983480"/>
            <a:ext cx="11274552" cy="73152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서비스망 · VLAN 130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5394960"/>
            <a:ext cx="11274552" cy="73152"/>
          </a:xfrm>
          <a:prstGeom prst="rect">
            <a:avLst/>
          </a:prstGeom>
          <a:solidFill>
            <a:srgbClr val="B0752F"/>
          </a:solidFill>
          <a:ln w="12700">
            <a:solidFill>
              <a:srgbClr val="B0752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" y="5486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7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nasbak망 · VLAN 710 · 701(임시)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514600" y="4069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752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1460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포설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57200" y="109728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bond: 2포트 · mode 1 · 10G  |  IPMI 1G  |  Worker FC 연결 유지  |  기존 HV 케이블·스위치 설정 변경 없음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bond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2개를 하나로 묶는 구성. mode 1은 한 포트만 사용, 장애 시 다른 포트로 전환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브리지 (br0 · br-svc · br-bk)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bond를 VM용 가상 스위치로 만든 것 (VMware vSwitch와 같은 역할)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VLAN trunk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포트 하나로 여러 VLAN을 전달하는 설정. 기존 HV 설정 그대로 사용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NAS/BK 포트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Bastion이 etcd 백업을 통합 백업스토리지에 보관할 때 사용하는 2포트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VM 이관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Cold Migration (콜드 이관)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· VMware (이관 대상)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1783080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VM 11 (RHEL 8 · Windows 3)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VM 24 (RHEL 22 · Windows 2)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종료 후 이관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86200" y="2240280"/>
            <a:ext cx="1005840" cy="914"/>
          </a:xfrm>
          <a:prstGeom prst="line">
            <a:avLst/>
          </a:prstGeom>
          <a:noFill/>
          <a:ln w="508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749040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복사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137160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E6ECF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38928" y="14630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38928" y="1783080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복사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OpenShift용 변환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(드라이버 · NIC)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2240280"/>
            <a:ext cx="1097280" cy="914"/>
          </a:xfrm>
          <a:prstGeom prst="line">
            <a:avLst/>
          </a:prstGeom>
          <a:noFill/>
          <a:ln w="508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778240" y="1371600"/>
            <a:ext cx="2953512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87968" y="146304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· Worker 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87968" y="1783080"/>
            <a:ext cx="2734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 유지 · IP 직접 설정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VM은 종료 상태 보관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종료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331720" y="3803904"/>
            <a:ext cx="3200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743200" y="361188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0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변환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17720" y="3803904"/>
            <a:ext cx="3200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029200" y="361188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VM 기동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03720" y="3803904"/>
            <a:ext cx="3200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315200" y="361188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772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설정 · 확인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189720" y="3803904"/>
            <a:ext cx="3200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601200" y="361188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01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058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검증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57200" y="42519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" y="4343400"/>
            <a:ext cx="5312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중단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66928" y="4663440"/>
            <a:ext cx="5312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VM별 종료 ~ 기동 구간 중단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199632" y="42519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09360" y="4343400"/>
            <a:ext cx="5312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설정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309360" y="4663440"/>
            <a:ext cx="5312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Tools 미설치 · 이관 후 VM 안에서 IP 직접 설정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(NIC 이름 변경 반영)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457200" y="5715000"/>
            <a:ext cx="11274552" cy="667512"/>
          </a:xfrm>
          <a:prstGeom prst="roundRect">
            <a:avLst>
              <a:gd name="adj" fmla="val 821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Cold Migration (콜드 이관)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종료한 상태에서 옮기는 방식. 이관 중 서비스 중단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네트워크 복사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MTV가 관리망으로 vCenter·ESXi에서 VM 디스크를 읽어 오는 방식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172200" y="5788152"/>
            <a:ext cx="5440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NIC 변경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vmxnet3(VMware) → virtio(OpenShift) 변경, 인터페이스 이름 변경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MAC 유지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후에도 VM NIC의 MAC 주소를 그대로 사용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설치 · 케이블 포설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73152" cy="265176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453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TNS-2100 랙 설치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14600" y="14721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· 1차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1892808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TNS-2100 3대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외부망: Bastion(#A), Master KVM(#B)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내부망: Bastion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랙 설치 · 전원 · 관리 2포트 · IPMI 결선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서버 운영자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0248" y="13258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70248" y="1371600"/>
            <a:ext cx="73152" cy="265176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98848" y="1453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NAS/BK 포설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27648" y="14721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· 1차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98848" y="1892808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외부망·내부망 Bastion 각 2포트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nasbak망(통합 백업스토리지) 연결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용도: etcd 백업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98848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서버 운영자 · 네트워크 담당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83296" y="13258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83296" y="1371600"/>
            <a:ext cx="73152" cy="265176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11896" y="1453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콘솔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140696" y="14721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40696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· 1차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11896" y="1892808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IPMI로 OS 설치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재구성 HV, TNS-2100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IPMI 접속 경로·계정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11896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서버 운영자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HV(Worker 전환 대상): 6포트(관리·서비스·nasbak 각 2) + FC + IPMI 그대로 사용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TNS-2100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서버 장비. 3대 투입, 2대 여유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IPMI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전원·콘솔 원격 관리 포트. OS 설치 시 사용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etcd 백업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Bastion이 클러스터 설정 DB를 정기 백업해 통합 백업스토리지에 보관하는 작업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할당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망별 6개 (관리망 5 · nasbak 1) · 외부·내부 합계 12개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9050">
            <a:solidFill>
              <a:srgbClr val="6D5A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0292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59152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9050">
            <a:solidFill>
              <a:srgbClr val="B075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59152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7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04872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404872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nasbak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61104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9050">
            <a:solidFill>
              <a:srgbClr val="6D5A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61104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306824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master-1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306824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63056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9050">
            <a:solidFill>
              <a:srgbClr val="6D5A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63056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208776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master-2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08776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65008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9050">
            <a:solidFill>
              <a:srgbClr val="6D5A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65008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110728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master-3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110728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966960" y="178308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6D5AA6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99669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01268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 (임시)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0126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5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관리망 · 반납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" y="3520440"/>
            <a:ext cx="672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 IP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66928" y="3840480"/>
            <a:ext cx="672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구성 완료 후 반납 · 상시 사용 IP는 망별 5개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589520" y="3429000"/>
            <a:ext cx="4142232" cy="1234440"/>
          </a:xfrm>
          <a:prstGeom prst="roundRect">
            <a:avLst>
              <a:gd name="adj" fmla="val 592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99248" y="3520440"/>
            <a:ext cx="3922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IP 불필요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699248" y="3840480"/>
            <a:ext cx="3922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1·2: 기존 HV IP 재사용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VM: 기존 IP 유지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4846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할당 시기: 10월(1차), 11월 Bastion 구축 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Master KVM 호스트: 관리망 IP 없음 (br0 브리지만 구성)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관리망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관리·클러스터 통신용 망 (태그 없음, 기본 게이트웨이)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nasbak망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NAS·백업용 망. Bastion은 etcd 백업에만 사용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반납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구성 완료 후 쓰지 않는 bootstrap IP를 돌려주는 것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작업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73152" cy="192024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4538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 정리 (vMotion)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9120" y="14721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재구성 전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189280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대상 HV의 VM(DNS VM 포함)을 원본 HV로 모두 이동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HV#02 → HV#01 · 내부 HV#01·HV#03 → HV#02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VMware 엔지니어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99632" y="132588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1371600"/>
            <a:ext cx="73152" cy="192024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28232" y="14538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HV 호스트 제거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131552" y="14721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31552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· 2차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28232" y="189280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HV#02 · 내부 HV#01·HV#03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ESXi 설정 백업 → vCenter 인벤토리에서 제거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28232" y="2971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VMware 엔지니어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52044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566160"/>
            <a:ext cx="73152" cy="192024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36484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계정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389120" y="36667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0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시험 이관 전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5800" y="408736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MTV용 vCenter 역할·계정 생성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" y="5166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VMware 엔지니어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99632" y="352044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9632" y="3566160"/>
            <a:ext cx="73152" cy="192024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28232" y="36484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정리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131552" y="36667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31552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 말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28232" y="408736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MTV·안정화 완료 후 vCenter·DNS VM 정리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(그 전까지 vCenter·원본 HV 유지)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28232" y="5166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VMware 엔지니어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HV 정리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재구성할 HV를 비우기 위해 VM을 원본 HV로 옮기는 작업. DNS VM은 MTV 완료 후 삭제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호스트 제거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 관리 목록에서 HV를 빼는 작업. 이후 해당 서버에 OpenShift 설치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작업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노드에 이관 VM 디스크용 LUN 매핑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38100">
            <a:solidFill>
              <a:srgbClr val="2F4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8840" y="2148840"/>
            <a:ext cx="274320" cy="274320"/>
          </a:xfrm>
          <a:prstGeom prst="ellipse">
            <a:avLst/>
          </a:prstGeom>
          <a:solidFill>
            <a:srgbClr val="2F4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· Worker1 편입 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06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651760"/>
            <a:ext cx="73152" cy="210312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734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Worker1 LUN 매핑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317296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HV#02 · 내부 HV#01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(재구성 후 Worker1)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용도: 이관 VM 디스크 저장 공간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노드에서 LUN 인식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61888" y="2148840"/>
            <a:ext cx="274320" cy="274320"/>
          </a:xfrm>
          <a:prstGeom prst="ellipse">
            <a:avLst/>
          </a:prstGeom>
          <a:solidFill>
            <a:srgbClr val="2F4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0248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· 보관 기간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70248" y="2606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70248" y="2651760"/>
            <a:ext cx="73152" cy="210312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98848" y="2734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LUN 유지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498848" y="317296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HV#01 · 내부 HV#02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(VMware 원본)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용도: 원복용 원본 데이터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원본 데이터스토어 정상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74936" y="2148840"/>
            <a:ext cx="274320" cy="274320"/>
          </a:xfrm>
          <a:prstGeom prst="ellipse">
            <a:avLst/>
          </a:prstGeom>
          <a:solidFill>
            <a:srgbClr val="2F4F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83296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 말 · Worker2 전환 시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83296" y="2606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83296" y="2651760"/>
            <a:ext cx="73152" cy="2103120"/>
          </a:xfrm>
          <a:prstGeom prst="rect">
            <a:avLst/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11896" y="2734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Worker2 LUN 매핑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311896" y="317296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HV#01 · 내부 HV#02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(재구성 후 Worker2)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용도: Worker1과 같은 LUN 공유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노드에서 LUN 인식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용량: 이관 VM 디스크 사용량 이상 (외부 12.4TB · 내부 62.3TB) · 재활용 TNS-2100은 FC 미연결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LUN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스토리지가 서버에 할당하는 디스크 단위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LUN 매핑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LUN을 특정 서버에 보이게 연결하는 작업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FC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서버와 스토리지를 연결하는 전용 네트워크 (Fibre Channel)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 · 시간 동기화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동기화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16002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1600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40680" y="2011680"/>
            <a:ext cx="1645920" cy="914"/>
          </a:xfrm>
          <a:prstGeom prst="line">
            <a:avLst/>
          </a:prstGeom>
          <a:noFill/>
          <a:ln w="38100">
            <a:solidFill>
              <a:srgbClr val="2F4F7A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3949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123/UDP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3760" y="16002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1600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망별 NTP 서버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etcd 백업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0" y="306324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E3EEFF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30632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40680" y="3474720"/>
            <a:ext cx="1645920" cy="914"/>
          </a:xfrm>
          <a:prstGeom prst="line">
            <a:avLst/>
          </a:prstGeom>
          <a:noFill/>
          <a:ln w="38100">
            <a:solidFill>
              <a:srgbClr val="2F4F7A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3949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NFS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23760" y="30632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30632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백업스토리지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149840" y="1600200"/>
            <a:ext cx="1581912" cy="2423160"/>
          </a:xfrm>
          <a:prstGeom prst="roundRect">
            <a:avLst>
              <a:gd name="adj" fmla="val 462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59568" y="169164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정보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259568" y="2011680"/>
            <a:ext cx="13624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NTP 서버 주소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백업스토리지 접속 경로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7091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디스크 복사(OpenShift 노드 ↔ vCenter·ESXi)는 같은 관리망(L3) 통신으로 방화벽 신청 대상 아님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NTP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시간 동기화 프로토콜. 시간 불일치 시 클러스터 인증서 오류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72200" y="5833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NFS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공유 파일 저장소. etcd 백업 보관용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10월 ~ 12월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94560" y="1325880"/>
            <a:ext cx="3142488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13258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73624" y="1325880"/>
            <a:ext cx="3142488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3624" y="13258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52688" y="1325880"/>
            <a:ext cx="3142488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52688" y="13258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사전작업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94560" y="1874520"/>
            <a:ext cx="3142488" cy="411480"/>
          </a:xfrm>
          <a:prstGeom prst="roundRect">
            <a:avLst>
              <a:gd name="adj" fmla="val 13333"/>
            </a:avLst>
          </a:prstGeom>
          <a:solidFill>
            <a:srgbClr val="2F4F7A"/>
          </a:solidFill>
          <a:ln w="12700">
            <a:solidFill>
              <a:srgbClr val="2F4F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67712" y="1874520"/>
            <a:ext cx="3041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설치·포설 · IP · 이미지 반입 준비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구축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73624" y="2423160"/>
            <a:ext cx="3142488" cy="411480"/>
          </a:xfrm>
          <a:prstGeom prst="roundRect">
            <a:avLst>
              <a:gd name="adj" fmla="val 13333"/>
            </a:avLst>
          </a:prstGeom>
          <a:solidFill>
            <a:srgbClr val="1D5BB5"/>
          </a:solidFill>
          <a:ln w="12700">
            <a:solidFill>
              <a:srgbClr val="1D5B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6776" y="2423160"/>
            <a:ext cx="3041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Bastion → HV 정리 → Master·Worker1 → 시험 이관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 본 이관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52688" y="2971800"/>
            <a:ext cx="1139678" cy="41148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25840" y="2971800"/>
            <a:ext cx="10390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12/1~11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안정화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728942" y="3520440"/>
            <a:ext cx="1171468" cy="41148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02094" y="3520440"/>
            <a:ext cx="10708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12/14~23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4069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Worker2 전환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936986" y="4069080"/>
            <a:ext cx="758190" cy="41148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010138" y="4069080"/>
            <a:ext cx="6576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12/24~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4754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289932" y="4617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99660" y="47091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설치 · 포설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할당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68996" y="4617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8724" y="47091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 정리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제거 · LUN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122109" y="4617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31837" y="47091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MTV 계정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NTP · 백업 허용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648060" y="4617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57788" y="47091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시간대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205801" y="4617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315529" y="470916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 · DNS VM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Worker2 LUN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56235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12월 일정: 11월 시험 이관 실측 속도로 재산정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Worker2 전환 지연 시 안정화 기간 유지, 2027년 1월 이후로 이연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 요약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시기 · 작업 · 담당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885432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재활용 TNS-2100 3대 랙 설치 · 전원 · 관리 2포트 · IPMI 결선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운영자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Bastion NAS/BK 2포트 신규 포설 (외부 · 내부)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운영자 · 네트워크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IP 망별 6개 할당 (bootstrap 1개는 master 구성 완료 후 반납)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NTP 123/UDP · 백업스토리지 접근 허용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 재구성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HV 정리: 재구성 대상 HV의 VM(DNS VM 포함)을 원본 HV로 이동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VMware 엔지니어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재구성 HV 호스트 제거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VMware 엔지니어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Worker1 FC LUN 매핑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스토리지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 시험 이관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MTV용 vCenter 역할·계정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VMware 엔지니어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12월 이관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업무별 서비스 중단 가능 시간대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운영자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4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12월 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MTV 완료 후 vCenter · DNS VM 정리 · Worker2 FC LUN 매핑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VMware · 스토리지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4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용어 정리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1188720" cy="213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국가데이터처 SGIS · OpenShift 전환 구축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1735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3624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OpenShift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컨테이너·가상화 플랫폼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94767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984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클러스터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서버를 묶어 하나로 운영하는 단위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56946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MTV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VM → OpenShift 이관 도구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191256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Bastion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입구 서버 (DNS·LB·NTP·미러)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813048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849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Master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관리 노드 (VM 3대)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43484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4714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Worker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VM 실행 노드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505663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5093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bootstrap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초기 임시 VM (master 구성 후 삭제)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567842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KVM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내장 가상화 기능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251960" y="13258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61688" y="13624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RHCOS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노드 전용 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194767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61688" y="1984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etcd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설정 데이터베이스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251960" y="256946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61688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미러 레지스트리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폐쇄망 설치 이미지 저장소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251960" y="3191256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61688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HV (하이퍼바이저)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실행 물리 서버 (ESXi)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251960" y="3813048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61688" y="3849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vCenter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VMware HV 통합 관리 서버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251960" y="443484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61688" y="44714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vMotion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켠 상태로 다른 HV로 이동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251960" y="505663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61688" y="5093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호스트 제거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vCenter에서 HV를 빼는 작업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251960" y="567842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61688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Cold Migration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종료 상태에서 이관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046720" y="13258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56448" y="13624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LUN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스토리지가 서버에 할당한 디스크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046720" y="194767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56448" y="1984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LUN 매핑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LUN을 서버에 연결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046720" y="256946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56448" y="2606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bond (mode 1)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2개 묶음, 장애 시 자동 전환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8046720" y="3191256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56448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브리지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VM을 물리 망에 연결하는 가상 스위치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046720" y="3813048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156448" y="3849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VLAN trunk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포트로 여러 VLAN 전달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8046720" y="443484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56448" y="44714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IPMI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전원·콘솔 관리 포트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8046720" y="505663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56448" y="5093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NTP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시간 동기화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046720" y="567842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56448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안정화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후 최소 1주 무장애 확인 기간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국가데이터처 SGIS OpenShift 전환 구축</dc:title>
  <dc:subject>PptxGenJS Presentation</dc:subject>
  <dc:creator>PptxGenJS</dc:creator>
  <cp:lastModifiedBy>PptxGenJS</cp:lastModifiedBy>
  <cp:revision>1</cp:revision>
  <dcterms:created xsi:type="dcterms:W3CDTF">2026-10-15T10:39:28Z</dcterms:created>
  <dcterms:modified xsi:type="dcterms:W3CDTF">2026-10-15T10:39:28Z</dcterms:modified>
</cp:coreProperties>
</file>